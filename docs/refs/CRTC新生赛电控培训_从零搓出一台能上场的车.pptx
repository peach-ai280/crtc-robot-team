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1" r:id="rId4"/>
    <p:sldId id="271" r:id="rId21"/>
    <p:sldId id="272" r:id="rId22"/>
    <p:sldId id="273" r:id="rId23"/>
    <p:sldId id="274" r:id="rId24"/>
    <p:sldId id="275" r:id="rId25"/>
    <p:sldId id="276" r:id="rId26"/>
    <p:sldId id="258" r:id="rId5"/>
    <p:sldId id="259" r:id="rId6"/>
    <p:sldId id="260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9" r:id="rId15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4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36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10.xml"/><Relationship Id="rId6" Type="http://schemas.openxmlformats.org/officeDocument/2006/relationships/slide" Target="slides/slide11.xml"/><Relationship Id="rId7" Type="http://schemas.openxmlformats.org/officeDocument/2006/relationships/slide" Target="slides/slide12.xml"/><Relationship Id="rId8" Type="http://schemas.openxmlformats.org/officeDocument/2006/relationships/slide" Target="slides/slide13.xml"/><Relationship Id="rId9" Type="http://schemas.openxmlformats.org/officeDocument/2006/relationships/slide" Target="slides/slide14.xml"/><Relationship Id="rId10" Type="http://schemas.openxmlformats.org/officeDocument/2006/relationships/slide" Target="slides/slide15.xml"/><Relationship Id="rId11" Type="http://schemas.openxmlformats.org/officeDocument/2006/relationships/slide" Target="slides/slide16.xml"/><Relationship Id="rId12" Type="http://schemas.openxmlformats.org/officeDocument/2006/relationships/slide" Target="slides/slide17.xml"/><Relationship Id="rId13" Type="http://schemas.openxmlformats.org/officeDocument/2006/relationships/slide" Target="slides/slide18.xml"/><Relationship Id="rId14" Type="http://schemas.openxmlformats.org/officeDocument/2006/relationships/slide" Target="slides/slide19.xml"/><Relationship Id="rId15" Type="http://schemas.openxmlformats.org/officeDocument/2006/relationships/slide" Target="slides/slide20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53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【开场 2 分钟】</a:t>
            </a:r>
          </a:p>
          <a:p>
            <a:r>
              <a:t>先说清楚这一小时的定位：不是教你怎么写代码，是给你一张地图。</a:t>
            </a:r>
          </a:p>
          <a:p>
            <a:r>
              <a:t>从你手里这堆零件，到车能上场比赛，中间有六步。今天我把这六步走一遍，</a:t>
            </a:r>
          </a:p>
          <a:p>
            <a:r>
              <a:t>告诉你每一步做什么、哪里最容易翻车、卡住了去哪查。真正动手是课后，</a:t>
            </a:r>
          </a:p>
          <a:p>
            <a:r>
              <a:t>我们会带着你一步一步来。今天你只要听懂"路怎么走"就行，不用记细节。</a:t>
            </a:r>
          </a:p>
          <a:p>
            <a:endParaRPr/>
          </a:p>
          <a:p>
            <a:r>
              <a:t>比赛任务是搬运/抓取——所以除了"车能开"，还要"夹爪能抓"。这是拿分的地方。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【2 </a:t>
            </a:r>
            <a:r>
              <a:rPr dirty="0" err="1"/>
              <a:t>分钟</a:t>
            </a:r>
            <a:r>
              <a:rPr dirty="0"/>
              <a:t>】</a:t>
            </a:r>
          </a:p>
          <a:p>
            <a:r>
              <a:rPr dirty="0" err="1"/>
              <a:t>四件事：地图、避坑清单、排查方法，以及明确告诉你今天不讲什么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最后一条要讲透，否则学员会焦虑"</a:t>
            </a:r>
            <a:r>
              <a:rPr dirty="0" err="1"/>
              <a:t>这么多我怎么可能记住</a:t>
            </a:r>
            <a:r>
              <a:rPr dirty="0"/>
              <a:t>"。</a:t>
            </a:r>
            <a:r>
              <a:rPr dirty="0" err="1"/>
              <a:t>明确说</a:t>
            </a:r>
            <a:r>
              <a:rPr dirty="0"/>
              <a:t>：</a:t>
            </a:r>
          </a:p>
          <a:p>
            <a:r>
              <a:rPr dirty="0" err="1"/>
              <a:t>今天不需要你记住任何一行代码、任何一个寄存器。你要带走的是"顺序"和"坑</a:t>
            </a:r>
            <a:r>
              <a:rPr dirty="0"/>
              <a:t>"。</a:t>
            </a:r>
          </a:p>
          <a:p>
            <a:r>
              <a:rPr dirty="0" err="1"/>
              <a:t>具体怎么写，课后文档里有，而且我们会陪着你做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互动】可以问一句：在座的有谁之前烧过东西或者让电机冒过烟？举手的待会儿</a:t>
            </a:r>
            <a:endParaRPr dirty="0"/>
          </a:p>
          <a:p>
            <a:r>
              <a:rPr dirty="0" err="1"/>
              <a:t>第四页你会特别有感觉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【3 分钟】</a:t>
            </a:r>
          </a:p>
          <a:p>
            <a:r>
              <a:t>这一步很多人会跳过，然后后悔一整个赛季。</a:t>
            </a:r>
          </a:p>
          <a:p>
            <a:endParaRPr/>
          </a:p>
          <a:p>
            <a:r>
              <a:t>· 为什么要先点灯：灯和串口是你唯一的"眼睛"。车卡住的时候，你没法用肉眼</a:t>
            </a:r>
          </a:p>
          <a:p>
            <a:r>
              <a:t>  看代码在干什么，但你能看灯闪不闪、串口有没有输出。没有这两样，</a:t>
            </a:r>
          </a:p>
          <a:p>
            <a:r>
              <a:t>  后面所有调试都是瞎猜。</a:t>
            </a:r>
          </a:p>
          <a:p>
            <a:endParaRPr/>
          </a:p>
          <a:p>
            <a:r>
              <a:t>· PC13 低电平点亮——注意是低电平点亮，别写反了。</a:t>
            </a:r>
          </a:p>
          <a:p>
            <a:endParaRPr/>
          </a:p>
          <a:p>
            <a:r>
              <a:t>· 串口：printf 打到电脑上。这是后面排查的主力工具。</a:t>
            </a:r>
          </a:p>
          <a:p>
            <a:endParaRPr/>
          </a:p>
          <a:p>
            <a:r>
              <a:t>· 最容易翻车："编译过了"≠"跑起来了"。编译只说明语法对，不说明时钟配对了、</a:t>
            </a:r>
          </a:p>
          <a:p>
            <a:r>
              <a:t>  下载器连上了。所以第一步永远是：让一个最简单的东西（灯）在你手里动起来。</a:t>
            </a:r>
          </a:p>
          <a:p>
            <a:endParaRPr/>
          </a:p>
          <a:p>
            <a:r>
              <a:t>【现场演示】这里我会现场打开 Keil，演示编译、下载、看灯闪。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71657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 分钟，全场最重要的一页】</a:t>
            </a:r>
          </a:p>
          <a:p>
            <a:r>
              <a:t>这是全场的地图，后面每一步都会回到这张图。</a:t>
            </a:r>
          </a:p>
          <a:p>
            <a:endParaRPr/>
          </a:p>
          <a:p>
            <a:r>
              <a:t>要点讲三句：</a:t>
            </a:r>
          </a:p>
          <a:p>
            <a:r>
              <a:t>1. 顺序不能跳。最常见的失败是"四轮还没认全就去做遥控"，结果车一动就乱转，</a:t>
            </a:r>
          </a:p>
          <a:p>
            <a:r>
              <a:t>   根本不知道哪一层错了。</a:t>
            </a:r>
          </a:p>
          <a:p>
            <a:r>
              <a:t>2. 每一步都有"完成标志"——一个能当场验证的现象。到不了标志就停下来，</a:t>
            </a:r>
          </a:p>
          <a:p>
            <a:r>
              <a:t>   别往下走。往下走只会让问题叠加，越查越乱。</a:t>
            </a:r>
          </a:p>
          <a:p>
            <a:r>
              <a:t>3. 六步里，前两步几乎不花时间，卡人的是第三到第五步。</a:t>
            </a:r>
          </a:p>
          <a:p>
            <a:endParaRPr/>
          </a:p>
          <a:p>
            <a:r>
              <a:t>【伏笔】说一句：今天讲的六步，课后任务卡上就是按这个顺序排的。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【4 分钟】</a:t>
            </a:r>
          </a:p>
          <a:p>
            <a:r>
              <a:t>这一页放在动手之前讲，因为这三件事一旦发生就是不可逆的。</a:t>
            </a:r>
          </a:p>
          <a:p>
            <a:endParaRPr/>
          </a:p>
          <a:p>
            <a:r>
              <a:t>· 接线：新手最常见的错误是"我记得是这么接的"。每次上电前照图核对，</a:t>
            </a:r>
          </a:p>
          <a:p>
            <a:r>
              <a:t>  特别是电源正负极和驱动的 STBY。</a:t>
            </a:r>
          </a:p>
          <a:p>
            <a:endParaRPr/>
          </a:p>
          <a:p>
            <a:r>
              <a:t>· 舵机堵转（重点讲）：舵机一旦被机构顶死、还在给信号，它会把电流全吃在</a:t>
            </a:r>
          </a:p>
          <a:p>
            <a:r>
              <a:t>  堵转上，发烫、嗡嗡响，几分钟就烧。**这个坑我们队真的踩过**——上一个赛季</a:t>
            </a:r>
          </a:p>
          <a:p>
            <a:r>
              <a:t>  打到关键场次，就是因为舵机堵转烧毁，最后没能翻盘（见 26 赛季反思）。</a:t>
            </a:r>
          </a:p>
          <a:p>
            <a:r>
              <a:t>  所以规矩是：机构行程一定要留余量，任何时候听到舵机嗡嗡叫不停，先断电。</a:t>
            </a:r>
          </a:p>
          <a:p>
            <a:endParaRPr/>
          </a:p>
          <a:p>
            <a:r>
              <a:t>· 供电与顺序：用套件里的电源和线。改线之前一定先断电。</a:t>
            </a:r>
          </a:p>
          <a:p>
            <a:endParaRPr/>
          </a:p>
          <a:p>
            <a:r>
              <a:t>【收尾】烧掉的不是钱，是时间——比赛前那几天你补不回来。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【4 分钟】</a:t>
            </a:r>
          </a:p>
          <a:p>
            <a:r>
              <a:t>认硬件不是背型号，是搞清楚"每个东西接在哪、归谁管"。</a:t>
            </a:r>
          </a:p>
          <a:p>
            <a:endParaRPr/>
          </a:p>
          <a:p>
            <a:r>
              <a:t>· 底盘：四个 TT 马达，两片 DRV8833。注意每个电机占两个控制脚——</a:t>
            </a:r>
          </a:p>
          <a:p>
            <a:r>
              <a:t>  一个脚给 PWM，另一个脚不动。方向由"哪个脚在动"决定。</a:t>
            </a:r>
          </a:p>
          <a:p>
            <a:endParaRPr/>
          </a:p>
          <a:p>
            <a:r>
              <a:t>· 主控：STM32F103C8，Blue Pill。所有 PWM、串口、手柄都在它身上。</a:t>
            </a:r>
          </a:p>
          <a:p>
            <a:endParaRPr/>
          </a:p>
          <a:p>
            <a:r>
              <a:t>· 舵机（重点）：套件里有 5 路，而且**有两种**——位置舵机给的是"角度"，</a:t>
            </a:r>
          </a:p>
          <a:p>
            <a:r>
              <a:t>  360° 舵机给的是"速度和方向"。这两种的控制语义完全不同，后面第五步会再讲。</a:t>
            </a:r>
          </a:p>
          <a:p>
            <a:endParaRPr/>
          </a:p>
          <a:p>
            <a:r>
              <a:t>· 遥控：PS2 手柄 + 接收器，四根线。四根线接错的后果是对角线式的怪现象。</a:t>
            </a:r>
          </a:p>
          <a:p>
            <a:endParaRPr/>
          </a:p>
          <a:p>
            <a:r>
              <a:t>【关键概念】"驱动通道" ≠ "车身轮位"：硬件上电机接在第几路通道，和它在车身上</a:t>
            </a:r>
          </a:p>
          <a:p>
            <a:r>
              <a:t>是哪个轮子，是两回事。这个映射必须靠自检试出来，不要猜。</a:t>
            </a:r>
          </a:p>
          <a:p>
            <a:endParaRPr/>
          </a:p>
          <a:p>
            <a:r>
              <a:t>【完成标志】让学员自检：能不能指着每一根线说出它是干什么的。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 分钟】</a:t>
            </a:r>
          </a:p>
          <a:p>
            <a:r>
              <a:t>这是第一个"真正动起来"的环节，也是坑最多的。</a:t>
            </a:r>
          </a:p>
          <a:p>
            <a:endParaRPr/>
          </a:p>
          <a:p>
            <a:r>
              <a:t>· 一个电机两个脚：这就是所谓"符号-幅值"驱动。正转时 A 脚给 PWM、B 脚拉低；</a:t>
            </a:r>
          </a:p>
          <a:p>
            <a:r>
              <a:t>  反转时反过来。所以方向不正、车倒着走，先看这两个脚。</a:t>
            </a:r>
          </a:p>
          <a:p>
            <a:endParaRPr/>
          </a:p>
          <a:p>
            <a:r>
              <a:t>· 先求对再求快：新手总想一上来就调速度。不要。先让它能转、能停、方向对。</a:t>
            </a:r>
          </a:p>
          <a:p>
            <a:r>
              <a:t>  速度是最后一步的事。</a:t>
            </a:r>
          </a:p>
          <a:p>
            <a:endParaRPr/>
          </a:p>
          <a:p>
            <a:r>
              <a:t>· 轮位要自己认：硬件上没有标签告诉你"这条线是左前轮"。所以要跑自检——</a:t>
            </a:r>
          </a:p>
          <a:p>
            <a:r>
              <a:t>  让每个通道单独转一下，你看是哪个轮子在动。这一步偷懒，后面全乱。</a:t>
            </a:r>
          </a:p>
          <a:p>
            <a:endParaRPr/>
          </a:p>
          <a:p>
            <a:r>
              <a:t>· 坑1：电机"踹"一下就停。这是驱动使能顺序反了——必须先起 PWM，再把</a:t>
            </a:r>
          </a:p>
          <a:p>
            <a:r>
              <a:t>  DRV8833 的 STBY 拉高。顺序反了会踹一下电机。</a:t>
            </a:r>
          </a:p>
          <a:p>
            <a:endParaRPr/>
          </a:p>
          <a:p>
            <a:r>
              <a:t>· 坑2：四个轮子方向不一致，车只会原地打转。这说明有人正负接反了，</a:t>
            </a:r>
          </a:p>
          <a:p>
            <a:r>
              <a:t>  或者极性没配对。别去调代码，先回自检把每一个轮子的方向核一遍。</a:t>
            </a:r>
          </a:p>
          <a:p>
            <a:endParaRPr/>
          </a:p>
          <a:p>
            <a:r>
              <a:t>【现场演示】键盘/串口发命令让单个电机转。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FE0BA-8D3D-0438-5BDD-B1738D848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E0D88B-2CB4-0978-7EA3-4CEA300C7B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7D13B-AF90-22C8-3777-292ED1760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 分钟】</a:t>
            </a:r>
          </a:p>
          <a:p>
            <a:r>
              <a:t>这是第一个"真正动起来"的环节，也是坑最多的。</a:t>
            </a:r>
          </a:p>
          <a:p>
            <a:endParaRPr/>
          </a:p>
          <a:p>
            <a:r>
              <a:t>· 一个电机两个脚：这就是所谓"符号-幅值"驱动。正转时 A 脚给 PWM、B 脚拉低；</a:t>
            </a:r>
          </a:p>
          <a:p>
            <a:r>
              <a:t>  反转时反过来。所以方向不正、车倒着走，先看这两个脚。</a:t>
            </a:r>
          </a:p>
          <a:p>
            <a:endParaRPr/>
          </a:p>
          <a:p>
            <a:r>
              <a:t>· 先求对再求快：新手总想一上来就调速度。不要。先让它能转、能停、方向对。</a:t>
            </a:r>
          </a:p>
          <a:p>
            <a:r>
              <a:t>  速度是最后一步的事。</a:t>
            </a:r>
          </a:p>
          <a:p>
            <a:endParaRPr/>
          </a:p>
          <a:p>
            <a:r>
              <a:t>· 轮位要自己认：硬件上没有标签告诉你"这条线是左前轮"。所以要跑自检——</a:t>
            </a:r>
          </a:p>
          <a:p>
            <a:r>
              <a:t>  让每个通道单独转一下，你看是哪个轮子在动。这一步偷懒，后面全乱。</a:t>
            </a:r>
          </a:p>
          <a:p>
            <a:endParaRPr/>
          </a:p>
          <a:p>
            <a:r>
              <a:t>· 坑1：电机"踹"一下就停。这是驱动使能顺序反了——必须先起 PWM，再把</a:t>
            </a:r>
          </a:p>
          <a:p>
            <a:r>
              <a:t>  DRV8833 的 STBY 拉高。顺序反了会踹一下电机。</a:t>
            </a:r>
          </a:p>
          <a:p>
            <a:endParaRPr/>
          </a:p>
          <a:p>
            <a:r>
              <a:t>· 坑2：四个轮子方向不一致，车只会原地打转。这说明有人正负接反了，</a:t>
            </a:r>
          </a:p>
          <a:p>
            <a:r>
              <a:t>  或者极性没配对。别去调代码，先回自检把每一个轮子的方向核一遍。</a:t>
            </a:r>
          </a:p>
          <a:p>
            <a:endParaRPr/>
          </a:p>
          <a:p>
            <a:r>
              <a:t>【现场演示】键盘/串口发命令让单个电机转。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102FC-24FA-189D-AD69-6516472D9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16422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 分钟】</a:t>
            </a:r>
          </a:p>
          <a:p>
            <a:endParaRPr/>
          </a:p>
          <a:p>
            <a:r>
              <a:t>· 遥控接进来：四根线（片选、时钟、命令、数据）。读杆量，也读按键——</a:t>
            </a:r>
          </a:p>
          <a:p>
            <a:r>
              <a:t>  按键后面给夹爪用。</a:t>
            </a:r>
          </a:p>
          <a:p>
            <a:endParaRPr/>
          </a:p>
          <a:p>
            <a:r>
              <a:t>· 底盘解算（核心概念）：你不需要分别去控制四个轮子。你想要的是"往前多少、</a:t>
            </a:r>
          </a:p>
          <a:p>
            <a:r>
              <a:t>  往右多少、原地转多少"，这三个数交给底盘解算，它算出四个轮子各转多少。</a:t>
            </a:r>
          </a:p>
          <a:p>
            <a:r>
              <a:t>  这正是麦轮车能斜着走、能原地转的原因。这就是大纲里说的"底盘解算、</a:t>
            </a:r>
          </a:p>
          <a:p>
            <a:r>
              <a:t>  轴量映射"。</a:t>
            </a:r>
          </a:p>
          <a:p>
            <a:endParaRPr/>
          </a:p>
          <a:p>
            <a:r>
              <a:t>· 掉线必须停（安全关键）：遥控器一关或者信号断了，杆量必须立刻清零。</a:t>
            </a:r>
          </a:p>
          <a:p>
            <a:r>
              <a:t>  做不到的话现象就是"车自己冲出去"——手上已经松杆了车还在跑。</a:t>
            </a:r>
          </a:p>
          <a:p>
            <a:r>
              <a:t>  这是超时保护，一定要有。</a:t>
            </a:r>
          </a:p>
          <a:p>
            <a:endParaRPr/>
          </a:p>
          <a:p>
            <a:r>
              <a:t>· 最容易翻车：前进方向反了，或者一打平移车就扭一下。这不是手柄坏了，</a:t>
            </a:r>
          </a:p>
          <a:p>
            <a:r>
              <a:t>  是轮位表或者电机极性没配好。回去查第三步。</a:t>
            </a:r>
          </a:p>
          <a:p>
            <a:endParaRPr/>
          </a:p>
          <a:p>
            <a:r>
              <a:t>【现场演示】手柄推杆，车动。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 分钟】</a:t>
            </a:r>
          </a:p>
          <a:p>
            <a:r>
              <a:t>这一步直接决定你们能拿多少分，也是烧东西最多的一步。</a:t>
            </a:r>
          </a:p>
          <a:p>
            <a:endParaRPr/>
          </a:p>
          <a:p>
            <a:r>
              <a:t>· 舵机要的是脉宽：50Hz 的方波（周期 20ms），脉宽 0.5~2.5ms 决定角度。</a:t>
            </a:r>
          </a:p>
          <a:p>
            <a:r>
              <a:t>  1500us 是中位。记住"脉宽 = 角度"这一个关系就够了。</a:t>
            </a:r>
          </a:p>
          <a:p>
            <a:endParaRPr/>
          </a:p>
          <a:p>
            <a:r>
              <a:t>· 先标定，再装机构：装夹爪之前，先让舵机空着从一头走到另一头，看它实际</a:t>
            </a:r>
          </a:p>
          <a:p>
            <a:r>
              <a:t>  能到哪。然后再装夹爪，把行程定在实测范围内。顺序反了就是堵转。</a:t>
            </a:r>
          </a:p>
          <a:p>
            <a:endParaRPr/>
          </a:p>
          <a:p>
            <a:r>
              <a:t>· 机构和代码一起定：夹爪张开多大、合上多大，不是电控单方面定的，</a:t>
            </a:r>
          </a:p>
          <a:p>
            <a:r>
              <a:t>  要和机械的人一起商量。这是跨组沟通，别自己闷头写。</a:t>
            </a:r>
          </a:p>
          <a:p>
            <a:endParaRPr/>
          </a:p>
          <a:p>
            <a:r>
              <a:t>· 坑1（重点）：堵转烧舵机。机构顶死了还在给信号，几分钟就烧。</a:t>
            </a:r>
          </a:p>
          <a:p>
            <a:r>
              <a:t>  第四页讲过了，这里再强调一次——因为这一步是它最容易发生的地方。</a:t>
            </a:r>
          </a:p>
          <a:p>
            <a:r>
              <a:t>  规矩：行程留余量，听到舵机嗡嗡叫先断电。</a:t>
            </a:r>
          </a:p>
          <a:p>
            <a:endParaRPr/>
          </a:p>
          <a:p>
            <a:r>
              <a:t>· 坑2：两种舵机不能混。360° 舵机给的是速度，如果你按"位置"控制它，</a:t>
            </a:r>
          </a:p>
          <a:p>
            <a:r>
              <a:t>  松手之后它会一直转下去。</a:t>
            </a:r>
          </a:p>
          <a:p>
            <a:endParaRPr/>
          </a:p>
          <a:p>
            <a:r>
              <a:t>【现场演示】手柄按键让夹爪开合。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【5 分钟，这是方法论，比记代码有用】</a:t>
            </a:r>
          </a:p>
          <a:p>
            <a:endParaRPr/>
          </a:p>
          <a:p>
            <a:r>
              <a:t>· 分治：把系统切成能单独验证的最小单元。车不动，先别想整个系统——</a:t>
            </a:r>
          </a:p>
          <a:p>
            <a:r>
              <a:t>  先问"电机单独能动吗"。能动，问题就在遥控或解算；不能动，问题在电机或驱动。</a:t>
            </a:r>
          </a:p>
          <a:p>
            <a:r>
              <a:t>  一次只动一个变量。</a:t>
            </a:r>
          </a:p>
          <a:p>
            <a:endParaRPr/>
          </a:p>
          <a:p>
            <a:r>
              <a:t>· 二分：注释掉一半、或者换一个已知好的模块。比如怀疑是手柄的问题，</a:t>
            </a:r>
          </a:p>
          <a:p>
            <a:r>
              <a:t>  就把后端切成桩（杆量恒 0），看车还动不动。问题跟着谁走，就知道是谁的锅。</a:t>
            </a:r>
          </a:p>
          <a:p>
            <a:endParaRPr/>
          </a:p>
          <a:p>
            <a:r>
              <a:t>· 可观测性优先：先让灯和串口能说话，再谈逻辑。这是第六页讲的"点亮"为什么</a:t>
            </a:r>
          </a:p>
          <a:p>
            <a:r>
              <a:t>  那么重要——你得先有眼睛。</a:t>
            </a:r>
          </a:p>
          <a:p>
            <a:endParaRPr/>
          </a:p>
          <a:p>
            <a:r>
              <a:t>· 顺序：先看现象 → 再猜原因 → 最后才改代码。新手最容易犯的错是一看到</a:t>
            </a:r>
          </a:p>
          <a:p>
            <a:r>
              <a:t>  "车不动"就打开代码乱改，改了半天不知道改好了没有。</a:t>
            </a:r>
          </a:p>
          <a:p>
            <a:endParaRPr/>
          </a:p>
          <a:p>
            <a:r>
              <a:t>【重点】套件代码里有现成的"自检"——让电机一个一个转、用灯报号。</a:t>
            </a:r>
          </a:p>
          <a:p>
            <a:r>
              <a:t>排查的第一步永远是：跑自检。它能把"软件还是硬件"这个问题当场降维成</a:t>
            </a:r>
          </a:p>
          <a:p>
            <a:r>
              <a:t>"看哪个通道不动"。</a:t>
            </a:r>
          </a:p>
          <a:p>
            <a:endParaRPr/>
          </a:p>
          <a:p>
            <a:r>
              <a:t>【互动】可以现场演示一次自检。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【4 分钟】</a:t>
            </a:r>
          </a:p>
          <a:p>
            <a:r>
              <a:t>这一节讲态度和方法，不是讲工具怎么装（装法课后文档里有）。</a:t>
            </a:r>
          </a:p>
          <a:p>
            <a:endParaRPr/>
          </a:p>
          <a:p>
            <a:r>
              <a:t>· 该问 AI 的：解释报错、讲不懂的概念、几种方案对比、review 你的代码。</a:t>
            </a:r>
          </a:p>
          <a:p>
            <a:r>
              <a:t>  这些它做得又快又好。</a:t>
            </a:r>
          </a:p>
          <a:p>
            <a:endParaRPr/>
          </a:p>
          <a:p>
            <a:r>
              <a:t>· 该自己想清楚的：引脚怎么分、现象怎么记、参数怎么调、最后怎么取舍。</a:t>
            </a:r>
          </a:p>
          <a:p>
            <a:r>
              <a:t>  这几件事一旦交给 AI，你就什么都没学到，而且出错你也不知道。</a:t>
            </a:r>
          </a:p>
          <a:p>
            <a:endParaRPr/>
          </a:p>
          <a:p>
            <a:r>
              <a:t>· 必须记住的一条（重点）：</a:t>
            </a:r>
          </a:p>
          <a:p>
            <a:r>
              <a:t>  **AI 会非常自信地编造引脚号、寄存器名和"标准做法"。**</a:t>
            </a:r>
          </a:p>
          <a:p>
            <a:r>
              <a:t>  举个例子——我们核对手柄驱动的注释时，发现流传很广的那份教程里</a:t>
            </a:r>
          </a:p>
          <a:p>
            <a:r>
              <a:t>  有三个错误：位定义写错了、两个位标反了、还有一个拼写错误。</a:t>
            </a:r>
          </a:p>
          <a:p>
            <a:r>
              <a:t>  这些错误在网上被抄了十几年。</a:t>
            </a:r>
          </a:p>
          <a:p>
            <a:r>
              <a:t>  所以规矩是：**凡是 AI 给你的引脚、寄存器、位定义，一律回查数据手册，</a:t>
            </a:r>
          </a:p>
          <a:p>
            <a:r>
              <a:t>  或者直接上板验证。** 不听这条，你会用很快的速度做错事。</a:t>
            </a:r>
          </a:p>
          <a:p>
            <a:endParaRPr/>
          </a:p>
          <a:p>
            <a:r>
              <a:t>· 怎么问才有效：带上完整报错、相关代码、你想要的结果。</a:t>
            </a:r>
          </a:p>
          <a:p>
            <a:r>
              <a:t>  别只丢一句"它不动"——那不是提问，那是许愿。</a:t>
            </a:r>
          </a:p>
          <a:p>
            <a:endParaRPr/>
          </a:p>
          <a:p>
            <a:r>
              <a:t>【课后】AI 工具怎么装、怎么用，文档里有，卡住了找我。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【4 分钟】</a:t>
            </a:r>
          </a:p>
          <a:p>
            <a:endParaRPr/>
          </a:p>
          <a:p>
            <a:r>
              <a:t>· 联调顺序：单轮 → 底盘 → 遥控 → 夹爪 → 综合动作。每一步都要能单独跑。</a:t>
            </a:r>
          </a:p>
          <a:p>
            <a:r>
              <a:t>  出问题时你才知道是哪一层的锅。</a:t>
            </a:r>
          </a:p>
          <a:p>
            <a:endParaRPr/>
          </a:p>
          <a:p>
            <a:r>
              <a:t>· 上场前五问：电够不够？线松没松？轮位对不对？夹爪行程还有余量吗？</a:t>
            </a:r>
          </a:p>
          <a:p>
            <a:r>
              <a:t>  遥控配对了吗？——这五条每场比赛前都过一遍。</a:t>
            </a:r>
          </a:p>
          <a:p>
            <a:endParaRPr/>
          </a:p>
          <a:p>
            <a:r>
              <a:t>· 想好坏了怎么办：关键功能要有备用方案。</a:t>
            </a:r>
          </a:p>
          <a:p>
            <a:endParaRPr/>
          </a:p>
          <a:p>
            <a:r>
              <a:t>· 最容易翻车（重点）：接头在震动下松脱。**这个我们吃过亏**——</a:t>
            </a:r>
          </a:p>
          <a:p>
            <a:r>
              <a:t>  上一个赛季关键场次，接收机和主控之间那根接头的线断了，车直接趴窝。</a:t>
            </a:r>
          </a:p>
          <a:p>
            <a:r>
              <a:t>  后来复盘才发现：我们一直在软件层面堆稳定性、固定元器件，</a:t>
            </a:r>
          </a:p>
          <a:p>
            <a:r>
              <a:t>  却从来没有认真想过"线材和接头怎么固定"。</a:t>
            </a:r>
          </a:p>
          <a:p>
            <a:r>
              <a:t>  所以：线材固定和代码一样重要。扎带、热熔胶、固定座，别嫌麻烦。</a:t>
            </a:r>
          </a:p>
          <a:p>
            <a:endParaRPr/>
          </a:p>
          <a:p>
            <a:r>
              <a:t>【呼应】这就是开场说的"避坑清单"里最贵的一条。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【收尾 2 分钟】</a:t>
            </a:r>
          </a:p>
          <a:p>
            <a:endParaRPr/>
          </a:p>
          <a:p>
            <a:r>
              <a:t>总结三句话：</a:t>
            </a:r>
          </a:p>
          <a:p>
            <a:r>
              <a:t>1. 先跑通最短链路：灯 → 电机 → 遥控 → 夹爪。一步一个完成标志，</a:t>
            </a:r>
          </a:p>
          <a:p>
            <a:r>
              <a:t>   到不了就别往下走。</a:t>
            </a:r>
          </a:p>
          <a:p>
            <a:r>
              <a:t>2. 先看现象，再改代码：分治、二分、可观测性优先。</a:t>
            </a:r>
          </a:p>
          <a:p>
            <a:r>
              <a:t>3. AI 是老师不是替身：它给的一切都要验证过才算数。</a:t>
            </a:r>
          </a:p>
          <a:p>
            <a:endParaRPr/>
          </a:p>
          <a:p>
            <a:r>
              <a:t>最后一句：这一小时只是地图。真正让你们学会的，是课后那几周的动手。</a:t>
            </a:r>
          </a:p>
          <a:p>
            <a:r>
              <a:t>环境先装好，卡住了随时来找我们——带上你试过什么。</a:t>
            </a:r>
          </a:p>
          <a:p>
            <a:endParaRPr/>
          </a:p>
          <a:p>
            <a:r>
              <a:t>谢谢大家，欢迎上车。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【科普段开场 1 分钟】</a:t>
            </a:r>
          </a:p>
          <a:p>
            <a:r>
              <a:t>这一段是加在前面的一段"认词"课，大概 8～10 分钟，放在讲六步之前。</a:t>
            </a:r>
          </a:p>
          <a:p/>
          <a:p>
            <a:r>
              <a:t>先给学员吃一颗定心丸：这一段不是要你们学会用这些外设，是要你们听到这些词</a:t>
            </a:r>
          </a:p>
          <a:p>
            <a:r>
              <a:t>不发懵。后面讲六步的时候我会不停说"走 PWM""走串口""拿 GPIO 点灯"，</a:t>
            </a:r>
          </a:p>
          <a:p>
            <a:r>
              <a:t>如果这些词是第一次听，你后面就全程在走神。</a:t>
            </a:r>
          </a:p>
          <a:p/>
          <a:p>
            <a:r>
              <a:t>明确边界：这一节我一个寄存器都不讲，一张配置截图都不放。就三件事——</a:t>
            </a:r>
          </a:p>
          <a:p>
            <a:r>
              <a:t>它是什么、车上哪里用了它、新手最容易在哪翻车。</a:t>
            </a:r>
          </a:p>
          <a:p/>
          <a:p>
            <a:r>
              <a:t>八个词先报一遍，让他们有个印象即可，不用记。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【GPIO 2 分钟】</a:t>
            </a:r>
          </a:p>
          <a:p>
            <a:r>
              <a:t>用"手和脚"打比方：芯片自己什么都不会，它只能通过引脚对外说话。</a:t>
            </a:r>
          </a:p>
          <a:p>
            <a:r>
              <a:t>每个脚只有两种状态，没有第三种——这一点要讲死，学员后面看时序图全靠它。</a:t>
            </a:r>
          </a:p>
          <a:p/>
          <a:p>
            <a:r>
              <a:t>输出 vs 输入：LED、STBY 是"我控制它"（输出）；按键、限位开关是"我读它"（输入）。</a:t>
            </a:r>
          </a:p>
          <a:p>
            <a:r>
              <a:t>按一下就变电平，这是后面"可观测性优先"那一页的基础。</a:t>
            </a:r>
          </a:p>
          <a:p/>
          <a:p>
            <a:r>
              <a:t>重点讲低电平点亮：这是我们第一次现场翻车的地方。</a:t>
            </a:r>
          </a:p>
          <a:p>
            <a:r>
              <a:t>有人焊好灯不亮，查了半天电路，其实是写反了极性。</a:t>
            </a:r>
          </a:p>
          <a:p>
            <a:r>
              <a:t>顺带把"低电平有效"这个词种下去，后面 PS2 按键、STBY 也都是低有效。</a:t>
            </a:r>
          </a:p>
          <a:p/>
          <a:p>
            <a:r>
              <a:t>引脚冲突：CubeMX 里两个功能抢同一个脚，它可能只给个警告就让你生成了，</a:t>
            </a:r>
          </a:p>
          <a:p>
            <a:r>
              <a:t>烧进去之后两个功能都莫名其妙——所以第一步"认硬件"里那张接线表才那么重要。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【PWM 2.5 分钟，本段最重要的一页】</a:t>
            </a:r>
          </a:p>
          <a:p>
            <a:r>
              <a:t>这是整个科普里最需要讲透的一个，因为后面第三步（转起来）和第五步（抓起来）</a:t>
            </a:r>
          </a:p>
          <a:p>
            <a:r>
              <a:t>全靠它。</a:t>
            </a:r>
          </a:p>
          <a:p/>
          <a:p>
            <a:r>
              <a:t>先纠正一个直觉：PWM 不是"给电机一个大一点的电压"。</a:t>
            </a:r>
          </a:p>
          <a:p>
            <a:r>
              <a:t>它是在很短的时间里反复全开、全关。开的时间占多大比例，电机就使多大力气。</a:t>
            </a:r>
          </a:p>
          <a:p>
            <a:r>
              <a:t>所以"50% 占空比"约等于"半速"，但它每个瞬间其实都是满电压——这就是为什么</a:t>
            </a:r>
          </a:p>
          <a:p>
            <a:r>
              <a:t>电机低速时也有劲、不容易堵转。这一点讲清楚，学员后面调速度就不会瞎试。</a:t>
            </a:r>
          </a:p>
          <a:p/>
          <a:p>
            <a:r>
              <a:t>频率为什么重要：频率太低（几十 Hz）电机就会听到嗡嗡声、甚至一顿一顿；</a:t>
            </a:r>
          </a:p>
          <a:p>
            <a:r>
              <a:t>太高（超过驱动芯片上限）会因为开关损耗发烫。所以频率是"对不对"的问题，</a:t>
            </a:r>
          </a:p>
          <a:p>
            <a:r>
              <a:t>占空比才是"快不快"的问题。要强调：先把频率定死，再只用占空比调速。</a:t>
            </a:r>
          </a:p>
          <a:p/>
          <a:p>
            <a:r>
              <a:t>**这里要把舵机单独拎出来说**：很多人第一次都会以为"舵机也是 PWM，</a:t>
            </a:r>
          </a:p>
          <a:p>
            <a:r>
              <a:t>那我也用调电机那套"，结果一动不动。舵机频率必须 50Hz，它看的不是占空比</a:t>
            </a:r>
          </a:p>
          <a:p>
            <a:r>
              <a:t>而是脉宽（0.5ms / 1.5ms / 2.5ms）。这是新手最容易混的一处。</a:t>
            </a:r>
          </a:p>
          <a:p/>
          <a:p>
            <a:r>
              <a:t>【互动】问一句：谁知道为什么舵机会"堵住不动还发烫"？——因为它以为你要它</a:t>
            </a:r>
          </a:p>
          <a:p>
            <a:r>
              <a:t>一直顶在那儿，顶死了还在给信号，几分钟就烧。这就接上了后面"三件会烧东西"。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【USART 2 分钟】</a:t>
            </a:r>
          </a:p>
          <a:p>
            <a:r>
              <a:t>如果只让学员带走一件调试工具，就是这个。</a:t>
            </a:r>
          </a:p>
          <a:p/>
          <a:p>
            <a:r>
              <a:t>把"串口"讲成"板子的嘴和耳朵"：它不用仪器、不用示波器，</a:t>
            </a:r>
          </a:p>
          <a:p>
            <a:r>
              <a:t>一根 USB 转串口线接上，电脑上开个串口助手，程序走到哪、变量是多少，</a:t>
            </a:r>
          </a:p>
          <a:p>
            <a:r>
              <a:t>当场就能看见。</a:t>
            </a:r>
          </a:p>
          <a:p/>
          <a:p>
            <a:r>
              <a:t>这里直接和后面的"可观测性优先"挂钩：第 6 页我们会讲</a:t>
            </a:r>
          </a:p>
          <a:p>
            <a:r>
              <a:t>"看不见的东西没法调"。串口就是把看不见的东西变看得见的第一步。</a:t>
            </a:r>
          </a:p>
          <a:p>
            <a:r>
              <a:t>所以第二步"点亮"里，灯和串口是一起要做的，不是可选。</a:t>
            </a:r>
          </a:p>
          <a:p/>
          <a:p>
            <a:r>
              <a:t>波特率：现在不用讲它是什么，只说"两边必须写一样"，</a:t>
            </a:r>
          </a:p>
          <a:p>
            <a:r>
              <a:t>不一样就是乱码——让他们在第一步就先踩一次、记住这个现象，比讲原理有用。</a:t>
            </a:r>
          </a:p>
          <a:p/>
          <a:p>
            <a:r>
              <a:t>交叉接线要讲，而且要说这是硬件问题不是代码问题：</a:t>
            </a:r>
          </a:p>
          <a:p>
            <a:r>
              <a:t>TX→RX、RX→TX，接成同名就是一条线都不通。</a:t>
            </a:r>
          </a:p>
          <a:p>
            <a:r>
              <a:t>这个坑几乎每个人都会踩一次。</a:t>
            </a:r>
          </a:p>
          <a:p/>
          <a:p>
            <a:r>
              <a:t>【现场演示】如果能投影，当场插一根 USB 转串口、开串口助手，</a:t>
            </a:r>
          </a:p>
          <a:p>
            <a:r>
              <a:t>让灯每闪一次就打一行字。效果比讲十句都强。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【SPI / I2C 1.5 分钟】</a:t>
            </a:r>
          </a:p>
          <a:p>
            <a:r>
              <a:t>这一页的目标很窄：让学员看到手柄那四根线不害怕。</a:t>
            </a:r>
          </a:p>
          <a:p/>
          <a:p>
            <a:r>
              <a:t>先说"为什么要有总线"：如果每接一个模块都要独占一组线，</a:t>
            </a:r>
          </a:p>
          <a:p>
            <a:r>
              <a:t>主控的引脚根本不够用。所以让多个模块共用几条线，靠地址或片选来区分——</a:t>
            </a:r>
          </a:p>
          <a:p>
            <a:r>
              <a:t>这就是总线。</a:t>
            </a:r>
          </a:p>
          <a:p/>
          <a:p>
            <a:r>
              <a:t>SPI 和 I2C 的分工讲一句话就够：</a:t>
            </a:r>
          </a:p>
          <a:p>
            <a:r>
              <a:t>SPI 快、线多（四根），适合屏幕、存储、手柄这种要快的数据；</a:t>
            </a:r>
          </a:p>
          <a:p>
            <a:r>
              <a:t>I2C 慢、线少（两根），适合一堆小传感器挂在一起。</a:t>
            </a:r>
          </a:p>
          <a:p/>
          <a:p>
            <a:r>
              <a:t>**重点落在 PS2 手柄**：接收器就是用 SPI 的时序，四根线</a:t>
            </a:r>
          </a:p>
          <a:p>
            <a:r>
              <a:t>CS（片选）/ CLK（时钟）/ CMD（命令）/ DAT（数据）。</a:t>
            </a:r>
          </a:p>
          <a:p>
            <a:r>
              <a:t>不要在这里讲时序图，只讲一件事：这四根线是配合工作的，</a:t>
            </a:r>
          </a:p>
          <a:p>
            <a:r>
              <a:t>少接一根、或者接错一根，现象都是"手柄完全没反应"——</a:t>
            </a:r>
          </a:p>
          <a:p>
            <a:r>
              <a:t>而这时候最容易犯的错是去改代码。实际上是接线。</a:t>
            </a:r>
          </a:p>
          <a:p/>
          <a:p>
            <a:r>
              <a:t>最后一句要重复两遍：照着接线表接，别自己发挥。</a:t>
            </a:r>
          </a:p>
          <a:p>
            <a:r>
              <a:t>引脚是驱动里写死的，不是你挑的。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【断 · 时钟 · DMA 2 分钟】</a:t>
            </a:r>
          </a:p>
          <a:p>
            <a:r>
              <a:t>这一页是"保命页"，目的是在他们第一次遇到"什么都不动"的时候，</a:t>
            </a:r>
          </a:p>
          <a:p>
            <a:r>
              <a:t>知道该往哪儿想。</a:t>
            </a:r>
          </a:p>
          <a:p/>
          <a:p>
            <a:r>
              <a:t>时钟树放第一个讲，因为这是新生最典型的一次事故：</a:t>
            </a:r>
          </a:p>
          <a:p>
            <a:r>
              <a:t>拿了别人的工程、或者自己新建一个，代码抄得一字不差，</a:t>
            </a:r>
          </a:p>
          <a:p>
            <a:r>
              <a:t>烧进去什么都不动。八成是时钟树没配。</a:t>
            </a:r>
          </a:p>
          <a:p>
            <a:r>
              <a:t>一句话记住：芯片的每个外设都有自己的心跳，心跳没给，它就死在那儿。</a:t>
            </a:r>
          </a:p>
          <a:p>
            <a:r>
              <a:t>（顺带提一句我们这边统一用 72MHz，别去动它。）</a:t>
            </a:r>
          </a:p>
          <a:p/>
          <a:p>
            <a:r>
              <a:t>中断：用"你正在写作业，外卖到了"打比方。</a:t>
            </a:r>
          </a:p>
          <a:p>
            <a:r>
              <a:t>好处是不用一直盯着门口——这正是车上要它的原因：</a:t>
            </a:r>
          </a:p>
          <a:p>
            <a:r>
              <a:t>遥控信号什么时候来不知道，掉线什么时候发生也不知道，</a:t>
            </a:r>
          </a:p>
          <a:p>
            <a:r>
              <a:t>用中断就不用主循环一直空转去等。</a:t>
            </a:r>
          </a:p>
          <a:p/>
          <a:p>
            <a:r>
              <a:t>DMA：搬运工。串口一次收一长串数据，让 DMA 自己去搬，CPU 该干嘛干嘛。</a:t>
            </a:r>
          </a:p>
          <a:p>
            <a:r>
              <a:t>这一届用不太多，知道有这么个东西、知道它能省 CPU 就行。</a:t>
            </a:r>
          </a:p>
          <a:p/>
          <a:p>
            <a:r>
              <a:t>车上对应：遥控掉线超时（第 4 页讲过"掉线必须停"）、串口收帧、</a:t>
            </a:r>
          </a:p>
          <a:p>
            <a:r>
              <a:t>定时器周期性动作，这三个都是中断。</a:t>
            </a:r>
          </a:p>
          <a:p/>
          <a:p>
            <a:r>
              <a:t>结尾回到"要点"：这三样平时你感觉不到，但它们一坏，现象就是"全都不动"。</a:t>
            </a:r>
          </a:p>
          <a:p>
            <a:r>
              <a:t>所以碰到"什么都没反应"，先不要怀疑你的逻辑，先怀疑它们。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jpg"/><Relationship Id="rId6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12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41200" y="2149200"/>
            <a:ext cx="1281600" cy="324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1200" y="2516400"/>
            <a:ext cx="102420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600" b="1">
                <a:solidFill>
                  <a:srgbClr val="111827"/>
                </a:solidFill>
                <a:latin typeface="微软雅黑"/>
                <a:ea typeface="微软雅黑"/>
              </a:rPr>
              <a:t>从零搓出一台能上场的车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200" y="3816000"/>
            <a:ext cx="10058400" cy="54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0">
                <a:solidFill>
                  <a:srgbClr val="6B7280"/>
                </a:solidFill>
                <a:latin typeface="微软雅黑"/>
                <a:ea typeface="微软雅黑"/>
              </a:rPr>
              <a:t>27 赛季 CRTC 新生赛 · 电控培训　|　比赛任务：搬运 / 抓取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1200" y="4618800"/>
            <a:ext cx="100584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1200" y="4939200"/>
            <a:ext cx="10515600" cy="100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sz="1450" b="1">
                <a:solidFill>
                  <a:srgbClr val="111827"/>
                </a:solidFill>
                <a:latin typeface="微软雅黑"/>
                <a:ea typeface="微软雅黑"/>
              </a:rPr>
              <a:t>这是一张地图</a:t>
            </a:r>
            <a:r>
              <a:rPr sz="1450" b="0">
                <a:solidFill>
                  <a:srgbClr val="6B7280"/>
                </a:solidFill>
                <a:latin typeface="微软雅黑"/>
                <a:ea typeface="微软雅黑"/>
              </a:rPr>
              <a:t>  这一小时只讲路怎么走，不讲每一步怎么做</a:t>
            </a:r>
          </a:p>
          <a:p>
            <a:pPr algn="l">
              <a:spcAft>
                <a:spcPts val="700"/>
              </a:spcAft>
            </a:pPr>
            <a:r>
              <a:rPr sz="1450" b="1">
                <a:solidFill>
                  <a:srgbClr val="111827"/>
                </a:solidFill>
                <a:latin typeface="微软雅黑"/>
                <a:ea typeface="微软雅黑"/>
              </a:rPr>
              <a:t>现场看演示</a:t>
            </a:r>
            <a:r>
              <a:rPr sz="1450" b="0">
                <a:solidFill>
                  <a:srgbClr val="6B7280"/>
                </a:solidFill>
                <a:latin typeface="微软雅黑"/>
                <a:ea typeface="微软雅黑"/>
              </a:rPr>
              <a:t>  CubeMX 和 Keil 我会现场打开给你看，动手留在课后</a:t>
            </a:r>
          </a:p>
          <a:p>
            <a:pPr algn="l">
              <a:spcAft>
                <a:spcPts val="700"/>
              </a:spcAft>
            </a:pPr>
            <a:r>
              <a:rPr sz="1450" b="1">
                <a:solidFill>
                  <a:srgbClr val="111827"/>
                </a:solidFill>
                <a:latin typeface="微软雅黑"/>
                <a:ea typeface="微软雅黑"/>
              </a:rPr>
              <a:t>卡住了怎么办</a:t>
            </a:r>
            <a:r>
              <a:rPr sz="1450" b="0">
                <a:solidFill>
                  <a:srgbClr val="6B7280"/>
                </a:solidFill>
                <a:latin typeface="微软雅黑"/>
                <a:ea typeface="微软雅黑"/>
              </a:rPr>
              <a:t>  先自己查 → 再问 AI → 最后带着“你试过什么”来找我们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200" y="6310800"/>
            <a:ext cx="10058400" cy="36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150" b="0" dirty="0" err="1">
                <a:solidFill>
                  <a:srgbClr val="9CA3AF"/>
                </a:solidFill>
                <a:latin typeface="微软雅黑"/>
                <a:ea typeface="微软雅黑"/>
              </a:rPr>
              <a:t>RoboTac</a:t>
            </a:r>
            <a:r>
              <a:rPr lang="zh-CN" altLang="en-US" sz="1150" b="0" dirty="0">
                <a:solidFill>
                  <a:srgbClr val="9CA3AF"/>
                </a:solidFill>
                <a:latin typeface="微软雅黑"/>
                <a:ea typeface="微软雅黑"/>
              </a:rPr>
              <a:t>陵龙  </a:t>
            </a:r>
            <a:r>
              <a:rPr sz="1150" b="0" dirty="0">
                <a:solidFill>
                  <a:srgbClr val="9CA3AF"/>
                </a:solidFill>
                <a:latin typeface="微软雅黑"/>
                <a:ea typeface="微软雅黑"/>
              </a:rPr>
              <a:t>·</a:t>
            </a:r>
            <a:r>
              <a:rPr lang="en-US" sz="1150" b="0" dirty="0">
                <a:solidFill>
                  <a:srgbClr val="9CA3AF"/>
                </a:solidFill>
                <a:latin typeface="微软雅黑"/>
                <a:ea typeface="微软雅黑"/>
              </a:rPr>
              <a:t> </a:t>
            </a:r>
            <a:r>
              <a:rPr sz="1150" b="0" dirty="0">
                <a:solidFill>
                  <a:srgbClr val="9CA3AF"/>
                </a:solidFill>
                <a:latin typeface="微软雅黑"/>
                <a:ea typeface="微软雅黑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开场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 dirty="0" err="1">
                <a:solidFill>
                  <a:srgbClr val="111827"/>
                </a:solidFill>
                <a:latin typeface="微软雅黑"/>
                <a:ea typeface="微软雅黑"/>
              </a:rPr>
              <a:t>这一小时，你能带走什么</a:t>
            </a:r>
            <a:endParaRPr sz="2700" b="1" dirty="0">
              <a:solidFill>
                <a:srgbClr val="111827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一张地图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从一堆零件到车能上场，完整的六步，以及每一步的“完成标志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”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一份避坑清单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每个环节最容易翻车的地方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1500" dirty="0">
                <a:solidFill>
                  <a:srgbClr val="6B7280"/>
                </a:solidFill>
                <a:latin typeface="微软雅黑"/>
                <a:ea typeface="微软雅黑"/>
              </a:rPr>
              <a:t>很多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是我们自己踩出来的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一套排查方法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车不动了，怎么在十分钟内判断</a:t>
            </a:r>
            <a:r>
              <a:rPr lang="zh-CN" altLang="en-US" sz="1500" b="0" dirty="0">
                <a:solidFill>
                  <a:srgbClr val="6B7280"/>
                </a:solidFill>
                <a:latin typeface="微软雅黑"/>
                <a:ea typeface="微软雅黑"/>
              </a:rPr>
              <a:t>问题来源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一套名词底子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GPIO、PWM、USART 这些词，先知道它们是什么、在车上干嘛用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明确不讲什么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原理推导、寄存器手册、任何一步的具体操作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1500" dirty="0">
                <a:solidFill>
                  <a:srgbClr val="6B7280"/>
                </a:solidFill>
                <a:latin typeface="微软雅黑"/>
                <a:ea typeface="微软雅黑"/>
              </a:rPr>
              <a:t>这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些留到你动手时再看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zh-CN" altLang="en-US" sz="1250" b="1" dirty="0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lang="zh-CN" altLang="en-US" sz="1400" b="0" dirty="0">
                <a:solidFill>
                  <a:srgbClr val="111827"/>
                </a:solidFill>
                <a:latin typeface="微软雅黑"/>
                <a:ea typeface="微软雅黑"/>
              </a:rPr>
              <a:t>      </a:t>
            </a:r>
            <a:r>
              <a:rPr sz="1400" b="0" dirty="0" err="1">
                <a:solidFill>
                  <a:srgbClr val="111827"/>
                </a:solidFill>
                <a:latin typeface="微软雅黑"/>
                <a:ea typeface="微软雅黑"/>
              </a:rPr>
              <a:t>这是一张地图</a:t>
            </a:r>
            <a:r>
              <a:rPr lang="zh-CN" altLang="en-US" sz="1400" b="0" dirty="0">
                <a:solidFill>
                  <a:srgbClr val="111827"/>
                </a:solidFill>
                <a:latin typeface="微软雅黑"/>
                <a:ea typeface="微软雅黑"/>
              </a:rPr>
              <a:t>而非</a:t>
            </a:r>
            <a:r>
              <a:rPr sz="1400" b="0" dirty="0" err="1">
                <a:solidFill>
                  <a:srgbClr val="111827"/>
                </a:solidFill>
                <a:latin typeface="微软雅黑"/>
                <a:ea typeface="微软雅黑"/>
              </a:rPr>
              <a:t>教材。真正的操作在课后</a:t>
            </a:r>
            <a:r>
              <a:rPr lang="zh-CN" altLang="en-US" sz="1400" b="0" dirty="0">
                <a:solidFill>
                  <a:srgbClr val="111827"/>
                </a:solidFill>
                <a:latin typeface="微软雅黑"/>
                <a:ea typeface="微软雅黑"/>
              </a:rPr>
              <a:t>，在实践中学习</a:t>
            </a:r>
            <a:endParaRPr sz="1400" b="0" dirty="0">
              <a:solidFill>
                <a:srgbClr val="111827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altLang="en-US" sz="1050" b="1" dirty="0">
                <a:solidFill>
                  <a:srgbClr val="4F46E5"/>
                </a:solidFill>
                <a:latin typeface="微软雅黑"/>
                <a:ea typeface="微软雅黑"/>
              </a:rPr>
              <a:t>前言</a:t>
            </a:r>
            <a:r>
              <a:rPr lang="en-US" altLang="zh-CN" sz="1050" b="1" dirty="0">
                <a:solidFill>
                  <a:srgbClr val="4F46E5"/>
                </a:solidFill>
                <a:latin typeface="微软雅黑"/>
                <a:ea typeface="微软雅黑"/>
              </a:rPr>
              <a:t>—</a:t>
            </a:r>
            <a:r>
              <a:rPr lang="zh-CN" altLang="en-US" sz="1050" b="1" dirty="0">
                <a:solidFill>
                  <a:srgbClr val="4F46E5"/>
                </a:solidFill>
                <a:latin typeface="微软雅黑"/>
                <a:ea typeface="微软雅黑"/>
              </a:rPr>
              <a:t>关于</a:t>
            </a:r>
            <a:r>
              <a:rPr lang="en-US" altLang="zh-CN" sz="1050" b="1" dirty="0">
                <a:solidFill>
                  <a:srgbClr val="4F46E5"/>
                </a:solidFill>
                <a:latin typeface="微软雅黑"/>
                <a:ea typeface="微软雅黑"/>
              </a:rPr>
              <a:t>AI</a:t>
            </a:r>
            <a:endParaRPr sz="1050" b="1" dirty="0">
              <a:solidFill>
                <a:srgbClr val="4F46E5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zh-CN" altLang="en-US" sz="2700" b="1" dirty="0">
                <a:solidFill>
                  <a:srgbClr val="111827"/>
                </a:solidFill>
                <a:latin typeface="微软雅黑"/>
                <a:ea typeface="微软雅黑"/>
              </a:rPr>
              <a:t>关于</a:t>
            </a:r>
            <a:r>
              <a:rPr lang="en-US" altLang="zh-CN" sz="2700" b="1" dirty="0">
                <a:solidFill>
                  <a:srgbClr val="111827"/>
                </a:solidFill>
                <a:latin typeface="微软雅黑"/>
                <a:ea typeface="微软雅黑"/>
              </a:rPr>
              <a:t>AI</a:t>
            </a:r>
            <a:r>
              <a:rPr lang="zh-CN" altLang="en-US" sz="2700" b="1" dirty="0">
                <a:solidFill>
                  <a:srgbClr val="111827"/>
                </a:solidFill>
                <a:latin typeface="微软雅黑"/>
                <a:ea typeface="微软雅黑"/>
              </a:rPr>
              <a:t>的使用建议</a:t>
            </a:r>
            <a:endParaRPr sz="2700" b="1" dirty="0">
              <a:solidFill>
                <a:srgbClr val="111827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1" dirty="0" err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 dirty="0">
                <a:solidFill>
                  <a:srgbClr val="111827"/>
                </a:solidFill>
                <a:latin typeface="微软雅黑"/>
                <a:ea typeface="微软雅黑"/>
              </a:rPr>
              <a:t>      </a:t>
            </a:r>
            <a:r>
              <a:rPr lang="zh-CN" altLang="en-US" sz="1400" b="0" dirty="0">
                <a:solidFill>
                  <a:srgbClr val="111827"/>
                </a:solidFill>
                <a:latin typeface="微软雅黑"/>
                <a:ea typeface="微软雅黑"/>
              </a:rPr>
              <a:t>让</a:t>
            </a:r>
            <a:r>
              <a:rPr lang="en-US" altLang="zh-CN" sz="1400" b="0" dirty="0">
                <a:solidFill>
                  <a:srgbClr val="111827"/>
                </a:solidFill>
                <a:latin typeface="微软雅黑"/>
                <a:ea typeface="微软雅黑"/>
              </a:rPr>
              <a:t>AI</a:t>
            </a:r>
            <a:r>
              <a:rPr lang="zh-CN" altLang="en-US" sz="1400" b="0" dirty="0">
                <a:solidFill>
                  <a:srgbClr val="111827"/>
                </a:solidFill>
                <a:latin typeface="微软雅黑"/>
                <a:ea typeface="微软雅黑"/>
              </a:rPr>
              <a:t>当你的老师，而不是单纯让</a:t>
            </a:r>
            <a:r>
              <a:rPr lang="en-US" altLang="zh-CN" sz="1400" b="0" dirty="0">
                <a:solidFill>
                  <a:srgbClr val="111827"/>
                </a:solidFill>
                <a:latin typeface="微软雅黑"/>
                <a:ea typeface="微软雅黑"/>
              </a:rPr>
              <a:t>AI</a:t>
            </a:r>
            <a:r>
              <a:rPr lang="zh-CN" altLang="en-US" sz="1400" b="0" dirty="0">
                <a:solidFill>
                  <a:srgbClr val="111827"/>
                </a:solidFill>
                <a:latin typeface="微软雅黑"/>
                <a:ea typeface="微软雅黑"/>
              </a:rPr>
              <a:t>替代你的工作</a:t>
            </a:r>
            <a:endParaRPr sz="1400" b="0" dirty="0">
              <a:solidFill>
                <a:srgbClr val="111827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BD3314-6479-BD88-6397-BB629E07B9BE}"/>
              </a:ext>
            </a:extLst>
          </p:cNvPr>
          <p:cNvSpPr txBox="1"/>
          <p:nvPr/>
        </p:nvSpPr>
        <p:spPr>
          <a:xfrm>
            <a:off x="754380" y="1915220"/>
            <a:ext cx="6099048" cy="1150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lang="en-US" altLang="zh-CN"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lang="zh-CN" altLang="en-US" sz="1500" b="1" dirty="0">
                <a:solidFill>
                  <a:srgbClr val="111827"/>
                </a:solidFill>
                <a:latin typeface="微软雅黑"/>
                <a:ea typeface="微软雅黑"/>
              </a:rPr>
              <a:t>为什么不推荐用“豆包”写代码</a:t>
            </a:r>
            <a:endParaRPr lang="en-US" altLang="zh-CN" sz="1500" b="1" dirty="0">
              <a:solidFill>
                <a:srgbClr val="4F46E5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lang="en-US" altLang="zh-CN"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lang="zh-CN" altLang="en-US" sz="1500" b="1" dirty="0">
                <a:solidFill>
                  <a:srgbClr val="111827"/>
                </a:solidFill>
                <a:latin typeface="微软雅黑"/>
                <a:ea typeface="微软雅黑"/>
              </a:rPr>
              <a:t>部署你的</a:t>
            </a:r>
            <a:r>
              <a:rPr lang="en-US" altLang="zh-CN" sz="1500" b="1" dirty="0">
                <a:solidFill>
                  <a:srgbClr val="111827"/>
                </a:solidFill>
                <a:latin typeface="微软雅黑"/>
                <a:ea typeface="微软雅黑"/>
              </a:rPr>
              <a:t>Agent</a:t>
            </a:r>
            <a:r>
              <a:rPr lang="zh-CN" altLang="en-US" sz="1500" b="1" dirty="0">
                <a:solidFill>
                  <a:srgbClr val="111827"/>
                </a:solidFill>
                <a:latin typeface="微软雅黑"/>
                <a:ea typeface="微软雅黑"/>
              </a:rPr>
              <a:t>（以</a:t>
            </a:r>
            <a:r>
              <a:rPr lang="en-US" altLang="zh-CN" sz="1500" b="1" dirty="0">
                <a:solidFill>
                  <a:srgbClr val="111827"/>
                </a:solidFill>
                <a:latin typeface="微软雅黑"/>
                <a:ea typeface="微软雅黑"/>
              </a:rPr>
              <a:t>DeepSeek Harness</a:t>
            </a:r>
            <a:r>
              <a:rPr lang="zh-CN" altLang="en-US" sz="1500" b="1" dirty="0">
                <a:solidFill>
                  <a:srgbClr val="111827"/>
                </a:solidFill>
                <a:latin typeface="微软雅黑"/>
                <a:ea typeface="微软雅黑"/>
              </a:rPr>
              <a:t>为例）</a:t>
            </a:r>
            <a:endParaRPr lang="en-US" altLang="zh-CN" sz="1500" b="1" dirty="0">
              <a:solidFill>
                <a:srgbClr val="111827"/>
              </a:solidFill>
              <a:latin typeface="微软雅黑"/>
              <a:ea typeface="微软雅黑"/>
            </a:endParaRP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lang="en-US" altLang="zh-CN"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lang="zh-CN" altLang="en-US" sz="1500" b="1" dirty="0">
                <a:solidFill>
                  <a:srgbClr val="111827"/>
                </a:solidFill>
                <a:latin typeface="微软雅黑"/>
                <a:ea typeface="微软雅黑"/>
              </a:rPr>
              <a:t>提示词使用示例</a:t>
            </a:r>
            <a:endParaRPr lang="zh-CN" altLang="en-US" sz="1500" b="0" dirty="0">
              <a:solidFill>
                <a:srgbClr val="6B7280"/>
              </a:solidFill>
              <a:latin typeface="微软雅黑"/>
              <a:ea typeface="微软雅黑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FF7B3AE-0971-637B-9356-525F5521A1E2}"/>
              </a:ext>
            </a:extLst>
          </p:cNvPr>
          <p:cNvSpPr txBox="1"/>
          <p:nvPr/>
        </p:nvSpPr>
        <p:spPr>
          <a:xfrm>
            <a:off x="754380" y="3546020"/>
            <a:ext cx="111700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4F46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AND:</a:t>
            </a:r>
          </a:p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这里的教学仅作基础学习参考，你当然有选择工具和是否付费的权利，我们也非常鼓励你去寻找更好的选择和探索更广阔的空间</a:t>
            </a:r>
          </a:p>
        </p:txBody>
      </p:sp>
    </p:spTree>
    <p:extLst>
      <p:ext uri="{BB962C8B-B14F-4D97-AF65-F5344CB8AC3E}">
        <p14:creationId xmlns:p14="http://schemas.microsoft.com/office/powerpoint/2010/main" val="203973408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科普 · 开场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车上所有的事，最后都落到这几个外设上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外设是什么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芯片里替你干活的硬件模块。你写代码，它出电平——电机不是芯片直接推得动的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这一节讲到哪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只认名字和用途：它是干嘛的、车上哪里用了它。寄存器怎么配，课后再说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要认识的几个词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GPIO · PWM · USART · SPI · I2C · 中断 · 时钟树 · DMA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为什么放在最前面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后面六步里这些词会反复出现。先认人，再听故事</a:t>
            </a: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听完这一节，你不需要会用任何一个外设——只需要听到名字不发懵，知道该去查哪一个。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科普 · GPIO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GPIO：芯片的手和脚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一句话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每个引脚只有两种状态——高电平（3.3V）或者低电平（0V）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两种身份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输出：你控制它；输入：你读它。就这么简单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车上用在哪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板载 LED（PC13）· DRV8833 的 STBY 使能脚 · 按键和限位开关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容易搞混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板载 LED 是低电平点亮——跟“给高电平就亮”正好反过来，别看着不亮就以为坏了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常见坑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引脚冲突：同一个脚被两个外设占了，两个都用不了，而报错往往看不出来</a:t>
            </a: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GPIO 是其它一切的基础——车上每个动作、每颗灯，最后都是某个引脚在变高、变低。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科普 · PWM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PWM：不是给电压，是给时间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一句话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在极短的时间里反复开、关；开的时间占多大比例，叫占空比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为什么用它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电机不需要某个电压，它需要“使三成力气”——占空比就是这个力气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两个关键参数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频率：一秒开关多少次（决定它叫不叫）；占空比：一次开多久（决定它多快）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车上用在哪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四个轮子的调速全走 PWM；舵机要的也是 PWM，但频率固定 50Hz，看的是脉宽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最容易翻车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频率写太低 → 电机嗡嗡啸叫；把舵机通道当电机通道 → 堵住不动还发烫</a:t>
            </a: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PWM 就是用时间换力度。车上所有“转多快、转到哪个角度”，本质都是它。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科普 · USART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USART：让板子开口说话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一句话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一根发、一根收，两根线就能把数据送到电脑上，串口助手一开就能看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为什么最重要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板子不说话，你就只能靠猜。程序跑没跑、变量是多少，全靠它打出来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一个必须对的参数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波特率两边要一致（比如都用 115200）。对不上，屏幕上就是一屏乱码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车上用在哪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打印调试信息；后面接蓝牙 / WiFi 模块走的也是它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最容易翻车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TX 要接对方的 RX——交叉接线。接成 TX 接 TX，从头到尾一点反应都没有</a:t>
            </a: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先把串口跑通，再谈别的。能看见现象，才有资格谈排查。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科普 · SPI 与 I2C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SPI 与 I2C：给外设用的两条总线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为什么要“总线”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好几个模块共用几条线，省引脚，也省得每次接线都重新想一遍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SPI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快、线多——时钟、收发各一根，外加一根片选。屏幕、存储卡、手柄接收器常见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I2C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慢一点、线少——时钟加数据两根。一堆传感器可以挂在同两根线上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车上用在哪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PS2 手柄接收器走的就是 SPI 时序——四根线：CS / CLK / CMD / DAT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最容易翻车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这两条总线的引脚是芯片“指定”的，不是随便挑的；分错脚，一位数据都读不到</a:t>
            </a: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SPI / I2C 的难点不在代码，在引脚表——照着驱动里的接线表接，别自己发挥。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科普 · 中断 · 时钟 · DMA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三个看不见、但绕不开的东西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中断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CPU 干活时被打断一下，先处理急事。好处是来了就响应，不用一直盯着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时钟树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整个芯片的心跳。外设的心跳没配好，它就一动不动——代码全对也没用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DMA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数据搬运工。它自己把数据搬来搬去，让 CPU 腾出手去干别的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车上用在哪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串口收数据、定时器周期性动作、遥控掉线超时检测，用中断最省事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最容易翻车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新建工程时钟树没配 → 代码一个字没错，现象是一个都不动。要先学会怀疑它</a:t>
            </a: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这三样平时感受不到，一出问题就是“什么都不动”——遇到这种，先查它们。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全程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六步，从一堆零件到一台能打比赛的车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01　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认硬件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认清手里有什么，以及每一样东西接在哪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02　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点亮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让板子先跑起来你的代码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——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哪怕只是闪个灯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03　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转起来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四个轮子按你的命令转，而且方向对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04　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开起来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拿手柄遥控，车听你的话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05　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抓起来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舵机和夹爪能抓能放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——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这是拿分的地方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06　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上场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联调、检查、比赛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1" dirty="0" err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 dirty="0">
                <a:solidFill>
                  <a:srgbClr val="111827"/>
                </a:solidFill>
                <a:latin typeface="微软雅黑"/>
                <a:ea typeface="微软雅黑"/>
              </a:rPr>
              <a:t>      每一步都有“</a:t>
            </a:r>
            <a:r>
              <a:rPr sz="1400" b="0" dirty="0" err="1">
                <a:solidFill>
                  <a:srgbClr val="111827"/>
                </a:solidFill>
                <a:latin typeface="微软雅黑"/>
                <a:ea typeface="微软雅黑"/>
              </a:rPr>
              <a:t>完成标志</a:t>
            </a:r>
            <a:r>
              <a:rPr sz="1400" b="0" dirty="0">
                <a:solidFill>
                  <a:srgbClr val="111827"/>
                </a:solidFill>
                <a:latin typeface="微软雅黑"/>
                <a:ea typeface="微软雅黑"/>
              </a:rPr>
              <a:t>”。</a:t>
            </a:r>
            <a:r>
              <a:rPr sz="1400" b="0" dirty="0" err="1">
                <a:solidFill>
                  <a:srgbClr val="111827"/>
                </a:solidFill>
                <a:latin typeface="微软雅黑"/>
                <a:ea typeface="微软雅黑"/>
              </a:rPr>
              <a:t>没到标志就别往下走</a:t>
            </a:r>
            <a:r>
              <a:rPr sz="1400" b="0" dirty="0">
                <a:solidFill>
                  <a:srgbClr val="111827"/>
                </a:solidFill>
                <a:latin typeface="微软雅黑"/>
                <a:ea typeface="微软雅黑"/>
              </a:rPr>
              <a:t>——</a:t>
            </a:r>
            <a:r>
              <a:rPr sz="1400" b="0" dirty="0" err="1">
                <a:solidFill>
                  <a:srgbClr val="111827"/>
                </a:solidFill>
                <a:latin typeface="微软雅黑"/>
                <a:ea typeface="微软雅黑"/>
              </a:rPr>
              <a:t>这是最快的一条路</a:t>
            </a:r>
            <a:r>
              <a:rPr sz="1400" b="0" dirty="0">
                <a:solidFill>
                  <a:srgbClr val="111827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动手之前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有三件事会烧东西，先记住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接线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上电前照接线图核对，不要凭记忆。接反了烧板子只要一瞬间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舵机堵转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机构顶死了还在给信号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 =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发烫、嗡嗡响，几分钟就烧。行程必须留余量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供电与顺序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用套件里的电源和线，别自己换；先接线再上电，改线之前先断电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为什么反复讲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烧掉的不是钱，是比赛前那几天你根本补不回来的时间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上电前照图核对一遍，比事后查三天都划算。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第一步 · 认硬件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先认清：你手里到底有什么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底盘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TT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马达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 ×4 +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麦轮，两片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 DRV8833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驱动，每个轮子能各自转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主控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STM32F103C8</a:t>
            </a:r>
            <a:r>
              <a:rPr lang="en-US" sz="1500" b="0" dirty="0">
                <a:solidFill>
                  <a:srgbClr val="6B7280"/>
                </a:solidFill>
                <a:latin typeface="微软雅黑"/>
                <a:ea typeface="微软雅黑"/>
              </a:rPr>
              <a:t>T6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机构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舵机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 ×5。分两种：位置舵机（给角度）和 360°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舵机（给速度</a:t>
            </a:r>
            <a:r>
              <a:rPr lang="zh-CN" altLang="en-US" sz="1500" b="0" dirty="0">
                <a:solidFill>
                  <a:srgbClr val="6B7280"/>
                </a:solidFill>
                <a:latin typeface="微软雅黑"/>
                <a:ea typeface="微软雅黑"/>
              </a:rPr>
              <a:t>）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遥控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PS2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手柄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 +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无线接收器，四根线接到主控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完成标志：你能指着车上每一根线，说出它是干什么的。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12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C1F9739-91DD-57FF-F8F3-EF4DB3B99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23" y="4072338"/>
            <a:ext cx="1930753" cy="12523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3FE9F3D-0290-EEE1-A63F-DB49DD357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353" y="4072338"/>
            <a:ext cx="2095897" cy="134410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9C99FEB-3FDC-DC58-8BCB-D6758A07D7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274" y="4055496"/>
            <a:ext cx="2970231" cy="134410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D234D60-797E-AEB8-9055-3AF7970C94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0272" y="3921654"/>
            <a:ext cx="1494792" cy="14947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第三步 · 转起来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让四个轮子按你的命令转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一个电机两个脚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一个脚给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PWM、另一个脚不动</a:t>
            </a:r>
            <a:r>
              <a:rPr lang="zh-CN" altLang="en-US" sz="1500" b="0" dirty="0">
                <a:solidFill>
                  <a:srgbClr val="6B7280"/>
                </a:solidFill>
                <a:latin typeface="微软雅黑"/>
                <a:ea typeface="微软雅黑"/>
              </a:rPr>
              <a:t>（低电平）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，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方向由“哪个脚在动”决定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先求对，再求快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lang="zh-CN" altLang="en-US" sz="1500" dirty="0">
                <a:solidFill>
                  <a:srgbClr val="6B7280"/>
                </a:solidFill>
                <a:latin typeface="微软雅黑"/>
                <a:ea typeface="微软雅黑"/>
              </a:rPr>
              <a:t>不要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上来就调速度。先确认“能转、能停、方向对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”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轮位要自己认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哪个通道对应车身的哪个轮子，只能靠自检一个一个试出来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lang="zh-CN" altLang="en-US" sz="1500" b="1" dirty="0">
                <a:solidFill>
                  <a:srgbClr val="111827"/>
                </a:solidFill>
                <a:latin typeface="微软雅黑"/>
                <a:ea typeface="微软雅黑"/>
              </a:rPr>
              <a:t>麦轮安装和解算  </a:t>
            </a:r>
            <a:r>
              <a:rPr lang="zh-CN" altLang="en-US" sz="1500" b="0" dirty="0">
                <a:solidFill>
                  <a:srgbClr val="6B7280"/>
                </a:solidFill>
                <a:latin typeface="微软雅黑"/>
                <a:ea typeface="微软雅黑"/>
              </a:rPr>
              <a:t>”</a:t>
            </a:r>
            <a:r>
              <a:rPr lang="en-US" altLang="zh-CN" sz="1500" b="0" dirty="0">
                <a:solidFill>
                  <a:srgbClr val="6B7280"/>
                </a:solidFill>
                <a:latin typeface="微软雅黑"/>
                <a:ea typeface="微软雅黑"/>
              </a:rPr>
              <a:t>X</a:t>
            </a:r>
            <a:r>
              <a:rPr lang="zh-CN" altLang="en-US" sz="1500" b="0" dirty="0">
                <a:solidFill>
                  <a:srgbClr val="6B7280"/>
                </a:solidFill>
                <a:latin typeface="微软雅黑"/>
                <a:ea typeface="微软雅黑"/>
              </a:rPr>
              <a:t>“型安装 </a:t>
            </a:r>
            <a:r>
              <a:rPr lang="en-US" altLang="zh-CN" sz="1500" b="0" dirty="0">
                <a:solidFill>
                  <a:srgbClr val="6B7280"/>
                </a:solidFill>
                <a:latin typeface="微软雅黑"/>
                <a:ea typeface="微软雅黑"/>
              </a:rPr>
              <a:t>+ </a:t>
            </a:r>
            <a:r>
              <a:rPr lang="zh-CN" altLang="en-US" sz="1500" b="0" dirty="0">
                <a:solidFill>
                  <a:srgbClr val="6B7280"/>
                </a:solidFill>
                <a:latin typeface="微软雅黑"/>
                <a:ea typeface="微软雅黑"/>
              </a:rPr>
              <a:t>线性解算</a:t>
            </a:r>
            <a:endParaRPr lang="en-US" altLang="zh-CN" sz="1500" b="0" dirty="0">
              <a:solidFill>
                <a:srgbClr val="6B728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完成标志：每个通道单独转，你能说出它是哪个轮子、正转是不是往前。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748DE-C7A6-F949-051D-4FAC2090A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9DD3A-041F-C0E9-A883-54E255E46682}"/>
              </a:ext>
            </a:extLst>
          </p:cNvPr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288A3C-03F3-FA91-40BB-346336A2C7AE}"/>
              </a:ext>
            </a:extLst>
          </p:cNvPr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DE1212-B0B4-A7A3-08CF-8B3BC4306584}"/>
              </a:ext>
            </a:extLst>
          </p:cNvPr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第三步 · 转起来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37A2C-C565-0924-653C-2D4BD85F7759}"/>
              </a:ext>
            </a:extLst>
          </p:cNvPr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让四个轮子按你的命令转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ED45A2-A6C5-382E-074B-A8DF5596C421}"/>
              </a:ext>
            </a:extLst>
          </p:cNvPr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B65095-2F94-DF15-82F0-771629BE99A3}"/>
              </a:ext>
            </a:extLst>
          </p:cNvPr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A97F8D-EC09-7CF7-3B1D-73269197D3B3}"/>
              </a:ext>
            </a:extLst>
          </p:cNvPr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75DE2E-FC16-07FE-2D01-C8A7867AC136}"/>
              </a:ext>
            </a:extLst>
          </p:cNvPr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完成标志：每个通道单独转，你能说出它是哪个轮子、正转是不是往前。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76FFC9-F803-3FF7-E65A-41F8580B0E76}"/>
              </a:ext>
            </a:extLst>
          </p:cNvPr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E102898-175C-0ACA-7099-D950FCCB12BB}"/>
              </a:ext>
            </a:extLst>
          </p:cNvPr>
          <p:cNvSpPr txBox="1"/>
          <p:nvPr/>
        </p:nvSpPr>
        <p:spPr>
          <a:xfrm>
            <a:off x="867600" y="1917022"/>
            <a:ext cx="1281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型安装</a:t>
            </a:r>
            <a:endParaRPr lang="zh-CN" altLang="en-US" sz="20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8AA8FA-406A-13E8-0567-300486069BEB}"/>
              </a:ext>
            </a:extLst>
          </p:cNvPr>
          <p:cNvSpPr txBox="1"/>
          <p:nvPr/>
        </p:nvSpPr>
        <p:spPr>
          <a:xfrm>
            <a:off x="5094792" y="1917022"/>
            <a:ext cx="11322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数学解算</a:t>
            </a:r>
            <a:endParaRPr lang="zh-CN" altLang="en-US" sz="20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337AACD-B0ED-B2F0-9AE1-E98673E0E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93" y="2403249"/>
            <a:ext cx="2833843" cy="358658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38C560E-C064-5B4A-934A-9D0DE80DA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792" y="2255576"/>
            <a:ext cx="4283697" cy="373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425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第四步 · 开起来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让它听你的话：遥控 + 底盘解算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遥控接进来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接收器四根线。把杆量读进来，把按键也读进来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底盘解算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你只管“往前 / 往右 / 原地转”，四个轮子各转多少是算出来的——这就是麦轮的价值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掉线必须停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遥控一关、或信号断了，杆量立刻清零。做不到就是“车自己冲出去”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最容易翻车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前进方向反了、平移变成扭车身——这是轮位表或极性没对，不是手柄坏了</a:t>
            </a: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完成标志：手柄推哪车走哪，松手就停，关遥控器车也会停。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第五步 · 抓起来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拿分的地方：舵机和夹爪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舵机要的是脉宽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50Hz 方波，脉宽决定角度（位置舵机）或速度与方向（360°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舵机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）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先标定，再装机构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让舵机空着走完全程，记下两头到哪，再装夹爪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机构和代码一起定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张开多少、合上多少，是机械和电控一起商量的结果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最容易翻车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堵转烧舵机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——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机构顶死了还在给信号。行程一定要留余量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 dirty="0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 dirty="0" err="1">
                <a:solidFill>
                  <a:srgbClr val="111827"/>
                </a:solidFill>
                <a:latin typeface="微软雅黑"/>
                <a:ea typeface="微软雅黑"/>
              </a:rPr>
              <a:t>最容易翻车</a:t>
            </a:r>
            <a:r>
              <a:rPr sz="1500" b="1" dirty="0">
                <a:solidFill>
                  <a:srgbClr val="111827"/>
                </a:solidFill>
                <a:latin typeface="微软雅黑"/>
                <a:ea typeface="微软雅黑"/>
              </a:rPr>
              <a:t>  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把 360° 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舵机当位置舵机用</a:t>
            </a:r>
            <a:r>
              <a:rPr sz="1500" b="0" dirty="0">
                <a:solidFill>
                  <a:srgbClr val="6B7280"/>
                </a:solidFill>
                <a:latin typeface="微软雅黑"/>
                <a:ea typeface="微软雅黑"/>
              </a:rPr>
              <a:t>——</a:t>
            </a:r>
            <a:r>
              <a:rPr sz="1500" b="0" dirty="0" err="1">
                <a:solidFill>
                  <a:srgbClr val="6B7280"/>
                </a:solidFill>
                <a:latin typeface="微软雅黑"/>
                <a:ea typeface="微软雅黑"/>
              </a:rPr>
              <a:t>松手之后它一直转，停不下来</a:t>
            </a:r>
            <a:endParaRPr sz="1500" b="0" dirty="0">
              <a:solidFill>
                <a:srgbClr val="6B728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完成标志：手柄按一下夹爪张开，再按一下合上并夹住东西。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调试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车不动了，先别急着改代码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分治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把代码和硬件切成能单独验证的最小单元，一次只动一个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二分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注释掉一半、或换一个已知好的模块，看问题跟着谁走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可观测性优先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先让板上的灯和串口能说话，再谈逻辑。看不见的东西没法调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顺序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永远是：先看现象 → 再猜原因 → 最后才改代码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九成的“疑难杂症”，在“先跑一遍自检”这一步就现原形了。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关于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把 AI 当老师，不是当替身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该问 AI 的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解释报错、讲你不懂的概念、给几种方案对比、检查你写的代码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该自己想清楚的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引脚怎么分、现象怎么记、参数怎么调、最后怎么取舍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必须记住的一条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AI 会非常自信地编造引脚号、寄存器名和“标准做法”。它给的一切，都要回查手册或上板验证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怎么问才有效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带上完整报错、相关代码、你想要的结果。别只丢一句“它不动”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AI 能让你快十倍，也能让你错得浑然不觉——差别就在于你有没有验证。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上场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联调顺序与上场检查单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联调顺序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单轮 → 底盘 → 遥控 → 夹爪 → 综合动作，每一步都要能单独跑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上场前五问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电够不够？线松没松？轮位对不对？夹爪行程有余量吗？遥控配对了吗？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想好坏了怎么办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关键功能都要有备用方案。比赛时没有第二次机会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最容易翻车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接头在震动下松脱。线材固定和代码一样重要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小事才最要命——一根松掉的线，能吃掉一整场的优势。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7600" y="0"/>
            <a:ext cx="1828800" cy="468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7600" y="565200"/>
            <a:ext cx="73152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7600" y="896400"/>
            <a:ext cx="10425600" cy="68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微软雅黑"/>
                <a:ea typeface="微软雅黑"/>
              </a:rPr>
              <a:t>一张地图，三句话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600" y="1663200"/>
            <a:ext cx="10468800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600" y="1936800"/>
            <a:ext cx="10515600" cy="393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先跑通最短链路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灯 → 电机 → 遥控 → 夹爪，一步一个完成标志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先看现象，再改代码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分治 · 二分 · 可观测性优先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500" b="1">
                <a:solidFill>
                  <a:srgbClr val="4F46E5"/>
                </a:solidFill>
                <a:latin typeface="微软雅黑"/>
                <a:ea typeface="微软雅黑"/>
              </a:rPr>
              <a:t>—  </a:t>
            </a:r>
            <a:r>
              <a:rPr sz="1500" b="1">
                <a:solidFill>
                  <a:srgbClr val="111827"/>
                </a:solidFill>
                <a:latin typeface="微软雅黑"/>
                <a:ea typeface="微软雅黑"/>
              </a:rPr>
              <a:t>AI 是老师不是替身  </a:t>
            </a: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它给的一切，都要验证过才算数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867600" y="6033600"/>
            <a:ext cx="10562400" cy="54720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7600" y="6033600"/>
            <a:ext cx="32400" cy="54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6000" y="6033600"/>
            <a:ext cx="10148400" cy="54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50" b="1">
                <a:solidFill>
                  <a:srgbClr val="4F46E5"/>
                </a:solidFill>
                <a:latin typeface="微软雅黑"/>
                <a:ea typeface="微软雅黑"/>
              </a:rPr>
              <a:t>要点</a:t>
            </a:r>
            <a:r>
              <a:rPr sz="1400" b="0">
                <a:solidFill>
                  <a:srgbClr val="111827"/>
                </a:solidFill>
                <a:latin typeface="微软雅黑"/>
                <a:ea typeface="微软雅黑"/>
              </a:rPr>
              <a:t>      谢谢观看 · 欢迎上车 —— 会后先把环境装好，我们下次见。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9600" y="6447600"/>
            <a:ext cx="824400" cy="27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9CA3AF"/>
                </a:solidFill>
                <a:latin typeface="微软雅黑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2084</Words>
  <Application>Microsoft Office PowerPoint</Application>
  <PresentationFormat>自定义</PresentationFormat>
  <Paragraphs>330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 L</cp:lastModifiedBy>
  <cp:revision>3</cp:revision>
  <dcterms:created xsi:type="dcterms:W3CDTF">2013-01-27T09:14:16Z</dcterms:created>
  <dcterms:modified xsi:type="dcterms:W3CDTF">2026-10-11T06:08:50Z</dcterms:modified>
  <cp:category/>
</cp:coreProperties>
</file>