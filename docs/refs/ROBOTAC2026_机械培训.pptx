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6"/>
  </p:notesMasterIdLst>
  <p:sldIdLst>
    <p:sldId id="295" r:id="rId3"/>
    <p:sldId id="257" r:id="rId4"/>
    <p:sldId id="259" r:id="rId5"/>
    <p:sldId id="296" r:id="rId6"/>
    <p:sldId id="297" r:id="rId7"/>
    <p:sldId id="262" r:id="rId8"/>
    <p:sldId id="290" r:id="rId9"/>
    <p:sldId id="264" r:id="rId10"/>
    <p:sldId id="265" r:id="rId11"/>
    <p:sldId id="266" r:id="rId12"/>
    <p:sldId id="298" r:id="rId13"/>
    <p:sldId id="275" r:id="rId14"/>
    <p:sldId id="279" r:id="rId15"/>
    <p:sldId id="294" r:id="rId17"/>
    <p:sldId id="293" r:id="rId18"/>
    <p:sldId id="280" r:id="rId19"/>
    <p:sldId id="282" r:id="rId20"/>
    <p:sldId id="283" r:id="rId21"/>
    <p:sldId id="284" r:id="rId22"/>
    <p:sldId id="269" r:id="rId23"/>
    <p:sldId id="287" r:id="rId24"/>
    <p:sldId id="29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8" userDrawn="1">
          <p15:clr>
            <a:srgbClr val="A4A3A4"/>
          </p15:clr>
        </p15:guide>
        <p15:guide id="2" pos="294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varScale="1">
        <p:scale>
          <a:sx n="83" d="100"/>
          <a:sy n="83" d="100"/>
        </p:scale>
        <p:origin x="56" y="200"/>
      </p:cViewPr>
      <p:guideLst>
        <p:guide orient="horz" pos="2188"/>
        <p:guide pos="2943"/>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5.png"/><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7.png"/><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pn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447916673a97bd1f0e53b186d485eed5.png"/>
          <p:cNvPicPr>
            <a:picLocks noChangeAspect="1"/>
          </p:cNvPicPr>
          <p:nvPr/>
        </p:nvPicPr>
        <p:blipFill>
          <a:blip r:embed="rId1"/>
          <a:stretch>
            <a:fillRect/>
          </a:stretch>
        </p:blipFill>
        <p:spPr>
          <a:xfrm>
            <a:off x="0" y="0"/>
            <a:ext cx="12191695" cy="6858000"/>
          </a:xfrm>
          <a:prstGeom prst="rect">
            <a:avLst/>
          </a:prstGeom>
        </p:spPr>
      </p:pic>
      <p:sp>
        <p:nvSpPr>
          <p:cNvPr id="3" name="Rectangle 2"/>
          <p:cNvSpPr/>
          <p:nvPr/>
        </p:nvSpPr>
        <p:spPr>
          <a:xfrm>
            <a:off x="10317175" y="594360"/>
            <a:ext cx="1280160" cy="32004"/>
          </a:xfrm>
          <a:prstGeom prst="rect">
            <a:avLst/>
          </a:prstGeom>
          <a:solidFill>
            <a:srgbClr val="C2571A"/>
          </a:solidFill>
          <a:ln>
            <a:noFill/>
          </a:ln>
        </p:spPr>
        <p:txBody>
          <a:bodyPr rtlCol="0" anchor="ctr"/>
          <a:lstStyle/>
          <a:p>
            <a:pPr algn="ctr"/>
          </a:p>
        </p:txBody>
      </p:sp>
      <p:sp>
        <p:nvSpPr>
          <p:cNvPr id="4" name="TextBox 3"/>
          <p:cNvSpPr txBox="1"/>
          <p:nvPr/>
        </p:nvSpPr>
        <p:spPr>
          <a:xfrm>
            <a:off x="10317175" y="685800"/>
            <a:ext cx="1280160" cy="219456"/>
          </a:xfrm>
          <a:prstGeom prst="rect">
            <a:avLst/>
          </a:prstGeom>
          <a:noFill/>
        </p:spPr>
        <p:txBody>
          <a:bodyPr wrap="square">
            <a:spAutoFit/>
          </a:bodyPr>
          <a:lstStyle/>
          <a:p>
            <a:pPr algn="r"/>
            <a:r>
              <a:rPr sz="1000" b="0">
                <a:solidFill>
                  <a:srgbClr val="C2571A"/>
                </a:solidFill>
                <a:latin typeface="Consolas" panose="020B0609020204030204"/>
                <a:ea typeface="Noto Sans SC" panose="020B0200000000000000" charset="-122"/>
                <a:cs typeface="Noto Sans SC" panose="020B0200000000000000" charset="-122"/>
              </a:rPr>
              <a:t>ROBOTAC 2026</a:t>
            </a:r>
            <a:endParaRPr sz="1000" b="0">
              <a:solidFill>
                <a:srgbClr val="C2571A"/>
              </a:solidFill>
              <a:latin typeface="Consolas" panose="020B0609020204030204"/>
              <a:ea typeface="Noto Sans SC" panose="020B0200000000000000" charset="-122"/>
              <a:cs typeface="Noto Sans SC" panose="020B0200000000000000" charset="-122"/>
            </a:endParaRPr>
          </a:p>
        </p:txBody>
      </p:sp>
      <p:sp>
        <p:nvSpPr>
          <p:cNvPr id="5" name="Rectangle 4"/>
          <p:cNvSpPr/>
          <p:nvPr/>
        </p:nvSpPr>
        <p:spPr>
          <a:xfrm>
            <a:off x="594360" y="1225296"/>
            <a:ext cx="50292" cy="274320"/>
          </a:xfrm>
          <a:prstGeom prst="rect">
            <a:avLst/>
          </a:prstGeom>
          <a:solidFill>
            <a:srgbClr val="C2571A"/>
          </a:solidFill>
          <a:ln>
            <a:noFill/>
          </a:ln>
        </p:spPr>
        <p:txBody>
          <a:bodyPr rtlCol="0" anchor="ctr"/>
          <a:lstStyle/>
          <a:p>
            <a:pPr algn="ctr"/>
          </a:p>
        </p:txBody>
      </p:sp>
      <p:sp>
        <p:nvSpPr>
          <p:cNvPr id="6" name="TextBox 5"/>
          <p:cNvSpPr txBox="1"/>
          <p:nvPr/>
        </p:nvSpPr>
        <p:spPr>
          <a:xfrm>
            <a:off x="777240" y="1225296"/>
            <a:ext cx="6035040" cy="283210"/>
          </a:xfrm>
          <a:prstGeom prst="rect">
            <a:avLst/>
          </a:prstGeom>
          <a:noFill/>
        </p:spPr>
        <p:txBody>
          <a:bodyPr wrap="square">
            <a:spAutoFit/>
          </a:bodyPr>
          <a:lstStyle/>
          <a:p>
            <a:pPr algn="l"/>
            <a:r>
              <a:rPr sz="1250" b="0">
                <a:solidFill>
                  <a:srgbClr val="6B7B8A"/>
                </a:solidFill>
                <a:latin typeface="Consolas" panose="020B0609020204030204"/>
                <a:ea typeface="Noto Sans SC" panose="020B0200000000000000" charset="-122"/>
                <a:cs typeface="Noto Sans SC" panose="020B0200000000000000" charset="-122"/>
              </a:rPr>
              <a:t>机械</a:t>
            </a:r>
            <a:r>
              <a:rPr lang="zh-CN" sz="1250" b="0">
                <a:solidFill>
                  <a:srgbClr val="6B7B8A"/>
                </a:solidFill>
                <a:latin typeface="Consolas" panose="020B0609020204030204"/>
                <a:ea typeface="Noto Sans SC" panose="020B0200000000000000" charset="-122"/>
                <a:cs typeface="Noto Sans SC" panose="020B0200000000000000" charset="-122"/>
              </a:rPr>
              <a:t>培训</a:t>
            </a:r>
            <a:r>
              <a:rPr sz="1250" b="0">
                <a:solidFill>
                  <a:srgbClr val="6B7B8A"/>
                </a:solidFill>
                <a:latin typeface="Consolas" panose="020B0609020204030204"/>
                <a:ea typeface="Noto Sans SC" panose="020B0200000000000000" charset="-122"/>
                <a:cs typeface="Noto Sans SC" panose="020B0200000000000000" charset="-122"/>
              </a:rPr>
              <a:t> </a:t>
            </a:r>
            <a:endParaRPr sz="1250" b="0">
              <a:solidFill>
                <a:srgbClr val="6B7B8A"/>
              </a:solidFill>
              <a:latin typeface="Consolas" panose="020B0609020204030204"/>
              <a:ea typeface="Noto Sans SC" panose="020B0200000000000000" charset="-122"/>
              <a:cs typeface="Noto Sans SC" panose="020B0200000000000000" charset="-122"/>
            </a:endParaRPr>
          </a:p>
        </p:txBody>
      </p:sp>
      <p:sp>
        <p:nvSpPr>
          <p:cNvPr id="7" name="TextBox 6"/>
          <p:cNvSpPr txBox="1"/>
          <p:nvPr/>
        </p:nvSpPr>
        <p:spPr>
          <a:xfrm>
            <a:off x="594360" y="1627632"/>
            <a:ext cx="6675120" cy="891540"/>
          </a:xfrm>
          <a:prstGeom prst="rect">
            <a:avLst/>
          </a:prstGeom>
          <a:noFill/>
        </p:spPr>
        <p:txBody>
          <a:bodyPr wrap="square">
            <a:spAutoFit/>
          </a:bodyPr>
          <a:lstStyle/>
          <a:p>
            <a:pPr algn="l"/>
            <a:r>
              <a:rPr sz="5200" b="1">
                <a:solidFill>
                  <a:srgbClr val="12304F"/>
                </a:solidFill>
                <a:latin typeface="Noto Sans SC" panose="020B0200000000000000" charset="-122"/>
                <a:ea typeface="Noto Sans SC" panose="020B0200000000000000" charset="-122"/>
                <a:cs typeface="Noto Sans SC" panose="020B0200000000000000" charset="-122"/>
              </a:rPr>
              <a:t>机械入门</a:t>
            </a:r>
            <a:endParaRPr sz="520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8" name="TextBox 7"/>
          <p:cNvSpPr txBox="1"/>
          <p:nvPr/>
        </p:nvSpPr>
        <p:spPr>
          <a:xfrm>
            <a:off x="594360" y="2542032"/>
            <a:ext cx="6400800" cy="310896"/>
          </a:xfrm>
          <a:prstGeom prst="rect">
            <a:avLst/>
          </a:prstGeom>
          <a:noFill/>
        </p:spPr>
        <p:txBody>
          <a:bodyPr wrap="square">
            <a:spAutoFit/>
          </a:bodyPr>
          <a:lstStyle/>
          <a:p>
            <a:pPr algn="l"/>
            <a:r>
              <a:rPr sz="1750" b="0">
                <a:solidFill>
                  <a:srgbClr val="6B7B8A"/>
                </a:solidFill>
                <a:latin typeface="Noto Sans SC" panose="020B0200000000000000" charset="-122"/>
                <a:ea typeface="Noto Sans SC" panose="020B0200000000000000" charset="-122"/>
                <a:cs typeface="Noto Sans SC" panose="020B0200000000000000" charset="-122"/>
              </a:rPr>
              <a:t>从 Fusion 360 建模到 Bambu Studio 打印的完整链路</a:t>
            </a:r>
            <a:endParaRPr sz="17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9" name="Rectangle 8"/>
          <p:cNvSpPr/>
          <p:nvPr/>
        </p:nvSpPr>
        <p:spPr>
          <a:xfrm>
            <a:off x="594360" y="3127248"/>
            <a:ext cx="1188720" cy="45720"/>
          </a:xfrm>
          <a:prstGeom prst="rect">
            <a:avLst/>
          </a:prstGeom>
          <a:solidFill>
            <a:srgbClr val="C2571A"/>
          </a:solidFill>
          <a:ln>
            <a:noFill/>
          </a:ln>
        </p:spPr>
        <p:txBody>
          <a:bodyPr rtlCol="0" anchor="ctr"/>
          <a:lstStyle/>
          <a:p>
            <a:pPr algn="ctr"/>
          </a:p>
        </p:txBody>
      </p:sp>
      <p:sp>
        <p:nvSpPr>
          <p:cNvPr id="10" name="Rounded Rectangle 9"/>
          <p:cNvSpPr/>
          <p:nvPr/>
        </p:nvSpPr>
        <p:spPr>
          <a:xfrm>
            <a:off x="594360" y="3401568"/>
            <a:ext cx="6263640" cy="1024128"/>
          </a:xfrm>
          <a:prstGeom prst="roundRect">
            <a:avLst/>
          </a:prstGeom>
          <a:solidFill>
            <a:srgbClr val="FFFFFF"/>
          </a:solidFill>
          <a:ln w="12700">
            <a:solidFill>
              <a:srgbClr val="C9D3DC"/>
            </a:solidFill>
          </a:ln>
        </p:spPr>
        <p:txBody>
          <a:bodyPr rtlCol="0" anchor="ctr"/>
          <a:lstStyle/>
          <a:p>
            <a:pPr algn="ctr"/>
          </a:p>
        </p:txBody>
      </p:sp>
      <p:sp>
        <p:nvSpPr>
          <p:cNvPr id="11" name="Rectangle 10"/>
          <p:cNvSpPr/>
          <p:nvPr/>
        </p:nvSpPr>
        <p:spPr>
          <a:xfrm>
            <a:off x="594360" y="3401568"/>
            <a:ext cx="50292" cy="1024128"/>
          </a:xfrm>
          <a:prstGeom prst="rect">
            <a:avLst/>
          </a:prstGeom>
          <a:solidFill>
            <a:srgbClr val="C2571A"/>
          </a:solidFill>
          <a:ln>
            <a:noFill/>
          </a:ln>
        </p:spPr>
        <p:txBody>
          <a:bodyPr rtlCol="0" anchor="ctr"/>
          <a:lstStyle/>
          <a:p>
            <a:pPr algn="ctr"/>
          </a:p>
        </p:txBody>
      </p:sp>
      <p:sp>
        <p:nvSpPr>
          <p:cNvPr id="12" name="TextBox 11"/>
          <p:cNvSpPr txBox="1"/>
          <p:nvPr/>
        </p:nvSpPr>
        <p:spPr>
          <a:xfrm>
            <a:off x="850392" y="3529584"/>
            <a:ext cx="5760720" cy="777240"/>
          </a:xfrm>
          <a:prstGeom prst="rect">
            <a:avLst/>
          </a:prstGeom>
          <a:noFill/>
        </p:spPr>
        <p:txBody>
          <a:bodyPr wrap="square">
            <a:spAutoFit/>
          </a:bodyPr>
          <a:lstStyle/>
          <a:p>
            <a:pPr algn="l">
              <a:spcBef>
                <a:spcPts val="400"/>
              </a:spcBef>
              <a:spcAft>
                <a:spcPts val="400"/>
              </a:spcAft>
            </a:pPr>
            <a:r>
              <a:rPr sz="1550" b="0">
                <a:solidFill>
                  <a:srgbClr val="23384C"/>
                </a:solidFill>
                <a:latin typeface="Noto Sans SC" panose="020B0200000000000000" charset="-122"/>
                <a:ea typeface="Noto Sans SC" panose="020B0200000000000000" charset="-122"/>
                <a:cs typeface="Noto Sans SC" panose="020B0200000000000000" charset="-122"/>
              </a:rPr>
              <a:t>结课时，每人手里有一件</a:t>
            </a:r>
            <a:endParaRPr sz="1550" b="0">
              <a:solidFill>
                <a:srgbClr val="23384C"/>
              </a:solidFill>
              <a:latin typeface="Noto Sans SC" panose="020B0200000000000000" charset="-122"/>
              <a:ea typeface="Noto Sans SC" panose="020B0200000000000000" charset="-122"/>
              <a:cs typeface="Noto Sans SC" panose="020B0200000000000000" charset="-122"/>
            </a:endParaRPr>
          </a:p>
          <a:p>
            <a:pPr algn="l">
              <a:spcBef>
                <a:spcPts val="400"/>
              </a:spcBef>
              <a:spcAft>
                <a:spcPts val="400"/>
              </a:spcAft>
            </a:pPr>
            <a:r>
              <a:rPr sz="1550" b="0">
                <a:solidFill>
                  <a:srgbClr val="23384C"/>
                </a:solidFill>
                <a:latin typeface="Noto Sans SC" panose="020B0200000000000000" charset="-122"/>
                <a:ea typeface="Noto Sans SC" panose="020B0200000000000000" charset="-122"/>
                <a:cs typeface="Noto Sans SC" panose="020B0200000000000000" charset="-122"/>
              </a:rPr>
              <a:t>自己设计、自己打印、装上车能跑的零件。</a:t>
            </a:r>
            <a:endParaRPr sz="15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14" name="Rectangle 13"/>
          <p:cNvSpPr/>
          <p:nvPr/>
        </p:nvSpPr>
        <p:spPr>
          <a:xfrm>
            <a:off x="594360" y="4937760"/>
            <a:ext cx="2011680" cy="512064"/>
          </a:xfrm>
          <a:prstGeom prst="rect">
            <a:avLst/>
          </a:prstGeom>
          <a:solidFill>
            <a:srgbClr val="FFFFFF"/>
          </a:solidFill>
          <a:ln w="12700">
            <a:solidFill>
              <a:srgbClr val="C9D3DC"/>
            </a:solidFill>
          </a:ln>
        </p:spPr>
        <p:txBody>
          <a:bodyPr rtlCol="0" anchor="ctr"/>
          <a:lstStyle/>
          <a:p>
            <a:pPr algn="ctr"/>
          </a:p>
        </p:txBody>
      </p:sp>
      <p:sp>
        <p:nvSpPr>
          <p:cNvPr id="15" name="Rectangle 14"/>
          <p:cNvSpPr/>
          <p:nvPr/>
        </p:nvSpPr>
        <p:spPr>
          <a:xfrm>
            <a:off x="594360" y="4937760"/>
            <a:ext cx="45720" cy="512064"/>
          </a:xfrm>
          <a:prstGeom prst="rect">
            <a:avLst/>
          </a:prstGeom>
          <a:solidFill>
            <a:srgbClr val="C2571A"/>
          </a:solidFill>
          <a:ln>
            <a:noFill/>
          </a:ln>
        </p:spPr>
        <p:txBody>
          <a:bodyPr rtlCol="0" anchor="ctr"/>
          <a:lstStyle/>
          <a:p>
            <a:pPr algn="ctr"/>
          </a:p>
        </p:txBody>
      </p:sp>
      <p:sp>
        <p:nvSpPr>
          <p:cNvPr id="16" name="TextBox 15"/>
          <p:cNvSpPr txBox="1"/>
          <p:nvPr/>
        </p:nvSpPr>
        <p:spPr>
          <a:xfrm>
            <a:off x="740664" y="4937760"/>
            <a:ext cx="310896" cy="512064"/>
          </a:xfrm>
          <a:prstGeom prst="rect">
            <a:avLst/>
          </a:prstGeom>
          <a:noFill/>
        </p:spPr>
        <p:txBody>
          <a:bodyPr wrap="square" anchor="ctr">
            <a:spAutoFit/>
          </a:bodyPr>
          <a:lstStyle/>
          <a:p>
            <a:pPr algn="l"/>
            <a:r>
              <a:rPr sz="1300" b="1">
                <a:solidFill>
                  <a:srgbClr val="C2571A"/>
                </a:solidFill>
                <a:latin typeface="Noto Sans SC" panose="020B0200000000000000" charset="-122"/>
                <a:ea typeface="Noto Sans SC" panose="020B0200000000000000" charset="-122"/>
                <a:cs typeface="Noto Sans SC" panose="020B0200000000000000" charset="-122"/>
              </a:rPr>
              <a:t>①</a:t>
            </a:r>
            <a:endParaRPr sz="1300" b="1">
              <a:solidFill>
                <a:srgbClr val="C2571A"/>
              </a:solidFill>
              <a:latin typeface="Noto Sans SC" panose="020B0200000000000000" charset="-122"/>
              <a:ea typeface="Noto Sans SC" panose="020B0200000000000000" charset="-122"/>
              <a:cs typeface="Noto Sans SC" panose="020B0200000000000000" charset="-122"/>
            </a:endParaRPr>
          </a:p>
        </p:txBody>
      </p:sp>
      <p:sp>
        <p:nvSpPr>
          <p:cNvPr id="17" name="TextBox 16"/>
          <p:cNvSpPr txBox="1"/>
          <p:nvPr/>
        </p:nvSpPr>
        <p:spPr>
          <a:xfrm>
            <a:off x="1051560" y="5048060"/>
            <a:ext cx="1481328" cy="291465"/>
          </a:xfrm>
          <a:prstGeom prst="rect">
            <a:avLst/>
          </a:prstGeom>
          <a:noFill/>
        </p:spPr>
        <p:txBody>
          <a:bodyPr wrap="square" anchor="ctr">
            <a:spAutoFit/>
          </a:bodyPr>
          <a:lstStyle/>
          <a:p>
            <a:pPr algn="l"/>
            <a:r>
              <a:rPr lang="zh-CN" sz="1300" b="0">
                <a:solidFill>
                  <a:srgbClr val="23384C"/>
                </a:solidFill>
                <a:latin typeface="Noto Sans SC" panose="020B0200000000000000" charset="-122"/>
                <a:ea typeface="Noto Sans SC" panose="020B0200000000000000" charset="-122"/>
                <a:cs typeface="Noto Sans SC" panose="020B0200000000000000" charset="-122"/>
              </a:rPr>
              <a:t>科学</a:t>
            </a:r>
            <a:r>
              <a:rPr lang="zh-CN" sz="1300" b="0">
                <a:solidFill>
                  <a:srgbClr val="23384C"/>
                </a:solidFill>
                <a:latin typeface="Noto Sans SC" panose="020B0200000000000000" charset="-122"/>
                <a:ea typeface="Noto Sans SC" panose="020B0200000000000000" charset="-122"/>
                <a:cs typeface="Noto Sans SC" panose="020B0200000000000000" charset="-122"/>
              </a:rPr>
              <a:t>画图</a:t>
            </a:r>
            <a:endParaRPr lang="zh-CN" sz="130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18" name="Rectangle 17"/>
          <p:cNvSpPr/>
          <p:nvPr/>
        </p:nvSpPr>
        <p:spPr>
          <a:xfrm>
            <a:off x="2720340" y="4937760"/>
            <a:ext cx="2011680" cy="512064"/>
          </a:xfrm>
          <a:prstGeom prst="rect">
            <a:avLst/>
          </a:prstGeom>
          <a:solidFill>
            <a:srgbClr val="FFFFFF"/>
          </a:solidFill>
          <a:ln w="12700">
            <a:solidFill>
              <a:srgbClr val="C9D3DC"/>
            </a:solidFill>
          </a:ln>
        </p:spPr>
        <p:txBody>
          <a:bodyPr rtlCol="0" anchor="ctr"/>
          <a:lstStyle/>
          <a:p>
            <a:pPr algn="ctr"/>
          </a:p>
        </p:txBody>
      </p:sp>
      <p:sp>
        <p:nvSpPr>
          <p:cNvPr id="19" name="Rectangle 18"/>
          <p:cNvSpPr/>
          <p:nvPr/>
        </p:nvSpPr>
        <p:spPr>
          <a:xfrm>
            <a:off x="2720340" y="4937760"/>
            <a:ext cx="45720" cy="512064"/>
          </a:xfrm>
          <a:prstGeom prst="rect">
            <a:avLst/>
          </a:prstGeom>
          <a:solidFill>
            <a:srgbClr val="0E7C74"/>
          </a:solidFill>
          <a:ln>
            <a:noFill/>
          </a:ln>
        </p:spPr>
        <p:txBody>
          <a:bodyPr rtlCol="0" anchor="ctr"/>
          <a:lstStyle/>
          <a:p>
            <a:pPr algn="ctr"/>
          </a:p>
        </p:txBody>
      </p:sp>
      <p:sp>
        <p:nvSpPr>
          <p:cNvPr id="20" name="TextBox 19"/>
          <p:cNvSpPr txBox="1"/>
          <p:nvPr/>
        </p:nvSpPr>
        <p:spPr>
          <a:xfrm>
            <a:off x="2866644" y="4937760"/>
            <a:ext cx="310896" cy="512064"/>
          </a:xfrm>
          <a:prstGeom prst="rect">
            <a:avLst/>
          </a:prstGeom>
          <a:noFill/>
        </p:spPr>
        <p:txBody>
          <a:bodyPr wrap="square" anchor="ctr">
            <a:spAutoFit/>
          </a:bodyPr>
          <a:lstStyle/>
          <a:p>
            <a:pPr algn="l"/>
            <a:r>
              <a:rPr sz="1300" b="1">
                <a:solidFill>
                  <a:srgbClr val="0E7C74"/>
                </a:solidFill>
                <a:latin typeface="Noto Sans SC" panose="020B0200000000000000" charset="-122"/>
                <a:ea typeface="Noto Sans SC" panose="020B0200000000000000" charset="-122"/>
                <a:cs typeface="Noto Sans SC" panose="020B0200000000000000" charset="-122"/>
              </a:rPr>
              <a:t>②</a:t>
            </a:r>
            <a:endParaRPr sz="1300" b="1">
              <a:solidFill>
                <a:srgbClr val="0E7C74"/>
              </a:solidFill>
              <a:latin typeface="Noto Sans SC" panose="020B0200000000000000" charset="-122"/>
              <a:ea typeface="Noto Sans SC" panose="020B0200000000000000" charset="-122"/>
              <a:cs typeface="Noto Sans SC" panose="020B0200000000000000" charset="-122"/>
            </a:endParaRPr>
          </a:p>
        </p:txBody>
      </p:sp>
      <p:sp>
        <p:nvSpPr>
          <p:cNvPr id="21" name="TextBox 20"/>
          <p:cNvSpPr txBox="1"/>
          <p:nvPr/>
        </p:nvSpPr>
        <p:spPr>
          <a:xfrm>
            <a:off x="3177540" y="5048060"/>
            <a:ext cx="1481328" cy="291465"/>
          </a:xfrm>
          <a:prstGeom prst="rect">
            <a:avLst/>
          </a:prstGeom>
          <a:noFill/>
        </p:spPr>
        <p:txBody>
          <a:bodyPr wrap="square" anchor="ctr">
            <a:spAutoFit/>
          </a:bodyPr>
          <a:lstStyle/>
          <a:p>
            <a:pPr algn="l"/>
            <a:r>
              <a:rPr lang="zh-CN" sz="1300" b="0">
                <a:solidFill>
                  <a:srgbClr val="23384C"/>
                </a:solidFill>
                <a:latin typeface="Noto Sans SC" panose="020B0200000000000000" charset="-122"/>
                <a:ea typeface="Noto Sans SC" panose="020B0200000000000000" charset="-122"/>
                <a:cs typeface="Noto Sans SC" panose="020B0200000000000000" charset="-122"/>
              </a:rPr>
              <a:t>结构</a:t>
            </a:r>
            <a:r>
              <a:rPr lang="zh-CN" sz="1300" b="0">
                <a:solidFill>
                  <a:srgbClr val="23384C"/>
                </a:solidFill>
                <a:latin typeface="Noto Sans SC" panose="020B0200000000000000" charset="-122"/>
                <a:ea typeface="Noto Sans SC" panose="020B0200000000000000" charset="-122"/>
                <a:cs typeface="Noto Sans SC" panose="020B0200000000000000" charset="-122"/>
              </a:rPr>
              <a:t>设计</a:t>
            </a:r>
            <a:endParaRPr lang="zh-CN" sz="130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2" name="Rectangle 21"/>
          <p:cNvSpPr/>
          <p:nvPr/>
        </p:nvSpPr>
        <p:spPr>
          <a:xfrm>
            <a:off x="4846320" y="4937760"/>
            <a:ext cx="2011680" cy="512064"/>
          </a:xfrm>
          <a:prstGeom prst="rect">
            <a:avLst/>
          </a:prstGeom>
          <a:solidFill>
            <a:srgbClr val="FFFFFF"/>
          </a:solidFill>
          <a:ln w="12700">
            <a:solidFill>
              <a:srgbClr val="C9D3DC"/>
            </a:solidFill>
          </a:ln>
        </p:spPr>
        <p:txBody>
          <a:bodyPr rtlCol="0" anchor="ctr"/>
          <a:lstStyle/>
          <a:p>
            <a:pPr algn="ctr"/>
          </a:p>
        </p:txBody>
      </p:sp>
      <p:sp>
        <p:nvSpPr>
          <p:cNvPr id="23" name="Rectangle 22"/>
          <p:cNvSpPr/>
          <p:nvPr/>
        </p:nvSpPr>
        <p:spPr>
          <a:xfrm>
            <a:off x="4846320" y="4937760"/>
            <a:ext cx="45720" cy="512064"/>
          </a:xfrm>
          <a:prstGeom prst="rect">
            <a:avLst/>
          </a:prstGeom>
          <a:solidFill>
            <a:srgbClr val="1D5FA8"/>
          </a:solidFill>
          <a:ln>
            <a:noFill/>
          </a:ln>
        </p:spPr>
        <p:txBody>
          <a:bodyPr rtlCol="0" anchor="ctr"/>
          <a:lstStyle/>
          <a:p>
            <a:pPr algn="ctr"/>
          </a:p>
        </p:txBody>
      </p:sp>
      <p:sp>
        <p:nvSpPr>
          <p:cNvPr id="24" name="TextBox 23"/>
          <p:cNvSpPr txBox="1"/>
          <p:nvPr/>
        </p:nvSpPr>
        <p:spPr>
          <a:xfrm>
            <a:off x="4992624" y="4937760"/>
            <a:ext cx="310896" cy="512064"/>
          </a:xfrm>
          <a:prstGeom prst="rect">
            <a:avLst/>
          </a:prstGeom>
          <a:noFill/>
        </p:spPr>
        <p:txBody>
          <a:bodyPr wrap="square" anchor="ctr">
            <a:spAutoFit/>
          </a:bodyPr>
          <a:lstStyle/>
          <a:p>
            <a:pPr algn="l"/>
            <a:r>
              <a:rPr sz="1300" b="1">
                <a:solidFill>
                  <a:srgbClr val="1D5FA8"/>
                </a:solidFill>
                <a:latin typeface="Noto Sans SC" panose="020B0200000000000000" charset="-122"/>
                <a:ea typeface="Noto Sans SC" panose="020B0200000000000000" charset="-122"/>
                <a:cs typeface="Noto Sans SC" panose="020B0200000000000000" charset="-122"/>
              </a:rPr>
              <a:t>③</a:t>
            </a:r>
            <a:endParaRPr sz="1300" b="1">
              <a:solidFill>
                <a:srgbClr val="1D5FA8"/>
              </a:solidFill>
              <a:latin typeface="Noto Sans SC" panose="020B0200000000000000" charset="-122"/>
              <a:ea typeface="Noto Sans SC" panose="020B0200000000000000" charset="-122"/>
              <a:cs typeface="Noto Sans SC" panose="020B0200000000000000" charset="-122"/>
            </a:endParaRPr>
          </a:p>
        </p:txBody>
      </p:sp>
      <p:sp>
        <p:nvSpPr>
          <p:cNvPr id="25" name="TextBox 24"/>
          <p:cNvSpPr txBox="1"/>
          <p:nvPr/>
        </p:nvSpPr>
        <p:spPr>
          <a:xfrm>
            <a:off x="5303520" y="5048060"/>
            <a:ext cx="1481328" cy="291465"/>
          </a:xfrm>
          <a:prstGeom prst="rect">
            <a:avLst/>
          </a:prstGeom>
          <a:noFill/>
        </p:spPr>
        <p:txBody>
          <a:bodyPr wrap="square" anchor="ctr">
            <a:spAutoFit/>
          </a:bodyPr>
          <a:lstStyle/>
          <a:p>
            <a:pPr algn="l"/>
            <a:r>
              <a:rPr lang="zh-CN" sz="1300" b="0">
                <a:solidFill>
                  <a:srgbClr val="23384C"/>
                </a:solidFill>
                <a:latin typeface="Noto Sans SC" panose="020B0200000000000000" charset="-122"/>
                <a:ea typeface="Noto Sans SC" panose="020B0200000000000000" charset="-122"/>
                <a:cs typeface="Noto Sans SC" panose="020B0200000000000000" charset="-122"/>
              </a:rPr>
              <a:t>生产</a:t>
            </a:r>
            <a:r>
              <a:rPr lang="zh-CN" sz="1300" b="0">
                <a:solidFill>
                  <a:srgbClr val="23384C"/>
                </a:solidFill>
                <a:latin typeface="Noto Sans SC" panose="020B0200000000000000" charset="-122"/>
                <a:ea typeface="Noto Sans SC" panose="020B0200000000000000" charset="-122"/>
                <a:cs typeface="Noto Sans SC" panose="020B0200000000000000" charset="-122"/>
              </a:rPr>
              <a:t>装配</a:t>
            </a:r>
            <a:endParaRPr lang="zh-CN" sz="130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6" name="TextBox 25"/>
          <p:cNvSpPr txBox="1"/>
          <p:nvPr/>
        </p:nvSpPr>
        <p:spPr>
          <a:xfrm>
            <a:off x="594360" y="5961888"/>
            <a:ext cx="6583680" cy="267970"/>
          </a:xfrm>
          <a:prstGeom prst="rect">
            <a:avLst/>
          </a:prstGeom>
          <a:noFill/>
        </p:spPr>
        <p:txBody>
          <a:bodyPr wrap="square">
            <a:spAutoFit/>
          </a:bodyPr>
          <a:lstStyle/>
          <a:p>
            <a:pPr algn="l"/>
            <a:r>
              <a:rPr sz="1150" b="0">
                <a:solidFill>
                  <a:srgbClr val="6B7B8A"/>
                </a:solidFill>
                <a:latin typeface="Consolas" panose="020B0609020204030204"/>
                <a:ea typeface="Noto Sans SC" panose="020B0200000000000000" charset="-122"/>
                <a:cs typeface="Noto Sans SC" panose="020B0200000000000000" charset="-122"/>
              </a:rPr>
              <a:t>讲师：机械组  ｜  面向：</a:t>
            </a:r>
            <a:r>
              <a:rPr lang="zh-CN" sz="1150" b="0">
                <a:solidFill>
                  <a:srgbClr val="6B7B8A"/>
                </a:solidFill>
                <a:latin typeface="Consolas" panose="020B0609020204030204"/>
                <a:ea typeface="Noto Sans SC" panose="020B0200000000000000" charset="-122"/>
                <a:cs typeface="Noto Sans SC" panose="020B0200000000000000" charset="-122"/>
              </a:rPr>
              <a:t>新生</a:t>
            </a:r>
            <a:r>
              <a:rPr sz="1150" b="0">
                <a:solidFill>
                  <a:srgbClr val="6B7B8A"/>
                </a:solidFill>
                <a:latin typeface="Consolas" panose="020B0609020204030204"/>
                <a:ea typeface="Noto Sans SC" panose="020B0200000000000000" charset="-122"/>
                <a:cs typeface="Noto Sans SC" panose="020B0200000000000000" charset="-122"/>
              </a:rPr>
              <a:t>队员  ｜  2026-09</a:t>
            </a:r>
            <a:endParaRPr sz="1150" b="0">
              <a:solidFill>
                <a:srgbClr val="6B7B8A"/>
              </a:solidFill>
              <a:latin typeface="Consolas" panose="020B0609020204030204"/>
              <a:ea typeface="Noto Sans SC" panose="020B0200000000000000" charset="-122"/>
              <a:cs typeface="Noto Sans SC" panose="020B0200000000000000" charset="-122"/>
            </a:endParaRPr>
          </a:p>
        </p:txBody>
      </p:sp>
      <p:sp>
        <p:nvSpPr>
          <p:cNvPr id="27" name="Rectangle 26"/>
          <p:cNvSpPr/>
          <p:nvPr/>
        </p:nvSpPr>
        <p:spPr>
          <a:xfrm>
            <a:off x="7296912" y="1051560"/>
            <a:ext cx="4297680" cy="4480560"/>
          </a:xfrm>
          <a:prstGeom prst="rect">
            <a:avLst/>
          </a:prstGeom>
          <a:solidFill>
            <a:srgbClr val="FFFFFF"/>
          </a:solidFill>
          <a:ln w="12700">
            <a:solidFill>
              <a:srgbClr val="C9D3DC"/>
            </a:solidFill>
          </a:ln>
        </p:spPr>
        <p:txBody>
          <a:bodyPr rtlCol="0" anchor="ctr"/>
          <a:lstStyle/>
          <a:p>
            <a:pPr algn="ctr"/>
          </a:p>
        </p:txBody>
      </p:sp>
      <p:sp>
        <p:nvSpPr>
          <p:cNvPr id="28" name="Rectangle 27"/>
          <p:cNvSpPr/>
          <p:nvPr/>
        </p:nvSpPr>
        <p:spPr>
          <a:xfrm>
            <a:off x="7443216" y="1188720"/>
            <a:ext cx="4005072" cy="3520440"/>
          </a:xfrm>
          <a:prstGeom prst="rect">
            <a:avLst/>
          </a:prstGeom>
          <a:solidFill>
            <a:srgbClr val="FBFAF6"/>
          </a:solidFill>
          <a:ln w="12700">
            <a:solidFill>
              <a:srgbClr val="9FB0BF"/>
            </a:solidFill>
            <a:prstDash val="dash"/>
          </a:ln>
        </p:spPr>
        <p:txBody>
          <a:bodyPr rtlCol="0" anchor="ctr"/>
          <a:lstStyle/>
          <a:p>
            <a:pPr algn="ctr"/>
          </a:p>
        </p:txBody>
      </p:sp>
      <p:sp>
        <p:nvSpPr>
          <p:cNvPr id="29" name="TextBox 28"/>
          <p:cNvSpPr txBox="1"/>
          <p:nvPr/>
        </p:nvSpPr>
        <p:spPr>
          <a:xfrm>
            <a:off x="7552944" y="1261872"/>
            <a:ext cx="3785615" cy="219456"/>
          </a:xfrm>
          <a:prstGeom prst="rect">
            <a:avLst/>
          </a:prstGeom>
          <a:noFill/>
        </p:spPr>
        <p:txBody>
          <a:bodyPr wrap="square">
            <a:spAutoFit/>
          </a:bodyPr>
          <a:lstStyle/>
          <a:p>
            <a:pPr algn="l"/>
            <a:r>
              <a:rPr sz="950" b="0">
                <a:solidFill>
                  <a:srgbClr val="6B7B8A"/>
                </a:solidFill>
                <a:latin typeface="Consolas" panose="020B0609020204030204"/>
                <a:ea typeface="Noto Sans SC" panose="020B0200000000000000" charset="-122"/>
                <a:cs typeface="Noto Sans SC" panose="020B0200000000000000" charset="-122"/>
              </a:rPr>
              <a:t>图位 P01-1</a:t>
            </a:r>
            <a:endParaRPr sz="950" b="0">
              <a:solidFill>
                <a:srgbClr val="6B7B8A"/>
              </a:solidFill>
              <a:latin typeface="Consolas" panose="020B0609020204030204"/>
              <a:ea typeface="Noto Sans SC" panose="020B0200000000000000" charset="-122"/>
              <a:cs typeface="Noto Sans SC" panose="020B0200000000000000" charset="-122"/>
            </a:endParaRPr>
          </a:p>
        </p:txBody>
      </p:sp>
      <p:sp>
        <p:nvSpPr>
          <p:cNvPr id="30" name="Rectangle 29"/>
          <p:cNvSpPr/>
          <p:nvPr/>
        </p:nvSpPr>
        <p:spPr>
          <a:xfrm>
            <a:off x="9171432" y="2638044"/>
            <a:ext cx="548640" cy="402336"/>
          </a:xfrm>
          <a:prstGeom prst="rect">
            <a:avLst/>
          </a:prstGeom>
          <a:solidFill>
            <a:srgbClr val="FFFFFF"/>
          </a:solidFill>
          <a:ln w="12700">
            <a:solidFill>
              <a:srgbClr val="9FB0BF"/>
            </a:solidFill>
          </a:ln>
        </p:spPr>
        <p:txBody>
          <a:bodyPr rtlCol="0" anchor="ctr"/>
          <a:lstStyle/>
          <a:p>
            <a:pPr algn="ctr"/>
          </a:p>
        </p:txBody>
      </p:sp>
      <p:sp>
        <p:nvSpPr>
          <p:cNvPr id="31" name="Isosceles Triangle 30"/>
          <p:cNvSpPr/>
          <p:nvPr/>
        </p:nvSpPr>
        <p:spPr>
          <a:xfrm>
            <a:off x="9262872" y="2802636"/>
            <a:ext cx="146304" cy="128016"/>
          </a:xfrm>
          <a:prstGeom prst="triangle">
            <a:avLst/>
          </a:prstGeom>
          <a:solidFill>
            <a:srgbClr val="9FB0BF"/>
          </a:solidFill>
          <a:ln>
            <a:noFill/>
          </a:ln>
        </p:spPr>
        <p:txBody>
          <a:bodyPr rtlCol="0" anchor="ctr"/>
          <a:lstStyle/>
          <a:p>
            <a:pPr algn="ctr"/>
          </a:p>
        </p:txBody>
      </p:sp>
      <p:sp>
        <p:nvSpPr>
          <p:cNvPr id="32" name="Isosceles Triangle 31"/>
          <p:cNvSpPr/>
          <p:nvPr/>
        </p:nvSpPr>
        <p:spPr>
          <a:xfrm>
            <a:off x="9427463" y="2747772"/>
            <a:ext cx="182880" cy="164592"/>
          </a:xfrm>
          <a:prstGeom prst="triangle">
            <a:avLst/>
          </a:prstGeom>
          <a:solidFill>
            <a:srgbClr val="9FB0BF"/>
          </a:solidFill>
          <a:ln>
            <a:noFill/>
          </a:ln>
        </p:spPr>
        <p:txBody>
          <a:bodyPr rtlCol="0" anchor="ctr"/>
          <a:lstStyle/>
          <a:p>
            <a:pPr algn="ctr"/>
          </a:p>
        </p:txBody>
      </p:sp>
      <p:sp>
        <p:nvSpPr>
          <p:cNvPr id="33" name="Oval 32"/>
          <p:cNvSpPr/>
          <p:nvPr/>
        </p:nvSpPr>
        <p:spPr>
          <a:xfrm>
            <a:off x="9555480" y="2711196"/>
            <a:ext cx="91440" cy="91440"/>
          </a:xfrm>
          <a:prstGeom prst="ellipse">
            <a:avLst/>
          </a:prstGeom>
          <a:solidFill>
            <a:srgbClr val="9FB0BF"/>
          </a:solidFill>
          <a:ln>
            <a:noFill/>
          </a:ln>
        </p:spPr>
        <p:txBody>
          <a:bodyPr rtlCol="0" anchor="ctr"/>
          <a:lstStyle/>
          <a:p>
            <a:pPr algn="ctr"/>
          </a:p>
        </p:txBody>
      </p:sp>
      <p:sp>
        <p:nvSpPr>
          <p:cNvPr id="34" name="TextBox 33"/>
          <p:cNvSpPr txBox="1"/>
          <p:nvPr/>
        </p:nvSpPr>
        <p:spPr>
          <a:xfrm>
            <a:off x="7571232" y="4233672"/>
            <a:ext cx="3749039" cy="237744"/>
          </a:xfrm>
          <a:prstGeom prst="rect">
            <a:avLst/>
          </a:prstGeom>
          <a:noFill/>
        </p:spPr>
        <p:txBody>
          <a:bodyPr wrap="square">
            <a:spAutoFit/>
          </a:bodyPr>
          <a:lstStyle/>
          <a:p>
            <a:pPr algn="ctr"/>
            <a:r>
              <a:rPr sz="1050" b="0">
                <a:solidFill>
                  <a:srgbClr val="23384C"/>
                </a:solidFill>
                <a:latin typeface="Noto Sans SC" panose="020B0200000000000000" charset="-122"/>
                <a:ea typeface="Noto Sans SC" panose="020B0200000000000000" charset="-122"/>
                <a:cs typeface="Noto Sans SC" panose="020B0200000000000000" charset="-122"/>
              </a:rPr>
              <a:t>机器人整车渲染图 / 实拍照片</a:t>
            </a:r>
            <a:endParaRPr sz="10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35" name="TextBox 34"/>
          <p:cNvSpPr txBox="1"/>
          <p:nvPr/>
        </p:nvSpPr>
        <p:spPr>
          <a:xfrm>
            <a:off x="7571232" y="4453128"/>
            <a:ext cx="3749039" cy="237744"/>
          </a:xfrm>
          <a:prstGeom prst="rect">
            <a:avLst/>
          </a:prstGeom>
          <a:noFill/>
        </p:spPr>
        <p:txBody>
          <a:bodyPr wrap="square">
            <a:spAutoFit/>
          </a:bodyPr>
          <a:lstStyle/>
          <a:p>
            <a:pPr algn="ctr"/>
            <a:r>
              <a:rPr sz="950" b="0">
                <a:solidFill>
                  <a:srgbClr val="6B7B8A"/>
                </a:solidFill>
                <a:latin typeface="Noto Sans SC" panose="020B0200000000000000" charset="-122"/>
                <a:ea typeface="Noto Sans SC" panose="020B0200000000000000" charset="-122"/>
                <a:cs typeface="Noto Sans SC" panose="020B0200000000000000" charset="-122"/>
              </a:rPr>
              <a:t>建议：透明底 PNG，或底盘 + 机械臂等轴测视图</a:t>
            </a:r>
            <a:endParaRPr sz="9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36" name="Rectangle 35"/>
          <p:cNvSpPr/>
          <p:nvPr/>
        </p:nvSpPr>
        <p:spPr>
          <a:xfrm>
            <a:off x="7296912" y="5586984"/>
            <a:ext cx="4297680" cy="384048"/>
          </a:xfrm>
          <a:prstGeom prst="rect">
            <a:avLst/>
          </a:prstGeom>
          <a:solidFill>
            <a:srgbClr val="FFFFFF"/>
          </a:solidFill>
          <a:ln w="12700">
            <a:solidFill>
              <a:srgbClr val="C9D3DC"/>
            </a:solidFill>
          </a:ln>
        </p:spPr>
        <p:txBody>
          <a:bodyPr rtlCol="0" anchor="ctr"/>
          <a:lstStyle/>
          <a:p>
            <a:pPr algn="ctr"/>
          </a:p>
        </p:txBody>
      </p:sp>
      <p:sp>
        <p:nvSpPr>
          <p:cNvPr id="37" name="TextBox 36"/>
          <p:cNvSpPr txBox="1"/>
          <p:nvPr/>
        </p:nvSpPr>
        <p:spPr>
          <a:xfrm>
            <a:off x="7406640" y="5614416"/>
            <a:ext cx="1249680" cy="164592"/>
          </a:xfrm>
          <a:prstGeom prst="rect">
            <a:avLst/>
          </a:prstGeom>
          <a:noFill/>
        </p:spPr>
        <p:txBody>
          <a:bodyPr wrap="square">
            <a:spAutoFit/>
          </a:bodyPr>
          <a:lstStyle/>
          <a:p>
            <a:pPr algn="l"/>
            <a:r>
              <a:rPr sz="850" b="0">
                <a:solidFill>
                  <a:srgbClr val="6B7B8A"/>
                </a:solidFill>
                <a:latin typeface="Consolas" panose="020B0609020204030204"/>
                <a:ea typeface="Noto Sans SC" panose="020B0200000000000000" charset="-122"/>
                <a:cs typeface="Noto Sans SC" panose="020B0200000000000000" charset="-122"/>
              </a:rPr>
              <a:t>DRAWING NO.</a:t>
            </a:r>
            <a:endParaRPr sz="850" b="0">
              <a:solidFill>
                <a:srgbClr val="6B7B8A"/>
              </a:solidFill>
              <a:latin typeface="Consolas" panose="020B0609020204030204"/>
              <a:ea typeface="Noto Sans SC" panose="020B0200000000000000" charset="-122"/>
              <a:cs typeface="Noto Sans SC" panose="020B0200000000000000" charset="-122"/>
            </a:endParaRPr>
          </a:p>
        </p:txBody>
      </p:sp>
      <p:sp>
        <p:nvSpPr>
          <p:cNvPr id="38" name="TextBox 37"/>
          <p:cNvSpPr txBox="1"/>
          <p:nvPr/>
        </p:nvSpPr>
        <p:spPr>
          <a:xfrm>
            <a:off x="7406640" y="5760720"/>
            <a:ext cx="1249680" cy="182880"/>
          </a:xfrm>
          <a:prstGeom prst="rect">
            <a:avLst/>
          </a:prstGeom>
          <a:noFill/>
        </p:spPr>
        <p:txBody>
          <a:bodyPr wrap="square">
            <a:spAutoFit/>
          </a:bodyPr>
          <a:lstStyle/>
          <a:p>
            <a:pPr algn="l"/>
            <a:r>
              <a:rPr sz="1100" b="0">
                <a:solidFill>
                  <a:srgbClr val="12304F"/>
                </a:solidFill>
                <a:latin typeface="Consolas" panose="020B0609020204030204"/>
                <a:ea typeface="Noto Sans SC" panose="020B0200000000000000" charset="-122"/>
                <a:cs typeface="Noto Sans SC" panose="020B0200000000000000" charset="-122"/>
              </a:rPr>
              <a:t>RBTC-MECH-001</a:t>
            </a:r>
            <a:endParaRPr sz="1100" b="0">
              <a:solidFill>
                <a:srgbClr val="12304F"/>
              </a:solidFill>
              <a:latin typeface="Consolas" panose="020B0609020204030204"/>
              <a:ea typeface="Noto Sans SC" panose="020B0200000000000000" charset="-122"/>
              <a:cs typeface="Noto Sans SC" panose="020B0200000000000000" charset="-122"/>
            </a:endParaRPr>
          </a:p>
        </p:txBody>
      </p:sp>
      <p:sp>
        <p:nvSpPr>
          <p:cNvPr id="39" name="Rectangle 38"/>
          <p:cNvSpPr/>
          <p:nvPr/>
        </p:nvSpPr>
        <p:spPr>
          <a:xfrm>
            <a:off x="8729472" y="5586984"/>
            <a:ext cx="9144" cy="384048"/>
          </a:xfrm>
          <a:prstGeom prst="rect">
            <a:avLst/>
          </a:prstGeom>
          <a:solidFill>
            <a:srgbClr val="C9D3DC"/>
          </a:solidFill>
          <a:ln>
            <a:noFill/>
          </a:ln>
        </p:spPr>
        <p:txBody>
          <a:bodyPr rtlCol="0" anchor="ctr"/>
          <a:lstStyle/>
          <a:p>
            <a:pPr algn="ctr"/>
          </a:p>
        </p:txBody>
      </p:sp>
      <p:sp>
        <p:nvSpPr>
          <p:cNvPr id="40" name="TextBox 39"/>
          <p:cNvSpPr txBox="1"/>
          <p:nvPr/>
        </p:nvSpPr>
        <p:spPr>
          <a:xfrm>
            <a:off x="8839200" y="5614416"/>
            <a:ext cx="1249680" cy="164592"/>
          </a:xfrm>
          <a:prstGeom prst="rect">
            <a:avLst/>
          </a:prstGeom>
          <a:noFill/>
        </p:spPr>
        <p:txBody>
          <a:bodyPr wrap="square">
            <a:spAutoFit/>
          </a:bodyPr>
          <a:lstStyle/>
          <a:p>
            <a:pPr algn="l"/>
            <a:r>
              <a:rPr sz="850" b="0">
                <a:solidFill>
                  <a:srgbClr val="6B7B8A"/>
                </a:solidFill>
                <a:latin typeface="Consolas" panose="020B0609020204030204"/>
                <a:ea typeface="Noto Sans SC" panose="020B0200000000000000" charset="-122"/>
                <a:cs typeface="Noto Sans SC" panose="020B0200000000000000" charset="-122"/>
              </a:rPr>
              <a:t>SCALE</a:t>
            </a:r>
            <a:endParaRPr sz="850" b="0">
              <a:solidFill>
                <a:srgbClr val="6B7B8A"/>
              </a:solidFill>
              <a:latin typeface="Consolas" panose="020B0609020204030204"/>
              <a:ea typeface="Noto Sans SC" panose="020B0200000000000000" charset="-122"/>
              <a:cs typeface="Noto Sans SC" panose="020B0200000000000000" charset="-122"/>
            </a:endParaRPr>
          </a:p>
        </p:txBody>
      </p:sp>
      <p:sp>
        <p:nvSpPr>
          <p:cNvPr id="41" name="TextBox 40"/>
          <p:cNvSpPr txBox="1"/>
          <p:nvPr/>
        </p:nvSpPr>
        <p:spPr>
          <a:xfrm>
            <a:off x="8839200" y="5760720"/>
            <a:ext cx="1249680" cy="182880"/>
          </a:xfrm>
          <a:prstGeom prst="rect">
            <a:avLst/>
          </a:prstGeom>
          <a:noFill/>
        </p:spPr>
        <p:txBody>
          <a:bodyPr wrap="square">
            <a:spAutoFit/>
          </a:bodyPr>
          <a:lstStyle/>
          <a:p>
            <a:pPr algn="l"/>
            <a:r>
              <a:rPr sz="1100" b="0">
                <a:solidFill>
                  <a:srgbClr val="12304F"/>
                </a:solidFill>
                <a:latin typeface="Consolas" panose="020B0609020204030204"/>
                <a:ea typeface="Noto Sans SC" panose="020B0200000000000000" charset="-122"/>
                <a:cs typeface="Noto Sans SC" panose="020B0200000000000000" charset="-122"/>
              </a:rPr>
              <a:t>—</a:t>
            </a:r>
            <a:endParaRPr sz="1100" b="0">
              <a:solidFill>
                <a:srgbClr val="12304F"/>
              </a:solidFill>
              <a:latin typeface="Consolas" panose="020B0609020204030204"/>
              <a:ea typeface="Noto Sans SC" panose="020B0200000000000000" charset="-122"/>
              <a:cs typeface="Noto Sans SC" panose="020B0200000000000000" charset="-122"/>
            </a:endParaRPr>
          </a:p>
        </p:txBody>
      </p:sp>
      <p:sp>
        <p:nvSpPr>
          <p:cNvPr id="42" name="Rectangle 41"/>
          <p:cNvSpPr/>
          <p:nvPr/>
        </p:nvSpPr>
        <p:spPr>
          <a:xfrm>
            <a:off x="10162032" y="5586984"/>
            <a:ext cx="9144" cy="384048"/>
          </a:xfrm>
          <a:prstGeom prst="rect">
            <a:avLst/>
          </a:prstGeom>
          <a:solidFill>
            <a:srgbClr val="C9D3DC"/>
          </a:solidFill>
          <a:ln>
            <a:noFill/>
          </a:ln>
        </p:spPr>
        <p:txBody>
          <a:bodyPr rtlCol="0" anchor="ctr"/>
          <a:lstStyle/>
          <a:p>
            <a:pPr algn="ctr"/>
          </a:p>
        </p:txBody>
      </p:sp>
      <p:sp>
        <p:nvSpPr>
          <p:cNvPr id="43" name="TextBox 42"/>
          <p:cNvSpPr txBox="1"/>
          <p:nvPr/>
        </p:nvSpPr>
        <p:spPr>
          <a:xfrm>
            <a:off x="10271760" y="5614416"/>
            <a:ext cx="1249680" cy="164592"/>
          </a:xfrm>
          <a:prstGeom prst="rect">
            <a:avLst/>
          </a:prstGeom>
          <a:noFill/>
        </p:spPr>
        <p:txBody>
          <a:bodyPr wrap="square">
            <a:spAutoFit/>
          </a:bodyPr>
          <a:lstStyle/>
          <a:p>
            <a:pPr algn="l"/>
            <a:r>
              <a:rPr sz="850" b="0">
                <a:solidFill>
                  <a:srgbClr val="6B7B8A"/>
                </a:solidFill>
                <a:latin typeface="Consolas" panose="020B0609020204030204"/>
                <a:ea typeface="Noto Sans SC" panose="020B0200000000000000" charset="-122"/>
                <a:cs typeface="Noto Sans SC" panose="020B0200000000000000" charset="-122"/>
              </a:rPr>
              <a:t>UNIT</a:t>
            </a:r>
            <a:endParaRPr sz="850" b="0">
              <a:solidFill>
                <a:srgbClr val="6B7B8A"/>
              </a:solidFill>
              <a:latin typeface="Consolas" panose="020B0609020204030204"/>
              <a:ea typeface="Noto Sans SC" panose="020B0200000000000000" charset="-122"/>
              <a:cs typeface="Noto Sans SC" panose="020B0200000000000000" charset="-122"/>
            </a:endParaRPr>
          </a:p>
        </p:txBody>
      </p:sp>
      <p:sp>
        <p:nvSpPr>
          <p:cNvPr id="44" name="TextBox 43"/>
          <p:cNvSpPr txBox="1"/>
          <p:nvPr/>
        </p:nvSpPr>
        <p:spPr>
          <a:xfrm>
            <a:off x="10271760" y="5760720"/>
            <a:ext cx="1249680" cy="182880"/>
          </a:xfrm>
          <a:prstGeom prst="rect">
            <a:avLst/>
          </a:prstGeom>
          <a:noFill/>
        </p:spPr>
        <p:txBody>
          <a:bodyPr wrap="square">
            <a:spAutoFit/>
          </a:bodyPr>
          <a:lstStyle/>
          <a:p>
            <a:pPr algn="l"/>
            <a:r>
              <a:rPr sz="1100" b="0">
                <a:solidFill>
                  <a:srgbClr val="12304F"/>
                </a:solidFill>
                <a:latin typeface="Consolas" panose="020B0609020204030204"/>
                <a:ea typeface="Noto Sans SC" panose="020B0200000000000000" charset="-122"/>
                <a:cs typeface="Noto Sans SC" panose="020B0200000000000000" charset="-122"/>
              </a:rPr>
              <a:t>mm</a:t>
            </a:r>
            <a:endParaRPr sz="1100" b="0">
              <a:solidFill>
                <a:srgbClr val="12304F"/>
              </a:solidFill>
              <a:latin typeface="Consolas" panose="020B0609020204030204"/>
              <a:ea typeface="Noto Sans SC" panose="020B0200000000000000" charset="-122"/>
              <a:cs typeface="Noto Sans SC" panose="020B0200000000000000" charset="-122"/>
            </a:endParaRPr>
          </a:p>
        </p:txBody>
      </p:sp>
      <p:sp>
        <p:nvSpPr>
          <p:cNvPr id="45" name="Rectangle 44"/>
          <p:cNvSpPr/>
          <p:nvPr/>
        </p:nvSpPr>
        <p:spPr>
          <a:xfrm>
            <a:off x="594360" y="6199632"/>
            <a:ext cx="11002975" cy="10972"/>
          </a:xfrm>
          <a:prstGeom prst="rect">
            <a:avLst/>
          </a:prstGeom>
          <a:solidFill>
            <a:srgbClr val="C9D3DC"/>
          </a:solidFill>
          <a:ln>
            <a:noFill/>
          </a:ln>
        </p:spPr>
        <p:txBody>
          <a:bodyPr rtlCol="0" anchor="ctr"/>
          <a:lstStyle/>
          <a:p>
            <a:pPr algn="ctr"/>
          </a:p>
        </p:txBody>
      </p:sp>
      <p:sp>
        <p:nvSpPr>
          <p:cNvPr id="46" name="TextBox 45"/>
          <p:cNvSpPr txBox="1"/>
          <p:nvPr/>
        </p:nvSpPr>
        <p:spPr>
          <a:xfrm>
            <a:off x="594360" y="6327648"/>
            <a:ext cx="8778240" cy="274320"/>
          </a:xfrm>
          <a:prstGeom prst="rect">
            <a:avLst/>
          </a:prstGeom>
          <a:noFill/>
        </p:spPr>
        <p:txBody>
          <a:bodyPr wrap="square">
            <a:spAutoFit/>
          </a:bodyPr>
          <a:lstStyle/>
          <a:p>
            <a:pPr algn="l"/>
            <a:r>
              <a:rPr sz="1100" b="0">
                <a:solidFill>
                  <a:srgbClr val="6B7B8A"/>
                </a:solidFill>
                <a:latin typeface="Noto Sans SC" panose="020B0200000000000000" charset="-122"/>
                <a:ea typeface="Noto Sans SC" panose="020B0200000000000000" charset="-122"/>
                <a:cs typeface="Noto Sans SC" panose="020B0200000000000000" charset="-122"/>
              </a:rPr>
              <a:t>Fusion 360 建模　·　Bambu Studio 切片　·　实车装配验证</a:t>
            </a:r>
            <a:endParaRPr sz="1100" b="0">
              <a:solidFill>
                <a:srgbClr val="6B7B8A"/>
              </a:solidFill>
              <a:latin typeface="Noto Sans SC" panose="020B0200000000000000" charset="-122"/>
              <a:ea typeface="Noto Sans SC" panose="020B0200000000000000" charset="-122"/>
              <a:cs typeface="Noto Sans SC" panose="020B0200000000000000" charset="-122"/>
            </a:endParaRPr>
          </a:p>
        </p:txBody>
      </p:sp>
      <p:pic>
        <p:nvPicPr>
          <p:cNvPr id="48" name="图片 47"/>
          <p:cNvPicPr>
            <a:picLocks noChangeAspect="1"/>
          </p:cNvPicPr>
          <p:nvPr/>
        </p:nvPicPr>
        <p:blipFill>
          <a:blip r:embed="rId2"/>
          <a:srcRect l="6748" r="5555"/>
          <a:stretch>
            <a:fillRect/>
          </a:stretch>
        </p:blipFill>
        <p:spPr>
          <a:xfrm>
            <a:off x="7372350" y="1162685"/>
            <a:ext cx="4121785" cy="37007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pic>
        <p:nvPicPr>
          <p:cNvPr id="2" name="Picture 1" descr="447916673a97bd1f0e53b186d485eed5.png"/>
          <p:cNvPicPr>
            <a:picLocks noChangeAspect="1"/>
          </p:cNvPicPr>
          <p:nvPr/>
        </p:nvPicPr>
        <p:blipFill>
          <a:blip r:embed="rId1"/>
          <a:stretch>
            <a:fillRect/>
          </a:stretch>
        </p:blipFill>
        <p:spPr>
          <a:xfrm>
            <a:off x="0" y="0"/>
            <a:ext cx="12191695" cy="6858000"/>
          </a:xfrm>
          <a:prstGeom prst="rect">
            <a:avLst/>
          </a:prstGeom>
        </p:spPr>
      </p:pic>
      <p:sp>
        <p:nvSpPr>
          <p:cNvPr id="3" name="Rectangle 2"/>
          <p:cNvSpPr/>
          <p:nvPr/>
        </p:nvSpPr>
        <p:spPr>
          <a:xfrm>
            <a:off x="0" y="0"/>
            <a:ext cx="12191695" cy="68580"/>
          </a:xfrm>
          <a:prstGeom prst="rect">
            <a:avLst/>
          </a:prstGeom>
          <a:solidFill>
            <a:srgbClr val="12304F"/>
          </a:solidFill>
          <a:ln>
            <a:noFill/>
          </a:ln>
        </p:spPr>
        <p:txBody>
          <a:bodyPr rtlCol="0" anchor="ctr"/>
          <a:lstStyle/>
          <a:p>
            <a:pPr algn="ctr"/>
          </a:p>
        </p:txBody>
      </p:sp>
      <p:sp>
        <p:nvSpPr>
          <p:cNvPr id="4" name="Rounded Rectangle 3"/>
          <p:cNvSpPr/>
          <p:nvPr/>
        </p:nvSpPr>
        <p:spPr>
          <a:xfrm>
            <a:off x="594360" y="310896"/>
            <a:ext cx="1517904" cy="329184"/>
          </a:xfrm>
          <a:prstGeom prst="roundRect">
            <a:avLst/>
          </a:prstGeom>
          <a:solidFill>
            <a:srgbClr val="12304F"/>
          </a:solidFill>
          <a:ln>
            <a:noFill/>
          </a:ln>
        </p:spPr>
        <p:txBody>
          <a:bodyPr rtlCol="0" anchor="ctr"/>
          <a:lstStyle/>
          <a:p>
            <a:pPr algn="ctr"/>
          </a:p>
        </p:txBody>
      </p:sp>
      <p:sp>
        <p:nvSpPr>
          <p:cNvPr id="5" name="TextBox 4"/>
          <p:cNvSpPr txBox="1"/>
          <p:nvPr/>
        </p:nvSpPr>
        <p:spPr>
          <a:xfrm>
            <a:off x="649224" y="310896"/>
            <a:ext cx="1408176" cy="329184"/>
          </a:xfrm>
          <a:prstGeom prst="rect">
            <a:avLst/>
          </a:prstGeom>
          <a:noFill/>
        </p:spPr>
        <p:txBody>
          <a:bodyPr wrap="square" anchor="ctr">
            <a:spAutoFit/>
          </a:bodyPr>
          <a:lstStyle/>
          <a:p>
            <a:pPr algn="ctr"/>
            <a:r>
              <a:rPr sz="1300" b="1">
                <a:solidFill>
                  <a:srgbClr val="FFFFFF"/>
                </a:solidFill>
                <a:latin typeface="Noto Sans SC" panose="020B0200000000000000" charset="-122"/>
                <a:ea typeface="Noto Sans SC" panose="020B0200000000000000" charset="-122"/>
                <a:cs typeface="Noto Sans SC" panose="020B0200000000000000" charset="-122"/>
              </a:rPr>
              <a:t>00  导览</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6" name="TextBox 5"/>
          <p:cNvSpPr txBox="1"/>
          <p:nvPr/>
        </p:nvSpPr>
        <p:spPr>
          <a:xfrm>
            <a:off x="2295144" y="338328"/>
            <a:ext cx="3840480" cy="274320"/>
          </a:xfrm>
          <a:prstGeom prst="rect">
            <a:avLst/>
          </a:prstGeom>
          <a:noFill/>
        </p:spPr>
        <p:txBody>
          <a:bodyPr wrap="square">
            <a:spAutoFit/>
          </a:bodyPr>
          <a:lstStyle/>
          <a:p>
            <a:pPr algn="l"/>
            <a:r>
              <a:rPr sz="1150" b="0">
                <a:solidFill>
                  <a:srgbClr val="6B7B8A"/>
                </a:solidFill>
                <a:latin typeface="Consolas" panose="020B0609020204030204"/>
                <a:ea typeface="Noto Sans SC" panose="020B0200000000000000" charset="-122"/>
                <a:cs typeface="Noto Sans SC" panose="020B0200000000000000" charset="-122"/>
              </a:rPr>
              <a:t>方法论地图 · 34 页</a:t>
            </a:r>
            <a:endParaRPr sz="1150" b="0">
              <a:solidFill>
                <a:srgbClr val="6B7B8A"/>
              </a:solidFill>
              <a:latin typeface="Consolas" panose="020B0609020204030204"/>
              <a:ea typeface="Noto Sans SC" panose="020B0200000000000000" charset="-122"/>
              <a:cs typeface="Noto Sans SC" panose="020B0200000000000000" charset="-122"/>
            </a:endParaRPr>
          </a:p>
        </p:txBody>
      </p:sp>
      <p:sp>
        <p:nvSpPr>
          <p:cNvPr id="7" name="Rounded Rectangle 6"/>
          <p:cNvSpPr/>
          <p:nvPr/>
        </p:nvSpPr>
        <p:spPr>
          <a:xfrm>
            <a:off x="10070287" y="329184"/>
            <a:ext cx="1527048" cy="292608"/>
          </a:xfrm>
          <a:prstGeom prst="roundRect">
            <a:avLst/>
          </a:prstGeom>
          <a:solidFill>
            <a:srgbClr val="FFFFFF"/>
          </a:solidFill>
          <a:ln w="12700">
            <a:solidFill>
              <a:srgbClr val="C9D3DC"/>
            </a:solidFill>
          </a:ln>
        </p:spPr>
        <p:txBody>
          <a:bodyPr rtlCol="0" anchor="ctr"/>
          <a:lstStyle/>
          <a:p>
            <a:pPr algn="ctr"/>
          </a:p>
        </p:txBody>
      </p:sp>
      <p:sp>
        <p:nvSpPr>
          <p:cNvPr id="8" name="Rectangle 7"/>
          <p:cNvSpPr/>
          <p:nvPr/>
        </p:nvSpPr>
        <p:spPr>
          <a:xfrm>
            <a:off x="10189159" y="443484"/>
            <a:ext cx="68580" cy="68580"/>
          </a:xfrm>
          <a:prstGeom prst="rect">
            <a:avLst/>
          </a:prstGeom>
          <a:solidFill>
            <a:srgbClr val="2F7D53"/>
          </a:solidFill>
          <a:ln>
            <a:noFill/>
          </a:ln>
        </p:spPr>
        <p:txBody>
          <a:bodyPr rtlCol="0" anchor="ctr"/>
          <a:lstStyle/>
          <a:p>
            <a:pPr algn="ctr"/>
          </a:p>
        </p:txBody>
      </p:sp>
      <p:sp>
        <p:nvSpPr>
          <p:cNvPr id="9" name="TextBox 8"/>
          <p:cNvSpPr txBox="1"/>
          <p:nvPr/>
        </p:nvSpPr>
        <p:spPr>
          <a:xfrm>
            <a:off x="10317175" y="329184"/>
            <a:ext cx="1234439" cy="292608"/>
          </a:xfrm>
          <a:prstGeom prst="rect">
            <a:avLst/>
          </a:prstGeom>
          <a:noFill/>
        </p:spPr>
        <p:txBody>
          <a:bodyPr wrap="square" anchor="ctr">
            <a:spAutoFit/>
          </a:bodyPr>
          <a:lstStyle/>
          <a:p>
            <a:pPr algn="l"/>
            <a:r>
              <a:rPr sz="1150" b="0">
                <a:solidFill>
                  <a:srgbClr val="23384C"/>
                </a:solidFill>
                <a:latin typeface="Consolas" panose="020B0609020204030204"/>
                <a:ea typeface="Noto Sans SC" panose="020B0200000000000000" charset="-122"/>
                <a:cs typeface="Noto Sans SC" panose="020B0200000000000000" charset="-122"/>
              </a:rPr>
              <a:t>Bambu Studio</a:t>
            </a:r>
            <a:endParaRPr sz="1150" b="0">
              <a:solidFill>
                <a:srgbClr val="23384C"/>
              </a:solidFill>
              <a:latin typeface="Consolas" panose="020B0609020204030204"/>
              <a:ea typeface="Noto Sans SC" panose="020B0200000000000000" charset="-122"/>
              <a:cs typeface="Noto Sans SC" panose="020B0200000000000000" charset="-122"/>
            </a:endParaRPr>
          </a:p>
        </p:txBody>
      </p:sp>
      <p:sp>
        <p:nvSpPr>
          <p:cNvPr id="10" name="Rounded Rectangle 9"/>
          <p:cNvSpPr/>
          <p:nvPr/>
        </p:nvSpPr>
        <p:spPr>
          <a:xfrm>
            <a:off x="8607247" y="329184"/>
            <a:ext cx="1335024" cy="292608"/>
          </a:xfrm>
          <a:prstGeom prst="roundRect">
            <a:avLst/>
          </a:prstGeom>
          <a:solidFill>
            <a:srgbClr val="FFFFFF"/>
          </a:solidFill>
          <a:ln w="12700">
            <a:solidFill>
              <a:srgbClr val="C9D3DC"/>
            </a:solidFill>
          </a:ln>
        </p:spPr>
        <p:txBody>
          <a:bodyPr rtlCol="0" anchor="ctr"/>
          <a:lstStyle/>
          <a:p>
            <a:pPr algn="ctr"/>
          </a:p>
        </p:txBody>
      </p:sp>
      <p:sp>
        <p:nvSpPr>
          <p:cNvPr id="11" name="Rectangle 10"/>
          <p:cNvSpPr/>
          <p:nvPr/>
        </p:nvSpPr>
        <p:spPr>
          <a:xfrm>
            <a:off x="8726119" y="443484"/>
            <a:ext cx="68580" cy="68580"/>
          </a:xfrm>
          <a:prstGeom prst="rect">
            <a:avLst/>
          </a:prstGeom>
          <a:solidFill>
            <a:srgbClr val="C2571A"/>
          </a:solidFill>
          <a:ln>
            <a:noFill/>
          </a:ln>
        </p:spPr>
        <p:txBody>
          <a:bodyPr rtlCol="0" anchor="ctr"/>
          <a:lstStyle/>
          <a:p>
            <a:pPr algn="ctr"/>
          </a:p>
        </p:txBody>
      </p:sp>
      <p:sp>
        <p:nvSpPr>
          <p:cNvPr id="12" name="TextBox 11"/>
          <p:cNvSpPr txBox="1"/>
          <p:nvPr/>
        </p:nvSpPr>
        <p:spPr>
          <a:xfrm>
            <a:off x="8854135" y="329184"/>
            <a:ext cx="1042415" cy="292608"/>
          </a:xfrm>
          <a:prstGeom prst="rect">
            <a:avLst/>
          </a:prstGeom>
          <a:noFill/>
        </p:spPr>
        <p:txBody>
          <a:bodyPr wrap="square" anchor="ctr">
            <a:spAutoFit/>
          </a:bodyPr>
          <a:lstStyle/>
          <a:p>
            <a:pPr algn="l"/>
            <a:r>
              <a:rPr sz="1150" b="0">
                <a:solidFill>
                  <a:srgbClr val="23384C"/>
                </a:solidFill>
                <a:latin typeface="Consolas" panose="020B0609020204030204"/>
                <a:ea typeface="Noto Sans SC" panose="020B0200000000000000" charset="-122"/>
                <a:cs typeface="Noto Sans SC" panose="020B0200000000000000" charset="-122"/>
              </a:rPr>
              <a:t>Fusion 360</a:t>
            </a:r>
            <a:endParaRPr sz="1150" b="0">
              <a:solidFill>
                <a:srgbClr val="23384C"/>
              </a:solidFill>
              <a:latin typeface="Consolas" panose="020B0609020204030204"/>
              <a:ea typeface="Noto Sans SC" panose="020B0200000000000000" charset="-122"/>
              <a:cs typeface="Noto Sans SC" panose="020B0200000000000000" charset="-122"/>
            </a:endParaRPr>
          </a:p>
        </p:txBody>
      </p:sp>
      <p:sp>
        <p:nvSpPr>
          <p:cNvPr id="13" name="TextBox 12"/>
          <p:cNvSpPr txBox="1"/>
          <p:nvPr/>
        </p:nvSpPr>
        <p:spPr>
          <a:xfrm>
            <a:off x="594360" y="841248"/>
            <a:ext cx="10058400" cy="502920"/>
          </a:xfrm>
          <a:prstGeom prst="rect">
            <a:avLst/>
          </a:prstGeom>
          <a:noFill/>
        </p:spPr>
        <p:txBody>
          <a:bodyPr wrap="square">
            <a:spAutoFit/>
          </a:bodyPr>
          <a:lstStyle/>
          <a:p>
            <a:pPr algn="l"/>
            <a:r>
              <a:rPr sz="2700" b="1">
                <a:solidFill>
                  <a:srgbClr val="12304F"/>
                </a:solidFill>
                <a:latin typeface="Noto Sans SC" panose="020B0200000000000000" charset="-122"/>
                <a:ea typeface="Noto Sans SC" panose="020B0200000000000000" charset="-122"/>
                <a:cs typeface="Noto Sans SC" panose="020B0200000000000000" charset="-122"/>
              </a:rPr>
              <a:t>这门课教什么</a:t>
            </a:r>
            <a:endParaRPr sz="270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14" name="TextBox 13"/>
          <p:cNvSpPr txBox="1"/>
          <p:nvPr/>
        </p:nvSpPr>
        <p:spPr>
          <a:xfrm>
            <a:off x="594360" y="1344168"/>
            <a:ext cx="10607040" cy="274320"/>
          </a:xfrm>
          <a:prstGeom prst="rect">
            <a:avLst/>
          </a:prstGeom>
          <a:noFill/>
        </p:spPr>
        <p:txBody>
          <a:bodyPr wrap="square">
            <a:spAutoFit/>
          </a:bodyPr>
          <a:lstStyle/>
          <a:p>
            <a:pPr algn="l"/>
            <a:r>
              <a:rPr sz="1350" b="0">
                <a:solidFill>
                  <a:srgbClr val="6B7B8A"/>
                </a:solidFill>
                <a:latin typeface="Noto Sans SC" panose="020B0200000000000000" charset="-122"/>
                <a:ea typeface="Noto Sans SC" panose="020B0200000000000000" charset="-122"/>
                <a:cs typeface="Noto Sans SC" panose="020B0200000000000000" charset="-122"/>
              </a:rPr>
              <a:t>不是教四个零件，而是教一套能搬到任何结构件上的方法</a:t>
            </a:r>
            <a:endParaRPr sz="13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15" name="Rectangle 14"/>
          <p:cNvSpPr/>
          <p:nvPr/>
        </p:nvSpPr>
        <p:spPr>
          <a:xfrm>
            <a:off x="594360" y="1700784"/>
            <a:ext cx="11002975" cy="12801"/>
          </a:xfrm>
          <a:prstGeom prst="rect">
            <a:avLst/>
          </a:prstGeom>
          <a:solidFill>
            <a:srgbClr val="C9D3DC"/>
          </a:solidFill>
          <a:ln>
            <a:noFill/>
          </a:ln>
        </p:spPr>
        <p:txBody>
          <a:bodyPr rtlCol="0" anchor="ctr"/>
          <a:lstStyle/>
          <a:p>
            <a:pPr algn="ctr"/>
          </a:p>
        </p:txBody>
      </p:sp>
      <p:sp>
        <p:nvSpPr>
          <p:cNvPr id="16" name="TextBox 15"/>
          <p:cNvSpPr txBox="1"/>
          <p:nvPr/>
        </p:nvSpPr>
        <p:spPr>
          <a:xfrm>
            <a:off x="10515600" y="6400800"/>
            <a:ext cx="1371600" cy="274320"/>
          </a:xfrm>
          <a:prstGeom prst="rect">
            <a:avLst/>
          </a:prstGeom>
          <a:noFill/>
        </p:spPr>
        <p:txBody>
          <a:bodyPr wrap="square">
            <a:spAutoFit/>
          </a:bodyPr>
          <a:lstStyle/>
          <a:p>
            <a:pPr algn="r"/>
            <a:r>
              <a:rPr sz="1000" b="0">
                <a:solidFill>
                  <a:srgbClr val="6B7B8A"/>
                </a:solidFill>
                <a:latin typeface="Noto Sans SC" panose="020B0200000000000000" charset="-122"/>
                <a:ea typeface="Noto Sans SC" panose="020B0200000000000000" charset="-122"/>
                <a:cs typeface="Noto Sans SC" panose="020B0200000000000000" charset="-122"/>
              </a:rPr>
              <a:t>2 / 34</a:t>
            </a:r>
            <a:endParaRPr sz="100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17" name="Rectangle 16"/>
          <p:cNvSpPr/>
          <p:nvPr/>
        </p:nvSpPr>
        <p:spPr>
          <a:xfrm>
            <a:off x="594360" y="2103120"/>
            <a:ext cx="2606040" cy="2377440"/>
          </a:xfrm>
          <a:prstGeom prst="rect">
            <a:avLst/>
          </a:prstGeom>
          <a:solidFill>
            <a:srgbClr val="FFFFFF"/>
          </a:solidFill>
          <a:ln w="12700">
            <a:solidFill>
              <a:srgbClr val="C9D3DC"/>
            </a:solidFill>
          </a:ln>
        </p:spPr>
        <p:txBody>
          <a:bodyPr rtlCol="0" anchor="ctr"/>
          <a:lstStyle/>
          <a:p>
            <a:pPr algn="ctr"/>
          </a:p>
        </p:txBody>
      </p:sp>
      <p:sp>
        <p:nvSpPr>
          <p:cNvPr id="18" name="Rectangle 17"/>
          <p:cNvSpPr/>
          <p:nvPr/>
        </p:nvSpPr>
        <p:spPr>
          <a:xfrm>
            <a:off x="594360" y="2103120"/>
            <a:ext cx="2606040" cy="54864"/>
          </a:xfrm>
          <a:prstGeom prst="rect">
            <a:avLst/>
          </a:prstGeom>
          <a:solidFill>
            <a:srgbClr val="C2571A"/>
          </a:solidFill>
          <a:ln>
            <a:noFill/>
          </a:ln>
        </p:spPr>
        <p:txBody>
          <a:bodyPr rtlCol="0" anchor="ctr"/>
          <a:lstStyle/>
          <a:p>
            <a:pPr algn="ctr"/>
          </a:p>
        </p:txBody>
      </p:sp>
      <p:sp>
        <p:nvSpPr>
          <p:cNvPr id="19" name="TextBox 18"/>
          <p:cNvSpPr txBox="1"/>
          <p:nvPr/>
        </p:nvSpPr>
        <p:spPr>
          <a:xfrm>
            <a:off x="758952" y="2249424"/>
            <a:ext cx="1097280" cy="420624"/>
          </a:xfrm>
          <a:prstGeom prst="rect">
            <a:avLst/>
          </a:prstGeom>
          <a:noFill/>
        </p:spPr>
        <p:txBody>
          <a:bodyPr wrap="square">
            <a:spAutoFit/>
          </a:bodyPr>
          <a:lstStyle/>
          <a:p>
            <a:pPr algn="l"/>
            <a:r>
              <a:rPr sz="2800" b="1">
                <a:solidFill>
                  <a:srgbClr val="C2571A"/>
                </a:solidFill>
                <a:latin typeface="Consolas" panose="020B0609020204030204"/>
                <a:ea typeface="Noto Sans SC" panose="020B0200000000000000" charset="-122"/>
                <a:cs typeface="Noto Sans SC" panose="020B0200000000000000" charset="-122"/>
              </a:rPr>
              <a:t>01</a:t>
            </a:r>
            <a:endParaRPr sz="2800" b="1">
              <a:solidFill>
                <a:srgbClr val="C2571A"/>
              </a:solidFill>
              <a:latin typeface="Consolas" panose="020B0609020204030204"/>
              <a:ea typeface="Noto Sans SC" panose="020B0200000000000000" charset="-122"/>
              <a:cs typeface="Noto Sans SC" panose="020B0200000000000000" charset="-122"/>
            </a:endParaRPr>
          </a:p>
        </p:txBody>
      </p:sp>
      <p:sp>
        <p:nvSpPr>
          <p:cNvPr id="20" name="TextBox 19"/>
          <p:cNvSpPr txBox="1"/>
          <p:nvPr/>
        </p:nvSpPr>
        <p:spPr>
          <a:xfrm>
            <a:off x="1563624" y="2340864"/>
            <a:ext cx="1600200" cy="310896"/>
          </a:xfrm>
          <a:prstGeom prst="rect">
            <a:avLst/>
          </a:prstGeom>
          <a:noFill/>
        </p:spPr>
        <p:txBody>
          <a:bodyPr wrap="square">
            <a:spAutoFit/>
          </a:bodyPr>
          <a:lstStyle/>
          <a:p>
            <a:pPr algn="l"/>
            <a:r>
              <a:rPr sz="1650" b="1">
                <a:solidFill>
                  <a:srgbClr val="12304F"/>
                </a:solidFill>
                <a:latin typeface="Noto Sans SC" panose="020B0200000000000000" charset="-122"/>
                <a:ea typeface="Noto Sans SC" panose="020B0200000000000000" charset="-122"/>
                <a:cs typeface="Noto Sans SC" panose="020B0200000000000000" charset="-122"/>
              </a:rPr>
              <a:t>科学绘图</a:t>
            </a:r>
            <a:endParaRPr sz="165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21" name="TextBox 20"/>
          <p:cNvSpPr txBox="1"/>
          <p:nvPr/>
        </p:nvSpPr>
        <p:spPr>
          <a:xfrm>
            <a:off x="758952" y="2798064"/>
            <a:ext cx="2286000" cy="914400"/>
          </a:xfrm>
          <a:prstGeom prst="rect">
            <a:avLst/>
          </a:prstGeom>
          <a:noFill/>
        </p:spPr>
        <p:txBody>
          <a:bodyPr wrap="square">
            <a:spAutoFit/>
          </a:bodyPr>
          <a:lstStyle/>
          <a:p>
            <a:pPr algn="l">
              <a:spcBef>
                <a:spcPts val="200"/>
              </a:spcBef>
              <a:spcAft>
                <a:spcPts val="200"/>
              </a:spcAft>
            </a:pPr>
            <a:r>
              <a:rPr sz="1150" b="0">
                <a:solidFill>
                  <a:srgbClr val="23384C"/>
                </a:solidFill>
                <a:latin typeface="Noto Sans SC" panose="020B0200000000000000" charset="-122"/>
                <a:ea typeface="Noto Sans SC" panose="020B0200000000000000" charset="-122"/>
                <a:cs typeface="Noto Sans SC" panose="020B0200000000000000" charset="-122"/>
              </a:rPr>
              <a:t>流程 · 基准 · 参数化 · 对称 · 约束 · 投影</a:t>
            </a:r>
            <a:endParaRPr sz="11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2" name="Rectangle 21"/>
          <p:cNvSpPr/>
          <p:nvPr/>
        </p:nvSpPr>
        <p:spPr>
          <a:xfrm>
            <a:off x="758952" y="3584448"/>
            <a:ext cx="2276856" cy="9144"/>
          </a:xfrm>
          <a:prstGeom prst="rect">
            <a:avLst/>
          </a:prstGeom>
          <a:solidFill>
            <a:srgbClr val="C9D3DC"/>
          </a:solidFill>
          <a:ln>
            <a:noFill/>
          </a:ln>
        </p:spPr>
        <p:txBody>
          <a:bodyPr rtlCol="0" anchor="ctr"/>
          <a:lstStyle/>
          <a:p>
            <a:pPr algn="ctr"/>
          </a:p>
        </p:txBody>
      </p:sp>
      <p:sp>
        <p:nvSpPr>
          <p:cNvPr id="23" name="TextBox 22"/>
          <p:cNvSpPr txBox="1"/>
          <p:nvPr/>
        </p:nvSpPr>
        <p:spPr>
          <a:xfrm>
            <a:off x="758952" y="3675887"/>
            <a:ext cx="1463040" cy="219456"/>
          </a:xfrm>
          <a:prstGeom prst="rect">
            <a:avLst/>
          </a:prstGeom>
          <a:noFill/>
        </p:spPr>
        <p:txBody>
          <a:bodyPr wrap="square">
            <a:spAutoFit/>
          </a:bodyPr>
          <a:lstStyle/>
          <a:p>
            <a:pPr algn="l"/>
            <a:r>
              <a:rPr sz="1050" b="0">
                <a:solidFill>
                  <a:srgbClr val="C2571A"/>
                </a:solidFill>
                <a:latin typeface="Consolas" panose="020B0609020204030204"/>
                <a:ea typeface="Noto Sans SC" panose="020B0200000000000000" charset="-122"/>
                <a:cs typeface="Noto Sans SC" panose="020B0200000000000000" charset="-122"/>
              </a:rPr>
              <a:t>案例：通用零件</a:t>
            </a:r>
            <a:endParaRPr sz="1050" b="0">
              <a:solidFill>
                <a:srgbClr val="C2571A"/>
              </a:solidFill>
              <a:latin typeface="Consolas" panose="020B0609020204030204"/>
              <a:ea typeface="Noto Sans SC" panose="020B0200000000000000" charset="-122"/>
              <a:cs typeface="Noto Sans SC" panose="020B0200000000000000" charset="-122"/>
            </a:endParaRPr>
          </a:p>
        </p:txBody>
      </p:sp>
      <p:sp>
        <p:nvSpPr>
          <p:cNvPr id="24" name="TextBox 23"/>
          <p:cNvSpPr txBox="1"/>
          <p:nvPr/>
        </p:nvSpPr>
        <p:spPr>
          <a:xfrm>
            <a:off x="2194560" y="3675887"/>
            <a:ext cx="868680" cy="219456"/>
          </a:xfrm>
          <a:prstGeom prst="rect">
            <a:avLst/>
          </a:prstGeom>
          <a:noFill/>
        </p:spPr>
        <p:txBody>
          <a:bodyPr wrap="square">
            <a:spAutoFit/>
          </a:bodyPr>
          <a:lstStyle/>
          <a:p>
            <a:pPr algn="r"/>
            <a:r>
              <a:rPr sz="1050" b="0">
                <a:solidFill>
                  <a:srgbClr val="6B7B8A"/>
                </a:solidFill>
                <a:latin typeface="Consolas" panose="020B0609020204030204"/>
                <a:ea typeface="Noto Sans SC" panose="020B0200000000000000" charset="-122"/>
                <a:cs typeface="Noto Sans SC" panose="020B0200000000000000" charset="-122"/>
              </a:rPr>
              <a:t>6 个方法</a:t>
            </a:r>
            <a:endParaRPr sz="1050" b="0">
              <a:solidFill>
                <a:srgbClr val="6B7B8A"/>
              </a:solidFill>
              <a:latin typeface="Consolas" panose="020B0609020204030204"/>
              <a:ea typeface="Noto Sans SC" panose="020B0200000000000000" charset="-122"/>
              <a:cs typeface="Noto Sans SC" panose="020B0200000000000000" charset="-122"/>
            </a:endParaRPr>
          </a:p>
        </p:txBody>
      </p:sp>
      <p:sp>
        <p:nvSpPr>
          <p:cNvPr id="25" name="Rectangle 24"/>
          <p:cNvSpPr/>
          <p:nvPr/>
        </p:nvSpPr>
        <p:spPr>
          <a:xfrm>
            <a:off x="758952" y="3968496"/>
            <a:ext cx="2276856" cy="9144"/>
          </a:xfrm>
          <a:prstGeom prst="rect">
            <a:avLst/>
          </a:prstGeom>
          <a:solidFill>
            <a:srgbClr val="C9D3DC"/>
          </a:solidFill>
          <a:ln>
            <a:noFill/>
          </a:ln>
        </p:spPr>
        <p:txBody>
          <a:bodyPr rtlCol="0" anchor="ctr"/>
          <a:lstStyle/>
          <a:p>
            <a:pPr algn="ctr"/>
          </a:p>
        </p:txBody>
      </p:sp>
      <p:sp>
        <p:nvSpPr>
          <p:cNvPr id="26" name="TextBox 25"/>
          <p:cNvSpPr txBox="1"/>
          <p:nvPr/>
        </p:nvSpPr>
        <p:spPr>
          <a:xfrm>
            <a:off x="758952" y="4059936"/>
            <a:ext cx="2286000" cy="219456"/>
          </a:xfrm>
          <a:prstGeom prst="rect">
            <a:avLst/>
          </a:prstGeom>
          <a:noFill/>
        </p:spPr>
        <p:txBody>
          <a:bodyPr wrap="square">
            <a:spAutoFit/>
          </a:bodyPr>
          <a:lstStyle/>
          <a:p>
            <a:pPr algn="l"/>
            <a:r>
              <a:rPr sz="950" b="0">
                <a:solidFill>
                  <a:srgbClr val="6B7B8A"/>
                </a:solidFill>
                <a:latin typeface="Noto Sans SC" panose="020B0200000000000000" charset="-122"/>
                <a:ea typeface="Noto Sans SC" panose="020B0200000000000000" charset="-122"/>
                <a:cs typeface="Noto Sans SC" panose="020B0200000000000000" charset="-122"/>
              </a:rPr>
              <a:t>可迁移到任意结构件</a:t>
            </a:r>
            <a:endParaRPr sz="9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27" name="Rectangle 26"/>
          <p:cNvSpPr/>
          <p:nvPr/>
        </p:nvSpPr>
        <p:spPr>
          <a:xfrm>
            <a:off x="3374136" y="2103120"/>
            <a:ext cx="2606040" cy="2377440"/>
          </a:xfrm>
          <a:prstGeom prst="rect">
            <a:avLst/>
          </a:prstGeom>
          <a:solidFill>
            <a:srgbClr val="FFFFFF"/>
          </a:solidFill>
          <a:ln w="12700">
            <a:solidFill>
              <a:srgbClr val="C9D3DC"/>
            </a:solidFill>
          </a:ln>
        </p:spPr>
        <p:txBody>
          <a:bodyPr rtlCol="0" anchor="ctr"/>
          <a:lstStyle/>
          <a:p>
            <a:pPr algn="ctr"/>
          </a:p>
        </p:txBody>
      </p:sp>
      <p:sp>
        <p:nvSpPr>
          <p:cNvPr id="28" name="Rectangle 27"/>
          <p:cNvSpPr/>
          <p:nvPr/>
        </p:nvSpPr>
        <p:spPr>
          <a:xfrm>
            <a:off x="3374136" y="2103120"/>
            <a:ext cx="2606040" cy="54864"/>
          </a:xfrm>
          <a:prstGeom prst="rect">
            <a:avLst/>
          </a:prstGeom>
          <a:solidFill>
            <a:srgbClr val="0E7C74"/>
          </a:solidFill>
          <a:ln>
            <a:noFill/>
          </a:ln>
        </p:spPr>
        <p:txBody>
          <a:bodyPr rtlCol="0" anchor="ctr"/>
          <a:lstStyle/>
          <a:p>
            <a:pPr algn="ctr"/>
          </a:p>
        </p:txBody>
      </p:sp>
      <p:sp>
        <p:nvSpPr>
          <p:cNvPr id="29" name="TextBox 28"/>
          <p:cNvSpPr txBox="1"/>
          <p:nvPr/>
        </p:nvSpPr>
        <p:spPr>
          <a:xfrm>
            <a:off x="3538728" y="2249424"/>
            <a:ext cx="1097280" cy="420624"/>
          </a:xfrm>
          <a:prstGeom prst="rect">
            <a:avLst/>
          </a:prstGeom>
          <a:noFill/>
        </p:spPr>
        <p:txBody>
          <a:bodyPr wrap="square">
            <a:spAutoFit/>
          </a:bodyPr>
          <a:lstStyle/>
          <a:p>
            <a:pPr algn="l"/>
            <a:r>
              <a:rPr sz="2800" b="1">
                <a:solidFill>
                  <a:srgbClr val="0E7C74"/>
                </a:solidFill>
                <a:latin typeface="Consolas" panose="020B0609020204030204"/>
                <a:ea typeface="Noto Sans SC" panose="020B0200000000000000" charset="-122"/>
                <a:cs typeface="Noto Sans SC" panose="020B0200000000000000" charset="-122"/>
              </a:rPr>
              <a:t>02</a:t>
            </a:r>
            <a:endParaRPr sz="2800" b="1">
              <a:solidFill>
                <a:srgbClr val="0E7C74"/>
              </a:solidFill>
              <a:latin typeface="Consolas" panose="020B0609020204030204"/>
              <a:ea typeface="Noto Sans SC" panose="020B0200000000000000" charset="-122"/>
              <a:cs typeface="Noto Sans SC" panose="020B0200000000000000" charset="-122"/>
            </a:endParaRPr>
          </a:p>
        </p:txBody>
      </p:sp>
      <p:sp>
        <p:nvSpPr>
          <p:cNvPr id="30" name="TextBox 29"/>
          <p:cNvSpPr txBox="1"/>
          <p:nvPr/>
        </p:nvSpPr>
        <p:spPr>
          <a:xfrm>
            <a:off x="4343400" y="2340864"/>
            <a:ext cx="1600200" cy="310896"/>
          </a:xfrm>
          <a:prstGeom prst="rect">
            <a:avLst/>
          </a:prstGeom>
          <a:noFill/>
        </p:spPr>
        <p:txBody>
          <a:bodyPr wrap="square">
            <a:spAutoFit/>
          </a:bodyPr>
          <a:lstStyle/>
          <a:p>
            <a:pPr algn="l"/>
            <a:r>
              <a:rPr sz="1650" b="1">
                <a:solidFill>
                  <a:srgbClr val="12304F"/>
                </a:solidFill>
                <a:latin typeface="Noto Sans SC" panose="020B0200000000000000" charset="-122"/>
                <a:ea typeface="Noto Sans SC" panose="020B0200000000000000" charset="-122"/>
                <a:cs typeface="Noto Sans SC" panose="020B0200000000000000" charset="-122"/>
              </a:rPr>
              <a:t>结构设计</a:t>
            </a:r>
            <a:endParaRPr sz="165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31" name="TextBox 30"/>
          <p:cNvSpPr txBox="1"/>
          <p:nvPr/>
        </p:nvSpPr>
        <p:spPr>
          <a:xfrm>
            <a:off x="3538728" y="2798064"/>
            <a:ext cx="2286000" cy="914400"/>
          </a:xfrm>
          <a:prstGeom prst="rect">
            <a:avLst/>
          </a:prstGeom>
          <a:noFill/>
        </p:spPr>
        <p:txBody>
          <a:bodyPr wrap="square">
            <a:spAutoFit/>
          </a:bodyPr>
          <a:lstStyle/>
          <a:p>
            <a:pPr algn="l">
              <a:spcBef>
                <a:spcPts val="200"/>
              </a:spcBef>
              <a:spcAft>
                <a:spcPts val="200"/>
              </a:spcAft>
            </a:pPr>
            <a:r>
              <a:rPr sz="1150" b="0">
                <a:solidFill>
                  <a:srgbClr val="23384C"/>
                </a:solidFill>
                <a:latin typeface="Noto Sans SC" panose="020B0200000000000000" charset="-122"/>
                <a:ea typeface="Noto Sans SC" panose="020B0200000000000000" charset="-122"/>
                <a:cs typeface="Noto Sans SC" panose="020B0200000000000000" charset="-122"/>
              </a:rPr>
              <a:t>受力路径 · 布局 · 公差 · 可装配 · 轻量化</a:t>
            </a:r>
            <a:endParaRPr sz="11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32" name="Rectangle 31"/>
          <p:cNvSpPr/>
          <p:nvPr/>
        </p:nvSpPr>
        <p:spPr>
          <a:xfrm>
            <a:off x="3538728" y="3584448"/>
            <a:ext cx="2276856" cy="9144"/>
          </a:xfrm>
          <a:prstGeom prst="rect">
            <a:avLst/>
          </a:prstGeom>
          <a:solidFill>
            <a:srgbClr val="C9D3DC"/>
          </a:solidFill>
          <a:ln>
            <a:noFill/>
          </a:ln>
        </p:spPr>
        <p:txBody>
          <a:bodyPr rtlCol="0" anchor="ctr"/>
          <a:lstStyle/>
          <a:p>
            <a:pPr algn="ctr"/>
          </a:p>
        </p:txBody>
      </p:sp>
      <p:sp>
        <p:nvSpPr>
          <p:cNvPr id="33" name="TextBox 32"/>
          <p:cNvSpPr txBox="1"/>
          <p:nvPr/>
        </p:nvSpPr>
        <p:spPr>
          <a:xfrm>
            <a:off x="3538728" y="3675887"/>
            <a:ext cx="1463040" cy="219456"/>
          </a:xfrm>
          <a:prstGeom prst="rect">
            <a:avLst/>
          </a:prstGeom>
          <a:noFill/>
        </p:spPr>
        <p:txBody>
          <a:bodyPr wrap="square">
            <a:spAutoFit/>
          </a:bodyPr>
          <a:lstStyle/>
          <a:p>
            <a:pPr algn="l"/>
            <a:r>
              <a:rPr sz="1050" b="0">
                <a:solidFill>
                  <a:srgbClr val="0E7C74"/>
                </a:solidFill>
                <a:latin typeface="Consolas" panose="020B0609020204030204"/>
                <a:ea typeface="Noto Sans SC" panose="020B0200000000000000" charset="-122"/>
                <a:cs typeface="Noto Sans SC" panose="020B0200000000000000" charset="-122"/>
              </a:rPr>
              <a:t>案例：底盘 / 上盖</a:t>
            </a:r>
            <a:endParaRPr sz="1050" b="0">
              <a:solidFill>
                <a:srgbClr val="0E7C74"/>
              </a:solidFill>
              <a:latin typeface="Consolas" panose="020B0609020204030204"/>
              <a:ea typeface="Noto Sans SC" panose="020B0200000000000000" charset="-122"/>
              <a:cs typeface="Noto Sans SC" panose="020B0200000000000000" charset="-122"/>
            </a:endParaRPr>
          </a:p>
        </p:txBody>
      </p:sp>
      <p:sp>
        <p:nvSpPr>
          <p:cNvPr id="34" name="TextBox 33"/>
          <p:cNvSpPr txBox="1"/>
          <p:nvPr/>
        </p:nvSpPr>
        <p:spPr>
          <a:xfrm>
            <a:off x="4974336" y="3675887"/>
            <a:ext cx="868680" cy="219456"/>
          </a:xfrm>
          <a:prstGeom prst="rect">
            <a:avLst/>
          </a:prstGeom>
          <a:noFill/>
        </p:spPr>
        <p:txBody>
          <a:bodyPr wrap="square">
            <a:spAutoFit/>
          </a:bodyPr>
          <a:lstStyle/>
          <a:p>
            <a:pPr algn="r"/>
            <a:r>
              <a:rPr sz="1050" b="0">
                <a:solidFill>
                  <a:srgbClr val="6B7B8A"/>
                </a:solidFill>
                <a:latin typeface="Consolas" panose="020B0609020204030204"/>
                <a:ea typeface="Noto Sans SC" panose="020B0200000000000000" charset="-122"/>
                <a:cs typeface="Noto Sans SC" panose="020B0200000000000000" charset="-122"/>
              </a:rPr>
              <a:t>8 个方法</a:t>
            </a:r>
            <a:endParaRPr sz="1050" b="0">
              <a:solidFill>
                <a:srgbClr val="6B7B8A"/>
              </a:solidFill>
              <a:latin typeface="Consolas" panose="020B0609020204030204"/>
              <a:ea typeface="Noto Sans SC" panose="020B0200000000000000" charset="-122"/>
              <a:cs typeface="Noto Sans SC" panose="020B0200000000000000" charset="-122"/>
            </a:endParaRPr>
          </a:p>
        </p:txBody>
      </p:sp>
      <p:sp>
        <p:nvSpPr>
          <p:cNvPr id="35" name="Rectangle 34"/>
          <p:cNvSpPr/>
          <p:nvPr/>
        </p:nvSpPr>
        <p:spPr>
          <a:xfrm>
            <a:off x="3538728" y="3968496"/>
            <a:ext cx="2276856" cy="9144"/>
          </a:xfrm>
          <a:prstGeom prst="rect">
            <a:avLst/>
          </a:prstGeom>
          <a:solidFill>
            <a:srgbClr val="C9D3DC"/>
          </a:solidFill>
          <a:ln>
            <a:noFill/>
          </a:ln>
        </p:spPr>
        <p:txBody>
          <a:bodyPr rtlCol="0" anchor="ctr"/>
          <a:lstStyle/>
          <a:p>
            <a:pPr algn="ctr"/>
          </a:p>
        </p:txBody>
      </p:sp>
      <p:sp>
        <p:nvSpPr>
          <p:cNvPr id="36" name="TextBox 35"/>
          <p:cNvSpPr txBox="1"/>
          <p:nvPr/>
        </p:nvSpPr>
        <p:spPr>
          <a:xfrm>
            <a:off x="3538728" y="4059936"/>
            <a:ext cx="2286000" cy="219456"/>
          </a:xfrm>
          <a:prstGeom prst="rect">
            <a:avLst/>
          </a:prstGeom>
          <a:noFill/>
        </p:spPr>
        <p:txBody>
          <a:bodyPr wrap="square">
            <a:spAutoFit/>
          </a:bodyPr>
          <a:lstStyle/>
          <a:p>
            <a:pPr algn="l"/>
            <a:r>
              <a:rPr sz="950" b="0">
                <a:solidFill>
                  <a:srgbClr val="6B7B8A"/>
                </a:solidFill>
                <a:latin typeface="Noto Sans SC" panose="020B0200000000000000" charset="-122"/>
                <a:ea typeface="Noto Sans SC" panose="020B0200000000000000" charset="-122"/>
                <a:cs typeface="Noto Sans SC" panose="020B0200000000000000" charset="-122"/>
              </a:rPr>
              <a:t>可迁移到任意结构件</a:t>
            </a:r>
            <a:endParaRPr sz="9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37" name="Rectangle 36"/>
          <p:cNvSpPr/>
          <p:nvPr/>
        </p:nvSpPr>
        <p:spPr>
          <a:xfrm>
            <a:off x="6153912" y="2103120"/>
            <a:ext cx="2606040" cy="2377440"/>
          </a:xfrm>
          <a:prstGeom prst="rect">
            <a:avLst/>
          </a:prstGeom>
          <a:solidFill>
            <a:srgbClr val="FFFFFF"/>
          </a:solidFill>
          <a:ln w="12700">
            <a:solidFill>
              <a:srgbClr val="C9D3DC"/>
            </a:solidFill>
          </a:ln>
        </p:spPr>
        <p:txBody>
          <a:bodyPr rtlCol="0" anchor="ctr"/>
          <a:lstStyle/>
          <a:p>
            <a:pPr algn="ctr"/>
          </a:p>
        </p:txBody>
      </p:sp>
      <p:sp>
        <p:nvSpPr>
          <p:cNvPr id="38" name="Rectangle 37"/>
          <p:cNvSpPr/>
          <p:nvPr/>
        </p:nvSpPr>
        <p:spPr>
          <a:xfrm>
            <a:off x="6153912" y="2103120"/>
            <a:ext cx="2606040" cy="54864"/>
          </a:xfrm>
          <a:prstGeom prst="rect">
            <a:avLst/>
          </a:prstGeom>
          <a:solidFill>
            <a:srgbClr val="1D5FA8"/>
          </a:solidFill>
          <a:ln>
            <a:noFill/>
          </a:ln>
        </p:spPr>
        <p:txBody>
          <a:bodyPr rtlCol="0" anchor="ctr"/>
          <a:lstStyle/>
          <a:p>
            <a:pPr algn="ctr"/>
          </a:p>
        </p:txBody>
      </p:sp>
      <p:sp>
        <p:nvSpPr>
          <p:cNvPr id="39" name="TextBox 38"/>
          <p:cNvSpPr txBox="1"/>
          <p:nvPr/>
        </p:nvSpPr>
        <p:spPr>
          <a:xfrm>
            <a:off x="6318504" y="2249424"/>
            <a:ext cx="1097280" cy="420624"/>
          </a:xfrm>
          <a:prstGeom prst="rect">
            <a:avLst/>
          </a:prstGeom>
          <a:noFill/>
        </p:spPr>
        <p:txBody>
          <a:bodyPr wrap="square">
            <a:spAutoFit/>
          </a:bodyPr>
          <a:lstStyle/>
          <a:p>
            <a:pPr algn="l"/>
            <a:r>
              <a:rPr sz="2800" b="1">
                <a:solidFill>
                  <a:srgbClr val="1D5FA8"/>
                </a:solidFill>
                <a:latin typeface="Consolas" panose="020B0609020204030204"/>
                <a:ea typeface="Noto Sans SC" panose="020B0200000000000000" charset="-122"/>
                <a:cs typeface="Noto Sans SC" panose="020B0200000000000000" charset="-122"/>
              </a:rPr>
              <a:t>03</a:t>
            </a:r>
            <a:endParaRPr sz="2800" b="1">
              <a:solidFill>
                <a:srgbClr val="1D5FA8"/>
              </a:solidFill>
              <a:latin typeface="Consolas" panose="020B0609020204030204"/>
              <a:ea typeface="Noto Sans SC" panose="020B0200000000000000" charset="-122"/>
              <a:cs typeface="Noto Sans SC" panose="020B0200000000000000" charset="-122"/>
            </a:endParaRPr>
          </a:p>
        </p:txBody>
      </p:sp>
      <p:sp>
        <p:nvSpPr>
          <p:cNvPr id="40" name="TextBox 39"/>
          <p:cNvSpPr txBox="1"/>
          <p:nvPr/>
        </p:nvSpPr>
        <p:spPr>
          <a:xfrm>
            <a:off x="7123176" y="2340864"/>
            <a:ext cx="1600200" cy="344805"/>
          </a:xfrm>
          <a:prstGeom prst="rect">
            <a:avLst/>
          </a:prstGeom>
          <a:noFill/>
        </p:spPr>
        <p:txBody>
          <a:bodyPr wrap="square">
            <a:spAutoFit/>
          </a:bodyPr>
          <a:lstStyle/>
          <a:p>
            <a:pPr algn="l"/>
            <a:r>
              <a:rPr lang="zh-CN" sz="1650" b="1">
                <a:solidFill>
                  <a:srgbClr val="12304F"/>
                </a:solidFill>
                <a:latin typeface="Noto Sans SC" panose="020B0200000000000000" charset="-122"/>
                <a:ea typeface="Noto Sans SC" panose="020B0200000000000000" charset="-122"/>
                <a:cs typeface="Noto Sans SC" panose="020B0200000000000000" charset="-122"/>
              </a:rPr>
              <a:t>设计与</a:t>
            </a:r>
            <a:r>
              <a:rPr sz="1650" b="1">
                <a:solidFill>
                  <a:srgbClr val="12304F"/>
                </a:solidFill>
                <a:latin typeface="Noto Sans SC" panose="020B0200000000000000" charset="-122"/>
                <a:ea typeface="Noto Sans SC" panose="020B0200000000000000" charset="-122"/>
                <a:cs typeface="Noto Sans SC" panose="020B0200000000000000" charset="-122"/>
              </a:rPr>
              <a:t>装配</a:t>
            </a:r>
            <a:endParaRPr sz="165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41" name="TextBox 40"/>
          <p:cNvSpPr txBox="1"/>
          <p:nvPr/>
        </p:nvSpPr>
        <p:spPr>
          <a:xfrm>
            <a:off x="6318504" y="2798064"/>
            <a:ext cx="2286000" cy="914400"/>
          </a:xfrm>
          <a:prstGeom prst="rect">
            <a:avLst/>
          </a:prstGeom>
          <a:noFill/>
        </p:spPr>
        <p:txBody>
          <a:bodyPr wrap="square">
            <a:spAutoFit/>
          </a:bodyPr>
          <a:lstStyle/>
          <a:p>
            <a:pPr algn="l">
              <a:spcBef>
                <a:spcPts val="200"/>
              </a:spcBef>
              <a:spcAft>
                <a:spcPts val="200"/>
              </a:spcAft>
            </a:pPr>
            <a:r>
              <a:rPr sz="1150" b="0">
                <a:solidFill>
                  <a:srgbClr val="23384C"/>
                </a:solidFill>
                <a:latin typeface="Noto Sans SC" panose="020B0200000000000000" charset="-122"/>
                <a:ea typeface="Noto Sans SC" panose="020B0200000000000000" charset="-122"/>
                <a:cs typeface="Noto Sans SC" panose="020B0200000000000000" charset="-122"/>
              </a:rPr>
              <a:t>组件与 Joint · 外部参考 · 自由度与运动范围</a:t>
            </a:r>
            <a:endParaRPr sz="11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42" name="Rectangle 41"/>
          <p:cNvSpPr/>
          <p:nvPr/>
        </p:nvSpPr>
        <p:spPr>
          <a:xfrm>
            <a:off x="6318504" y="3584448"/>
            <a:ext cx="2276856" cy="9144"/>
          </a:xfrm>
          <a:prstGeom prst="rect">
            <a:avLst/>
          </a:prstGeom>
          <a:solidFill>
            <a:srgbClr val="C9D3DC"/>
          </a:solidFill>
          <a:ln>
            <a:noFill/>
          </a:ln>
        </p:spPr>
        <p:txBody>
          <a:bodyPr rtlCol="0" anchor="ctr"/>
          <a:lstStyle/>
          <a:p>
            <a:pPr algn="ctr"/>
          </a:p>
        </p:txBody>
      </p:sp>
      <p:sp>
        <p:nvSpPr>
          <p:cNvPr id="43" name="TextBox 42"/>
          <p:cNvSpPr txBox="1"/>
          <p:nvPr/>
        </p:nvSpPr>
        <p:spPr>
          <a:xfrm>
            <a:off x="6318504" y="3675887"/>
            <a:ext cx="1463040" cy="219456"/>
          </a:xfrm>
          <a:prstGeom prst="rect">
            <a:avLst/>
          </a:prstGeom>
          <a:noFill/>
        </p:spPr>
        <p:txBody>
          <a:bodyPr wrap="square">
            <a:spAutoFit/>
          </a:bodyPr>
          <a:lstStyle/>
          <a:p>
            <a:pPr algn="l"/>
            <a:r>
              <a:rPr sz="1050" b="0">
                <a:solidFill>
                  <a:srgbClr val="1D5FA8"/>
                </a:solidFill>
                <a:latin typeface="Consolas" panose="020B0609020204030204"/>
                <a:ea typeface="Noto Sans SC" panose="020B0200000000000000" charset="-122"/>
                <a:cs typeface="Noto Sans SC" panose="020B0200000000000000" charset="-122"/>
              </a:rPr>
              <a:t>案例：机械臂</a:t>
            </a:r>
            <a:endParaRPr sz="1050" b="0">
              <a:solidFill>
                <a:srgbClr val="1D5FA8"/>
              </a:solidFill>
              <a:latin typeface="Consolas" panose="020B0609020204030204"/>
              <a:ea typeface="Noto Sans SC" panose="020B0200000000000000" charset="-122"/>
              <a:cs typeface="Noto Sans SC" panose="020B0200000000000000" charset="-122"/>
            </a:endParaRPr>
          </a:p>
        </p:txBody>
      </p:sp>
      <p:sp>
        <p:nvSpPr>
          <p:cNvPr id="44" name="TextBox 43"/>
          <p:cNvSpPr txBox="1"/>
          <p:nvPr/>
        </p:nvSpPr>
        <p:spPr>
          <a:xfrm>
            <a:off x="7754112" y="3675887"/>
            <a:ext cx="868680" cy="219456"/>
          </a:xfrm>
          <a:prstGeom prst="rect">
            <a:avLst/>
          </a:prstGeom>
          <a:noFill/>
        </p:spPr>
        <p:txBody>
          <a:bodyPr wrap="square">
            <a:spAutoFit/>
          </a:bodyPr>
          <a:lstStyle/>
          <a:p>
            <a:pPr algn="r"/>
            <a:r>
              <a:rPr sz="1050" b="0">
                <a:solidFill>
                  <a:srgbClr val="6B7B8A"/>
                </a:solidFill>
                <a:latin typeface="Consolas" panose="020B0609020204030204"/>
                <a:ea typeface="Noto Sans SC" panose="020B0200000000000000" charset="-122"/>
                <a:cs typeface="Noto Sans SC" panose="020B0200000000000000" charset="-122"/>
              </a:rPr>
              <a:t>4 个方法</a:t>
            </a:r>
            <a:endParaRPr sz="1050" b="0">
              <a:solidFill>
                <a:srgbClr val="6B7B8A"/>
              </a:solidFill>
              <a:latin typeface="Consolas" panose="020B0609020204030204"/>
              <a:ea typeface="Noto Sans SC" panose="020B0200000000000000" charset="-122"/>
              <a:cs typeface="Noto Sans SC" panose="020B0200000000000000" charset="-122"/>
            </a:endParaRPr>
          </a:p>
        </p:txBody>
      </p:sp>
      <p:sp>
        <p:nvSpPr>
          <p:cNvPr id="45" name="Rectangle 44"/>
          <p:cNvSpPr/>
          <p:nvPr/>
        </p:nvSpPr>
        <p:spPr>
          <a:xfrm>
            <a:off x="6318504" y="3968496"/>
            <a:ext cx="2276856" cy="9144"/>
          </a:xfrm>
          <a:prstGeom prst="rect">
            <a:avLst/>
          </a:prstGeom>
          <a:solidFill>
            <a:srgbClr val="C9D3DC"/>
          </a:solidFill>
          <a:ln>
            <a:noFill/>
          </a:ln>
        </p:spPr>
        <p:txBody>
          <a:bodyPr rtlCol="0" anchor="ctr"/>
          <a:lstStyle/>
          <a:p>
            <a:pPr algn="ctr"/>
          </a:p>
        </p:txBody>
      </p:sp>
      <p:sp>
        <p:nvSpPr>
          <p:cNvPr id="46" name="TextBox 45"/>
          <p:cNvSpPr txBox="1"/>
          <p:nvPr/>
        </p:nvSpPr>
        <p:spPr>
          <a:xfrm>
            <a:off x="6318504" y="4059936"/>
            <a:ext cx="2286000" cy="219456"/>
          </a:xfrm>
          <a:prstGeom prst="rect">
            <a:avLst/>
          </a:prstGeom>
          <a:noFill/>
        </p:spPr>
        <p:txBody>
          <a:bodyPr wrap="square">
            <a:spAutoFit/>
          </a:bodyPr>
          <a:lstStyle/>
          <a:p>
            <a:pPr algn="l"/>
            <a:r>
              <a:rPr sz="950" b="0">
                <a:solidFill>
                  <a:srgbClr val="6B7B8A"/>
                </a:solidFill>
                <a:latin typeface="Noto Sans SC" panose="020B0200000000000000" charset="-122"/>
                <a:ea typeface="Noto Sans SC" panose="020B0200000000000000" charset="-122"/>
                <a:cs typeface="Noto Sans SC" panose="020B0200000000000000" charset="-122"/>
              </a:rPr>
              <a:t>可迁移到任意结构件</a:t>
            </a:r>
            <a:endParaRPr sz="9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47" name="Rectangle 46"/>
          <p:cNvSpPr/>
          <p:nvPr/>
        </p:nvSpPr>
        <p:spPr>
          <a:xfrm>
            <a:off x="8933688" y="2103120"/>
            <a:ext cx="2606040" cy="2377440"/>
          </a:xfrm>
          <a:prstGeom prst="rect">
            <a:avLst/>
          </a:prstGeom>
          <a:solidFill>
            <a:srgbClr val="FFFFFF"/>
          </a:solidFill>
          <a:ln w="12700">
            <a:solidFill>
              <a:srgbClr val="C9D3DC"/>
            </a:solidFill>
          </a:ln>
        </p:spPr>
        <p:txBody>
          <a:bodyPr rtlCol="0" anchor="ctr"/>
          <a:lstStyle/>
          <a:p>
            <a:pPr algn="ctr"/>
          </a:p>
        </p:txBody>
      </p:sp>
      <p:sp>
        <p:nvSpPr>
          <p:cNvPr id="48" name="Rectangle 47"/>
          <p:cNvSpPr/>
          <p:nvPr/>
        </p:nvSpPr>
        <p:spPr>
          <a:xfrm>
            <a:off x="8933688" y="2103120"/>
            <a:ext cx="2606040" cy="54864"/>
          </a:xfrm>
          <a:prstGeom prst="rect">
            <a:avLst/>
          </a:prstGeom>
          <a:solidFill>
            <a:srgbClr val="6A4C93"/>
          </a:solidFill>
          <a:ln>
            <a:noFill/>
          </a:ln>
        </p:spPr>
        <p:txBody>
          <a:bodyPr rtlCol="0" anchor="ctr"/>
          <a:lstStyle/>
          <a:p>
            <a:pPr algn="ctr"/>
          </a:p>
        </p:txBody>
      </p:sp>
      <p:sp>
        <p:nvSpPr>
          <p:cNvPr id="49" name="TextBox 48"/>
          <p:cNvSpPr txBox="1"/>
          <p:nvPr/>
        </p:nvSpPr>
        <p:spPr>
          <a:xfrm>
            <a:off x="9098280" y="2249424"/>
            <a:ext cx="1097280" cy="420624"/>
          </a:xfrm>
          <a:prstGeom prst="rect">
            <a:avLst/>
          </a:prstGeom>
          <a:noFill/>
        </p:spPr>
        <p:txBody>
          <a:bodyPr wrap="square">
            <a:spAutoFit/>
          </a:bodyPr>
          <a:lstStyle/>
          <a:p>
            <a:pPr algn="l"/>
            <a:r>
              <a:rPr sz="2800" b="1">
                <a:solidFill>
                  <a:srgbClr val="6A4C93"/>
                </a:solidFill>
                <a:latin typeface="Consolas" panose="020B0609020204030204"/>
                <a:ea typeface="Noto Sans SC" panose="020B0200000000000000" charset="-122"/>
                <a:cs typeface="Noto Sans SC" panose="020B0200000000000000" charset="-122"/>
              </a:rPr>
              <a:t>04</a:t>
            </a:r>
            <a:endParaRPr sz="2800" b="1">
              <a:solidFill>
                <a:srgbClr val="6A4C93"/>
              </a:solidFill>
              <a:latin typeface="Consolas" panose="020B0609020204030204"/>
              <a:ea typeface="Noto Sans SC" panose="020B0200000000000000" charset="-122"/>
              <a:cs typeface="Noto Sans SC" panose="020B0200000000000000" charset="-122"/>
            </a:endParaRPr>
          </a:p>
        </p:txBody>
      </p:sp>
      <p:sp>
        <p:nvSpPr>
          <p:cNvPr id="50" name="TextBox 49"/>
          <p:cNvSpPr txBox="1"/>
          <p:nvPr/>
        </p:nvSpPr>
        <p:spPr>
          <a:xfrm>
            <a:off x="9902952" y="2340864"/>
            <a:ext cx="1600200" cy="344805"/>
          </a:xfrm>
          <a:prstGeom prst="rect">
            <a:avLst/>
          </a:prstGeom>
          <a:noFill/>
        </p:spPr>
        <p:txBody>
          <a:bodyPr wrap="square">
            <a:spAutoFit/>
          </a:bodyPr>
          <a:lstStyle/>
          <a:p>
            <a:pPr algn="l"/>
            <a:r>
              <a:rPr sz="1650" b="1">
                <a:solidFill>
                  <a:srgbClr val="12304F"/>
                </a:solidFill>
                <a:latin typeface="Noto Sans SC" panose="020B0200000000000000" charset="-122"/>
                <a:ea typeface="Noto Sans SC" panose="020B0200000000000000" charset="-122"/>
                <a:cs typeface="Noto Sans SC" panose="020B0200000000000000" charset="-122"/>
              </a:rPr>
              <a:t>加工</a:t>
            </a:r>
            <a:r>
              <a:rPr lang="zh-CN" sz="1650" b="1">
                <a:solidFill>
                  <a:srgbClr val="12304F"/>
                </a:solidFill>
                <a:latin typeface="Noto Sans SC" panose="020B0200000000000000" charset="-122"/>
                <a:ea typeface="Noto Sans SC" panose="020B0200000000000000" charset="-122"/>
                <a:cs typeface="Noto Sans SC" panose="020B0200000000000000" charset="-122"/>
              </a:rPr>
              <a:t>和制造</a:t>
            </a:r>
            <a:endParaRPr lang="zh-CN" sz="165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51" name="TextBox 50"/>
          <p:cNvSpPr txBox="1"/>
          <p:nvPr/>
        </p:nvSpPr>
        <p:spPr>
          <a:xfrm>
            <a:off x="9098280" y="2798064"/>
            <a:ext cx="2286000" cy="496570"/>
          </a:xfrm>
          <a:prstGeom prst="rect">
            <a:avLst/>
          </a:prstGeom>
          <a:noFill/>
        </p:spPr>
        <p:txBody>
          <a:bodyPr wrap="square">
            <a:spAutoFit/>
          </a:bodyPr>
          <a:lstStyle/>
          <a:p>
            <a:pPr algn="l">
              <a:spcBef>
                <a:spcPts val="200"/>
              </a:spcBef>
              <a:spcAft>
                <a:spcPts val="200"/>
              </a:spcAft>
            </a:pPr>
            <a:r>
              <a:rPr lang="en-US" sz="1150" b="0">
                <a:solidFill>
                  <a:srgbClr val="23384C"/>
                </a:solidFill>
                <a:latin typeface="Noto Sans SC" panose="020B0200000000000000" charset="-122"/>
                <a:ea typeface="Noto Sans SC" panose="020B0200000000000000" charset="-122"/>
                <a:cs typeface="Noto Sans SC" panose="020B0200000000000000" charset="-122"/>
              </a:rPr>
              <a:t>bambu Studio</a:t>
            </a:r>
            <a:r>
              <a:rPr lang="zh-CN" altLang="en-US" sz="1150" b="0">
                <a:solidFill>
                  <a:srgbClr val="23384C"/>
                </a:solidFill>
                <a:latin typeface="Noto Sans SC" panose="020B0200000000000000" charset="-122"/>
                <a:ea typeface="Noto Sans SC" panose="020B0200000000000000" charset="-122"/>
                <a:cs typeface="Noto Sans SC" panose="020B0200000000000000" charset="-122"/>
              </a:rPr>
              <a:t>基础操作教学</a:t>
            </a:r>
            <a:endParaRPr lang="zh-CN" altLang="en-US" sz="1150" b="0">
              <a:solidFill>
                <a:srgbClr val="23384C"/>
              </a:solidFill>
              <a:latin typeface="Noto Sans SC" panose="020B0200000000000000" charset="-122"/>
              <a:ea typeface="Noto Sans SC" panose="020B0200000000000000" charset="-122"/>
              <a:cs typeface="Noto Sans SC" panose="020B0200000000000000" charset="-122"/>
            </a:endParaRPr>
          </a:p>
          <a:p>
            <a:pPr algn="l">
              <a:spcBef>
                <a:spcPts val="200"/>
              </a:spcBef>
              <a:spcAft>
                <a:spcPts val="200"/>
              </a:spcAft>
            </a:pPr>
            <a:r>
              <a:rPr lang="en-US" altLang="zh-CN" sz="1150" b="0">
                <a:solidFill>
                  <a:srgbClr val="23384C"/>
                </a:solidFill>
                <a:latin typeface="Noto Sans SC" panose="020B0200000000000000" charset="-122"/>
                <a:ea typeface="Noto Sans SC" panose="020B0200000000000000" charset="-122"/>
                <a:cs typeface="Noto Sans SC" panose="020B0200000000000000" charset="-122"/>
              </a:rPr>
              <a:t>3D</a:t>
            </a:r>
            <a:r>
              <a:rPr lang="zh-CN" altLang="en-US" sz="1150" b="0">
                <a:solidFill>
                  <a:srgbClr val="23384C"/>
                </a:solidFill>
                <a:latin typeface="Noto Sans SC" panose="020B0200000000000000" charset="-122"/>
                <a:ea typeface="Noto Sans SC" panose="020B0200000000000000" charset="-122"/>
                <a:cs typeface="Noto Sans SC" panose="020B0200000000000000" charset="-122"/>
              </a:rPr>
              <a:t>打印参数设置与调整</a:t>
            </a:r>
            <a:endParaRPr lang="en-US" altLang="zh-CN" sz="11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52" name="Rectangle 51"/>
          <p:cNvSpPr/>
          <p:nvPr/>
        </p:nvSpPr>
        <p:spPr>
          <a:xfrm>
            <a:off x="9098280" y="3584448"/>
            <a:ext cx="2276856" cy="9144"/>
          </a:xfrm>
          <a:prstGeom prst="rect">
            <a:avLst/>
          </a:prstGeom>
          <a:solidFill>
            <a:srgbClr val="C9D3DC"/>
          </a:solidFill>
          <a:ln>
            <a:noFill/>
          </a:ln>
        </p:spPr>
        <p:txBody>
          <a:bodyPr rtlCol="0" anchor="ctr"/>
          <a:lstStyle/>
          <a:p>
            <a:pPr algn="ctr"/>
          </a:p>
        </p:txBody>
      </p:sp>
      <p:sp>
        <p:nvSpPr>
          <p:cNvPr id="53" name="TextBox 52"/>
          <p:cNvSpPr txBox="1"/>
          <p:nvPr/>
        </p:nvSpPr>
        <p:spPr>
          <a:xfrm>
            <a:off x="9098280" y="3675887"/>
            <a:ext cx="1463040" cy="219456"/>
          </a:xfrm>
          <a:prstGeom prst="rect">
            <a:avLst/>
          </a:prstGeom>
          <a:noFill/>
        </p:spPr>
        <p:txBody>
          <a:bodyPr wrap="square">
            <a:spAutoFit/>
          </a:bodyPr>
          <a:lstStyle/>
          <a:p>
            <a:pPr algn="l"/>
            <a:r>
              <a:rPr sz="1050" b="0">
                <a:solidFill>
                  <a:srgbClr val="6A4C93"/>
                </a:solidFill>
                <a:latin typeface="Consolas" panose="020B0609020204030204"/>
                <a:ea typeface="Noto Sans SC" panose="020B0200000000000000" charset="-122"/>
                <a:cs typeface="Noto Sans SC" panose="020B0200000000000000" charset="-122"/>
              </a:rPr>
              <a:t>案例：整车零件</a:t>
            </a:r>
            <a:endParaRPr sz="1050" b="0">
              <a:solidFill>
                <a:srgbClr val="6A4C93"/>
              </a:solidFill>
              <a:latin typeface="Consolas" panose="020B0609020204030204"/>
              <a:ea typeface="Noto Sans SC" panose="020B0200000000000000" charset="-122"/>
              <a:cs typeface="Noto Sans SC" panose="020B0200000000000000" charset="-122"/>
            </a:endParaRPr>
          </a:p>
        </p:txBody>
      </p:sp>
      <p:sp>
        <p:nvSpPr>
          <p:cNvPr id="54" name="TextBox 53"/>
          <p:cNvSpPr txBox="1"/>
          <p:nvPr/>
        </p:nvSpPr>
        <p:spPr>
          <a:xfrm>
            <a:off x="10533888" y="3675887"/>
            <a:ext cx="868680" cy="219456"/>
          </a:xfrm>
          <a:prstGeom prst="rect">
            <a:avLst/>
          </a:prstGeom>
          <a:noFill/>
        </p:spPr>
        <p:txBody>
          <a:bodyPr wrap="square">
            <a:spAutoFit/>
          </a:bodyPr>
          <a:lstStyle/>
          <a:p>
            <a:pPr algn="r"/>
            <a:r>
              <a:rPr sz="1050" b="0">
                <a:solidFill>
                  <a:srgbClr val="6B7B8A"/>
                </a:solidFill>
                <a:latin typeface="Consolas" panose="020B0609020204030204"/>
                <a:ea typeface="Noto Sans SC" panose="020B0200000000000000" charset="-122"/>
                <a:cs typeface="Noto Sans SC" panose="020B0200000000000000" charset="-122"/>
              </a:rPr>
              <a:t>6 个方法</a:t>
            </a:r>
            <a:endParaRPr sz="1050" b="0">
              <a:solidFill>
                <a:srgbClr val="6B7B8A"/>
              </a:solidFill>
              <a:latin typeface="Consolas" panose="020B0609020204030204"/>
              <a:ea typeface="Noto Sans SC" panose="020B0200000000000000" charset="-122"/>
              <a:cs typeface="Noto Sans SC" panose="020B0200000000000000" charset="-122"/>
            </a:endParaRPr>
          </a:p>
        </p:txBody>
      </p:sp>
      <p:sp>
        <p:nvSpPr>
          <p:cNvPr id="55" name="Rectangle 54"/>
          <p:cNvSpPr/>
          <p:nvPr/>
        </p:nvSpPr>
        <p:spPr>
          <a:xfrm>
            <a:off x="9098280" y="3968496"/>
            <a:ext cx="2276856" cy="9144"/>
          </a:xfrm>
          <a:prstGeom prst="rect">
            <a:avLst/>
          </a:prstGeom>
          <a:solidFill>
            <a:srgbClr val="C9D3DC"/>
          </a:solidFill>
          <a:ln>
            <a:noFill/>
          </a:ln>
        </p:spPr>
        <p:txBody>
          <a:bodyPr rtlCol="0" anchor="ctr"/>
          <a:lstStyle/>
          <a:p>
            <a:pPr algn="ctr"/>
          </a:p>
        </p:txBody>
      </p:sp>
      <p:sp>
        <p:nvSpPr>
          <p:cNvPr id="56" name="TextBox 55"/>
          <p:cNvSpPr txBox="1"/>
          <p:nvPr/>
        </p:nvSpPr>
        <p:spPr>
          <a:xfrm>
            <a:off x="9098280" y="4059936"/>
            <a:ext cx="2286000" cy="219456"/>
          </a:xfrm>
          <a:prstGeom prst="rect">
            <a:avLst/>
          </a:prstGeom>
          <a:noFill/>
        </p:spPr>
        <p:txBody>
          <a:bodyPr wrap="square">
            <a:spAutoFit/>
          </a:bodyPr>
          <a:lstStyle/>
          <a:p>
            <a:pPr algn="l"/>
            <a:r>
              <a:rPr sz="950" b="0">
                <a:solidFill>
                  <a:srgbClr val="6B7B8A"/>
                </a:solidFill>
                <a:latin typeface="Noto Sans SC" panose="020B0200000000000000" charset="-122"/>
                <a:ea typeface="Noto Sans SC" panose="020B0200000000000000" charset="-122"/>
                <a:cs typeface="Noto Sans SC" panose="020B0200000000000000" charset="-122"/>
              </a:rPr>
              <a:t>可迁移到任意结构件</a:t>
            </a:r>
            <a:endParaRPr sz="9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57" name="Rectangle 56"/>
          <p:cNvSpPr/>
          <p:nvPr/>
        </p:nvSpPr>
        <p:spPr>
          <a:xfrm>
            <a:off x="594360" y="4663440"/>
            <a:ext cx="11002975" cy="502920"/>
          </a:xfrm>
          <a:prstGeom prst="rect">
            <a:avLst/>
          </a:prstGeom>
          <a:solidFill>
            <a:srgbClr val="FFFFFF"/>
          </a:solidFill>
          <a:ln w="12700">
            <a:solidFill>
              <a:srgbClr val="C9D3DC"/>
            </a:solidFill>
          </a:ln>
        </p:spPr>
        <p:txBody>
          <a:bodyPr rtlCol="0" anchor="ctr"/>
          <a:lstStyle/>
          <a:p>
            <a:pPr algn="ctr"/>
          </a:p>
        </p:txBody>
      </p:sp>
      <p:sp>
        <p:nvSpPr>
          <p:cNvPr id="58" name="TextBox 57"/>
          <p:cNvSpPr txBox="1"/>
          <p:nvPr/>
        </p:nvSpPr>
        <p:spPr>
          <a:xfrm>
            <a:off x="594360" y="4663440"/>
            <a:ext cx="1571853" cy="502920"/>
          </a:xfrm>
          <a:prstGeom prst="rect">
            <a:avLst/>
          </a:prstGeom>
          <a:noFill/>
        </p:spPr>
        <p:txBody>
          <a:bodyPr wrap="square" anchor="ctr">
            <a:spAutoFit/>
          </a:bodyPr>
          <a:lstStyle/>
          <a:p>
            <a:pPr algn="ctr"/>
            <a:r>
              <a:rPr sz="1150" b="0">
                <a:solidFill>
                  <a:srgbClr val="12304F"/>
                </a:solidFill>
                <a:latin typeface="Noto Sans SC" panose="020B0200000000000000" charset="-122"/>
                <a:ea typeface="Noto Sans SC" panose="020B0200000000000000" charset="-122"/>
                <a:cs typeface="Noto Sans SC" panose="020B0200000000000000" charset="-122"/>
              </a:rPr>
              <a:t>提出需求</a:t>
            </a:r>
            <a:endParaRPr sz="1150" b="0">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59" name="Right Arrow 58"/>
          <p:cNvSpPr/>
          <p:nvPr/>
        </p:nvSpPr>
        <p:spPr>
          <a:xfrm>
            <a:off x="1983333" y="4846320"/>
            <a:ext cx="146304" cy="137160"/>
          </a:xfrm>
          <a:prstGeom prst="rightArrow">
            <a:avLst/>
          </a:prstGeom>
          <a:solidFill>
            <a:srgbClr val="C9D3DC"/>
          </a:solidFill>
          <a:ln>
            <a:noFill/>
          </a:ln>
        </p:spPr>
        <p:txBody>
          <a:bodyPr rtlCol="0" anchor="ctr"/>
          <a:lstStyle/>
          <a:p>
            <a:pPr algn="ctr"/>
          </a:p>
        </p:txBody>
      </p:sp>
      <p:sp>
        <p:nvSpPr>
          <p:cNvPr id="60" name="TextBox 59"/>
          <p:cNvSpPr txBox="1"/>
          <p:nvPr/>
        </p:nvSpPr>
        <p:spPr>
          <a:xfrm>
            <a:off x="2166213" y="4663440"/>
            <a:ext cx="1571853" cy="502920"/>
          </a:xfrm>
          <a:prstGeom prst="rect">
            <a:avLst/>
          </a:prstGeom>
          <a:noFill/>
        </p:spPr>
        <p:txBody>
          <a:bodyPr wrap="square" anchor="ctr">
            <a:spAutoFit/>
          </a:bodyPr>
          <a:lstStyle/>
          <a:p>
            <a:pPr algn="ctr"/>
            <a:r>
              <a:rPr sz="1150" b="0">
                <a:solidFill>
                  <a:srgbClr val="12304F"/>
                </a:solidFill>
                <a:latin typeface="Noto Sans SC" panose="020B0200000000000000" charset="-122"/>
                <a:ea typeface="Noto Sans SC" panose="020B0200000000000000" charset="-122"/>
                <a:cs typeface="Noto Sans SC" panose="020B0200000000000000" charset="-122"/>
              </a:rPr>
              <a:t>定约束</a:t>
            </a:r>
            <a:endParaRPr sz="1150" b="0">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61" name="Right Arrow 60"/>
          <p:cNvSpPr/>
          <p:nvPr/>
        </p:nvSpPr>
        <p:spPr>
          <a:xfrm>
            <a:off x="3555187" y="4846320"/>
            <a:ext cx="146304" cy="137160"/>
          </a:xfrm>
          <a:prstGeom prst="rightArrow">
            <a:avLst/>
          </a:prstGeom>
          <a:solidFill>
            <a:srgbClr val="C9D3DC"/>
          </a:solidFill>
          <a:ln>
            <a:noFill/>
          </a:ln>
        </p:spPr>
        <p:txBody>
          <a:bodyPr rtlCol="0" anchor="ctr"/>
          <a:lstStyle/>
          <a:p>
            <a:pPr algn="ctr"/>
          </a:p>
        </p:txBody>
      </p:sp>
      <p:sp>
        <p:nvSpPr>
          <p:cNvPr id="62" name="TextBox 61"/>
          <p:cNvSpPr txBox="1"/>
          <p:nvPr/>
        </p:nvSpPr>
        <p:spPr>
          <a:xfrm>
            <a:off x="3738067" y="4663440"/>
            <a:ext cx="1571853" cy="502920"/>
          </a:xfrm>
          <a:prstGeom prst="rect">
            <a:avLst/>
          </a:prstGeom>
          <a:noFill/>
        </p:spPr>
        <p:txBody>
          <a:bodyPr wrap="square" anchor="ctr">
            <a:spAutoFit/>
          </a:bodyPr>
          <a:lstStyle/>
          <a:p>
            <a:pPr algn="ctr"/>
            <a:r>
              <a:rPr sz="1150" b="0">
                <a:solidFill>
                  <a:srgbClr val="12304F"/>
                </a:solidFill>
                <a:latin typeface="Noto Sans SC" panose="020B0200000000000000" charset="-122"/>
                <a:ea typeface="Noto Sans SC" panose="020B0200000000000000" charset="-122"/>
                <a:cs typeface="Noto Sans SC" panose="020B0200000000000000" charset="-122"/>
              </a:rPr>
              <a:t>布局与骨架</a:t>
            </a:r>
            <a:endParaRPr sz="1150" b="0">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63" name="Right Arrow 62"/>
          <p:cNvSpPr/>
          <p:nvPr/>
        </p:nvSpPr>
        <p:spPr>
          <a:xfrm>
            <a:off x="5127040" y="4846320"/>
            <a:ext cx="146304" cy="137160"/>
          </a:xfrm>
          <a:prstGeom prst="rightArrow">
            <a:avLst/>
          </a:prstGeom>
          <a:solidFill>
            <a:srgbClr val="C9D3DC"/>
          </a:solidFill>
          <a:ln>
            <a:noFill/>
          </a:ln>
        </p:spPr>
        <p:txBody>
          <a:bodyPr rtlCol="0" anchor="ctr"/>
          <a:lstStyle/>
          <a:p>
            <a:pPr algn="ctr"/>
          </a:p>
        </p:txBody>
      </p:sp>
      <p:sp>
        <p:nvSpPr>
          <p:cNvPr id="64" name="TextBox 63"/>
          <p:cNvSpPr txBox="1"/>
          <p:nvPr/>
        </p:nvSpPr>
        <p:spPr>
          <a:xfrm>
            <a:off x="5309920" y="4663440"/>
            <a:ext cx="1571853" cy="502920"/>
          </a:xfrm>
          <a:prstGeom prst="rect">
            <a:avLst/>
          </a:prstGeom>
          <a:noFill/>
        </p:spPr>
        <p:txBody>
          <a:bodyPr wrap="square" anchor="ctr">
            <a:spAutoFit/>
          </a:bodyPr>
          <a:lstStyle/>
          <a:p>
            <a:pPr algn="ctr"/>
            <a:r>
              <a:rPr sz="1150" b="0">
                <a:solidFill>
                  <a:srgbClr val="12304F"/>
                </a:solidFill>
                <a:latin typeface="Noto Sans SC" panose="020B0200000000000000" charset="-122"/>
                <a:ea typeface="Noto Sans SC" panose="020B0200000000000000" charset="-122"/>
                <a:cs typeface="Noto Sans SC" panose="020B0200000000000000" charset="-122"/>
              </a:rPr>
              <a:t>参数化建模</a:t>
            </a:r>
            <a:endParaRPr sz="1150" b="0">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65" name="Right Arrow 64"/>
          <p:cNvSpPr/>
          <p:nvPr/>
        </p:nvSpPr>
        <p:spPr>
          <a:xfrm>
            <a:off x="6698894" y="4846320"/>
            <a:ext cx="146304" cy="137160"/>
          </a:xfrm>
          <a:prstGeom prst="rightArrow">
            <a:avLst/>
          </a:prstGeom>
          <a:solidFill>
            <a:srgbClr val="C9D3DC"/>
          </a:solidFill>
          <a:ln>
            <a:noFill/>
          </a:ln>
        </p:spPr>
        <p:txBody>
          <a:bodyPr rtlCol="0" anchor="ctr"/>
          <a:lstStyle/>
          <a:p>
            <a:pPr algn="ctr"/>
          </a:p>
        </p:txBody>
      </p:sp>
      <p:sp>
        <p:nvSpPr>
          <p:cNvPr id="66" name="TextBox 65"/>
          <p:cNvSpPr txBox="1"/>
          <p:nvPr/>
        </p:nvSpPr>
        <p:spPr>
          <a:xfrm>
            <a:off x="6881774" y="4663440"/>
            <a:ext cx="1571853" cy="502920"/>
          </a:xfrm>
          <a:prstGeom prst="rect">
            <a:avLst/>
          </a:prstGeom>
          <a:noFill/>
        </p:spPr>
        <p:txBody>
          <a:bodyPr wrap="square" anchor="ctr">
            <a:spAutoFit/>
          </a:bodyPr>
          <a:lstStyle/>
          <a:p>
            <a:pPr algn="ctr"/>
            <a:r>
              <a:rPr sz="1150" b="0">
                <a:solidFill>
                  <a:srgbClr val="12304F"/>
                </a:solidFill>
                <a:latin typeface="Noto Sans SC" panose="020B0200000000000000" charset="-122"/>
                <a:ea typeface="Noto Sans SC" panose="020B0200000000000000" charset="-122"/>
                <a:cs typeface="Noto Sans SC" panose="020B0200000000000000" charset="-122"/>
              </a:rPr>
              <a:t>装配与校核</a:t>
            </a:r>
            <a:endParaRPr sz="1150" b="0">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67" name="Right Arrow 66"/>
          <p:cNvSpPr/>
          <p:nvPr/>
        </p:nvSpPr>
        <p:spPr>
          <a:xfrm>
            <a:off x="8270748" y="4846320"/>
            <a:ext cx="146304" cy="137160"/>
          </a:xfrm>
          <a:prstGeom prst="rightArrow">
            <a:avLst/>
          </a:prstGeom>
          <a:solidFill>
            <a:srgbClr val="C9D3DC"/>
          </a:solidFill>
          <a:ln>
            <a:noFill/>
          </a:ln>
        </p:spPr>
        <p:txBody>
          <a:bodyPr rtlCol="0" anchor="ctr"/>
          <a:lstStyle/>
          <a:p>
            <a:pPr algn="ctr"/>
          </a:p>
        </p:txBody>
      </p:sp>
      <p:sp>
        <p:nvSpPr>
          <p:cNvPr id="68" name="TextBox 67"/>
          <p:cNvSpPr txBox="1"/>
          <p:nvPr/>
        </p:nvSpPr>
        <p:spPr>
          <a:xfrm>
            <a:off x="8453628" y="4663440"/>
            <a:ext cx="1571853" cy="502920"/>
          </a:xfrm>
          <a:prstGeom prst="rect">
            <a:avLst/>
          </a:prstGeom>
          <a:noFill/>
        </p:spPr>
        <p:txBody>
          <a:bodyPr wrap="square" anchor="ctr">
            <a:spAutoFit/>
          </a:bodyPr>
          <a:lstStyle/>
          <a:p>
            <a:pPr algn="ctr"/>
            <a:r>
              <a:rPr sz="1150" b="0">
                <a:solidFill>
                  <a:srgbClr val="12304F"/>
                </a:solidFill>
                <a:latin typeface="Noto Sans SC" panose="020B0200000000000000" charset="-122"/>
                <a:ea typeface="Noto Sans SC" panose="020B0200000000000000" charset="-122"/>
                <a:cs typeface="Noto Sans SC" panose="020B0200000000000000" charset="-122"/>
              </a:rPr>
              <a:t>制造与验证</a:t>
            </a:r>
            <a:endParaRPr sz="1150" b="0">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69" name="Right Arrow 68"/>
          <p:cNvSpPr/>
          <p:nvPr/>
        </p:nvSpPr>
        <p:spPr>
          <a:xfrm>
            <a:off x="9842601" y="4846320"/>
            <a:ext cx="146304" cy="137160"/>
          </a:xfrm>
          <a:prstGeom prst="rightArrow">
            <a:avLst/>
          </a:prstGeom>
          <a:solidFill>
            <a:srgbClr val="C9D3DC"/>
          </a:solidFill>
          <a:ln>
            <a:noFill/>
          </a:ln>
        </p:spPr>
        <p:txBody>
          <a:bodyPr rtlCol="0" anchor="ctr"/>
          <a:lstStyle/>
          <a:p>
            <a:pPr algn="ctr"/>
          </a:p>
        </p:txBody>
      </p:sp>
      <p:sp>
        <p:nvSpPr>
          <p:cNvPr id="70" name="TextBox 69"/>
          <p:cNvSpPr txBox="1"/>
          <p:nvPr/>
        </p:nvSpPr>
        <p:spPr>
          <a:xfrm>
            <a:off x="10025481" y="4663440"/>
            <a:ext cx="1571853" cy="502920"/>
          </a:xfrm>
          <a:prstGeom prst="rect">
            <a:avLst/>
          </a:prstGeom>
          <a:noFill/>
        </p:spPr>
        <p:txBody>
          <a:bodyPr wrap="square" anchor="ctr">
            <a:spAutoFit/>
          </a:bodyPr>
          <a:lstStyle/>
          <a:p>
            <a:pPr algn="ctr"/>
            <a:r>
              <a:rPr sz="1150" b="0">
                <a:solidFill>
                  <a:srgbClr val="12304F"/>
                </a:solidFill>
                <a:latin typeface="Noto Sans SC" panose="020B0200000000000000" charset="-122"/>
                <a:ea typeface="Noto Sans SC" panose="020B0200000000000000" charset="-122"/>
                <a:cs typeface="Noto Sans SC" panose="020B0200000000000000" charset="-122"/>
              </a:rPr>
              <a:t>复盘</a:t>
            </a:r>
            <a:endParaRPr sz="1150" b="0">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72" name="Rounded Rectangle 71"/>
          <p:cNvSpPr/>
          <p:nvPr/>
        </p:nvSpPr>
        <p:spPr>
          <a:xfrm>
            <a:off x="594360" y="5504688"/>
            <a:ext cx="11002975" cy="420624"/>
          </a:xfrm>
          <a:prstGeom prst="roundRect">
            <a:avLst/>
          </a:prstGeom>
          <a:solidFill>
            <a:srgbClr val="EDF1F6"/>
          </a:solidFill>
          <a:ln w="12700">
            <a:solidFill>
              <a:srgbClr val="12304F"/>
            </a:solidFill>
          </a:ln>
        </p:spPr>
        <p:txBody>
          <a:bodyPr rtlCol="0" anchor="ctr"/>
          <a:lstStyle/>
          <a:p>
            <a:pPr algn="ctr"/>
          </a:p>
        </p:txBody>
      </p:sp>
      <p:sp>
        <p:nvSpPr>
          <p:cNvPr id="73" name="Rectangle 72"/>
          <p:cNvSpPr/>
          <p:nvPr/>
        </p:nvSpPr>
        <p:spPr>
          <a:xfrm>
            <a:off x="594360" y="5504688"/>
            <a:ext cx="50292" cy="420624"/>
          </a:xfrm>
          <a:prstGeom prst="rect">
            <a:avLst/>
          </a:prstGeom>
          <a:solidFill>
            <a:srgbClr val="12304F"/>
          </a:solidFill>
          <a:ln>
            <a:noFill/>
          </a:ln>
        </p:spPr>
        <p:txBody>
          <a:bodyPr rtlCol="0" anchor="ctr"/>
          <a:lstStyle/>
          <a:p>
            <a:pPr algn="ctr"/>
          </a:p>
        </p:txBody>
      </p:sp>
      <p:sp>
        <p:nvSpPr>
          <p:cNvPr id="74" name="TextBox 73"/>
          <p:cNvSpPr txBox="1"/>
          <p:nvPr/>
        </p:nvSpPr>
        <p:spPr>
          <a:xfrm>
            <a:off x="795528" y="5569268"/>
            <a:ext cx="10600639" cy="291465"/>
          </a:xfrm>
          <a:prstGeom prst="rect">
            <a:avLst/>
          </a:prstGeom>
          <a:noFill/>
        </p:spPr>
        <p:txBody>
          <a:bodyPr wrap="square" anchor="ctr">
            <a:spAutoFit/>
          </a:bodyPr>
          <a:lstStyle/>
          <a:p>
            <a:pPr algn="l"/>
            <a:r>
              <a:rPr sz="1300" b="1">
                <a:solidFill>
                  <a:srgbClr val="12304F"/>
                </a:solidFill>
                <a:latin typeface="Noto Sans SC" panose="020B0200000000000000" charset="-122"/>
                <a:ea typeface="Noto Sans SC" panose="020B0200000000000000" charset="-122"/>
                <a:cs typeface="Noto Sans SC" panose="020B0200000000000000" charset="-122"/>
              </a:rPr>
              <a:t>学会</a:t>
            </a:r>
            <a:r>
              <a:rPr lang="zh-CN" sz="1300" b="1">
                <a:solidFill>
                  <a:srgbClr val="12304F"/>
                </a:solidFill>
                <a:latin typeface="Noto Sans SC" panose="020B0200000000000000" charset="-122"/>
                <a:ea typeface="Noto Sans SC" panose="020B0200000000000000" charset="-122"/>
                <a:cs typeface="Noto Sans SC" panose="020B0200000000000000" charset="-122"/>
              </a:rPr>
              <a:t>怎么从零开始设计</a:t>
            </a:r>
            <a:r>
              <a:rPr lang="zh-CN" sz="1300" b="1">
                <a:solidFill>
                  <a:srgbClr val="12304F"/>
                </a:solidFill>
                <a:latin typeface="Noto Sans SC" panose="020B0200000000000000" charset="-122"/>
                <a:ea typeface="Noto Sans SC" panose="020B0200000000000000" charset="-122"/>
                <a:cs typeface="Noto Sans SC" panose="020B0200000000000000" charset="-122"/>
              </a:rPr>
              <a:t>制造</a:t>
            </a:r>
            <a:endParaRPr lang="zh-CN" sz="130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75" name="Rectangle 74"/>
          <p:cNvSpPr/>
          <p:nvPr/>
        </p:nvSpPr>
        <p:spPr>
          <a:xfrm>
            <a:off x="594360" y="6199632"/>
            <a:ext cx="11002975" cy="10972"/>
          </a:xfrm>
          <a:prstGeom prst="rect">
            <a:avLst/>
          </a:prstGeom>
          <a:solidFill>
            <a:srgbClr val="C9D3DC"/>
          </a:solidFill>
          <a:ln>
            <a:noFill/>
          </a:ln>
        </p:spPr>
        <p:txBody>
          <a:bodyPr rtlCol="0" anchor="ctr"/>
          <a:lstStyle/>
          <a:p>
            <a:pPr algn="ct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pic>
        <p:nvPicPr>
          <p:cNvPr id="2" name="Picture 1" descr="447916673a97bd1f0e53b186d485eed5.png"/>
          <p:cNvPicPr>
            <a:picLocks noChangeAspect="1"/>
          </p:cNvPicPr>
          <p:nvPr/>
        </p:nvPicPr>
        <p:blipFill>
          <a:blip r:embed="rId1"/>
          <a:stretch>
            <a:fillRect/>
          </a:stretch>
        </p:blipFill>
        <p:spPr>
          <a:xfrm>
            <a:off x="0" y="0"/>
            <a:ext cx="12191695" cy="6858000"/>
          </a:xfrm>
          <a:prstGeom prst="rect">
            <a:avLst/>
          </a:prstGeom>
        </p:spPr>
      </p:pic>
      <p:sp>
        <p:nvSpPr>
          <p:cNvPr id="3" name="Rectangle 2"/>
          <p:cNvSpPr/>
          <p:nvPr/>
        </p:nvSpPr>
        <p:spPr>
          <a:xfrm>
            <a:off x="0" y="0"/>
            <a:ext cx="12191695" cy="68580"/>
          </a:xfrm>
          <a:prstGeom prst="rect">
            <a:avLst/>
          </a:prstGeom>
          <a:solidFill>
            <a:srgbClr val="C2571A"/>
          </a:solidFill>
          <a:ln>
            <a:noFill/>
          </a:ln>
        </p:spPr>
        <p:txBody>
          <a:bodyPr rtlCol="0" anchor="ctr"/>
          <a:lstStyle/>
          <a:p>
            <a:pPr algn="ctr"/>
          </a:p>
        </p:txBody>
      </p:sp>
      <p:sp>
        <p:nvSpPr>
          <p:cNvPr id="4" name="TextBox 3"/>
          <p:cNvSpPr txBox="1"/>
          <p:nvPr/>
        </p:nvSpPr>
        <p:spPr>
          <a:xfrm>
            <a:off x="448056" y="1115568"/>
            <a:ext cx="4626864" cy="3118104"/>
          </a:xfrm>
          <a:prstGeom prst="rect">
            <a:avLst/>
          </a:prstGeom>
          <a:noFill/>
        </p:spPr>
        <p:txBody>
          <a:bodyPr wrap="square">
            <a:spAutoFit/>
          </a:bodyPr>
          <a:lstStyle/>
          <a:p>
            <a:pPr algn="l"/>
            <a:r>
              <a:rPr sz="17000" b="1">
                <a:solidFill>
                  <a:srgbClr val="C2571A"/>
                </a:solidFill>
              </a:rPr>
              <a:t>01</a:t>
            </a:r>
            <a:endParaRPr sz="17000" b="1">
              <a:solidFill>
                <a:srgbClr val="C2571A"/>
              </a:solidFill>
            </a:endParaRPr>
          </a:p>
        </p:txBody>
      </p:sp>
      <p:sp>
        <p:nvSpPr>
          <p:cNvPr id="5" name="TextBox 4"/>
          <p:cNvSpPr txBox="1"/>
          <p:nvPr/>
        </p:nvSpPr>
        <p:spPr>
          <a:xfrm>
            <a:off x="475488" y="1143000"/>
            <a:ext cx="4572000" cy="3063240"/>
          </a:xfrm>
          <a:prstGeom prst="rect">
            <a:avLst/>
          </a:prstGeom>
          <a:noFill/>
        </p:spPr>
        <p:txBody>
          <a:bodyPr wrap="square">
            <a:spAutoFit/>
          </a:bodyPr>
          <a:lstStyle/>
          <a:p>
            <a:pPr algn="l"/>
            <a:r>
              <a:rPr sz="17000" b="1">
                <a:solidFill>
                  <a:srgbClr val="FFFFFF"/>
                </a:solidFill>
              </a:rPr>
              <a:t>01</a:t>
            </a:r>
            <a:endParaRPr sz="17000" b="1">
              <a:solidFill>
                <a:srgbClr val="FFFFFF"/>
              </a:solidFill>
            </a:endParaRPr>
          </a:p>
        </p:txBody>
      </p:sp>
      <p:sp>
        <p:nvSpPr>
          <p:cNvPr id="6" name="TextBox 5"/>
          <p:cNvSpPr txBox="1"/>
          <p:nvPr/>
        </p:nvSpPr>
        <p:spPr>
          <a:xfrm>
            <a:off x="713232" y="3913632"/>
            <a:ext cx="4023360" cy="685800"/>
          </a:xfrm>
          <a:prstGeom prst="rect">
            <a:avLst/>
          </a:prstGeom>
          <a:noFill/>
        </p:spPr>
        <p:txBody>
          <a:bodyPr wrap="square">
            <a:spAutoFit/>
          </a:bodyPr>
          <a:lstStyle/>
          <a:p>
            <a:pPr algn="l"/>
            <a:r>
              <a:rPr sz="4400" b="1">
                <a:solidFill>
                  <a:srgbClr val="12304F"/>
                </a:solidFill>
                <a:latin typeface="Noto Sans SC" panose="020B0200000000000000" charset="-122"/>
                <a:ea typeface="Noto Sans SC" panose="020B0200000000000000" charset="-122"/>
                <a:cs typeface="Noto Sans SC" panose="020B0200000000000000" charset="-122"/>
              </a:rPr>
              <a:t>科学绘图</a:t>
            </a:r>
            <a:endParaRPr sz="440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7" name="TextBox 6"/>
          <p:cNvSpPr txBox="1"/>
          <p:nvPr/>
        </p:nvSpPr>
        <p:spPr>
          <a:xfrm>
            <a:off x="749808" y="4626864"/>
            <a:ext cx="4206240" cy="256032"/>
          </a:xfrm>
          <a:prstGeom prst="rect">
            <a:avLst/>
          </a:prstGeom>
          <a:noFill/>
        </p:spPr>
        <p:txBody>
          <a:bodyPr wrap="square">
            <a:spAutoFit/>
          </a:bodyPr>
          <a:lstStyle/>
          <a:p>
            <a:pPr algn="l"/>
            <a:r>
              <a:rPr sz="1300" b="0">
                <a:solidFill>
                  <a:srgbClr val="6B7B8A"/>
                </a:solidFill>
                <a:latin typeface="Consolas" panose="020B0609020204030204"/>
                <a:ea typeface="Noto Sans SC" panose="020B0200000000000000" charset="-122"/>
                <a:cs typeface="Noto Sans SC" panose="020B0200000000000000" charset="-122"/>
              </a:rPr>
              <a:t>SCIENTIFIC DRAFTING　MODULE 01</a:t>
            </a:r>
            <a:endParaRPr sz="1300" b="0">
              <a:solidFill>
                <a:srgbClr val="6B7B8A"/>
              </a:solidFill>
              <a:latin typeface="Consolas" panose="020B0609020204030204"/>
              <a:ea typeface="Noto Sans SC" panose="020B0200000000000000" charset="-122"/>
              <a:cs typeface="Noto Sans SC" panose="020B0200000000000000" charset="-122"/>
            </a:endParaRPr>
          </a:p>
        </p:txBody>
      </p:sp>
      <p:sp>
        <p:nvSpPr>
          <p:cNvPr id="8" name="Rectangle 7"/>
          <p:cNvSpPr/>
          <p:nvPr/>
        </p:nvSpPr>
        <p:spPr>
          <a:xfrm>
            <a:off x="749808" y="4956048"/>
            <a:ext cx="1005840" cy="41148"/>
          </a:xfrm>
          <a:prstGeom prst="rect">
            <a:avLst/>
          </a:prstGeom>
          <a:solidFill>
            <a:srgbClr val="C2571A"/>
          </a:solidFill>
          <a:ln>
            <a:noFill/>
          </a:ln>
        </p:spPr>
        <p:txBody>
          <a:bodyPr rtlCol="0" anchor="ctr"/>
          <a:lstStyle/>
          <a:p>
            <a:pPr algn="ctr"/>
          </a:p>
        </p:txBody>
      </p:sp>
      <p:sp>
        <p:nvSpPr>
          <p:cNvPr id="10" name="Rectangle 9"/>
          <p:cNvSpPr/>
          <p:nvPr/>
        </p:nvSpPr>
        <p:spPr>
          <a:xfrm>
            <a:off x="749808" y="5431536"/>
            <a:ext cx="50292" cy="256032"/>
          </a:xfrm>
          <a:prstGeom prst="rect">
            <a:avLst/>
          </a:prstGeom>
          <a:solidFill>
            <a:srgbClr val="C2571A"/>
          </a:solidFill>
          <a:ln>
            <a:noFill/>
          </a:ln>
        </p:spPr>
        <p:txBody>
          <a:bodyPr rtlCol="0" anchor="ctr"/>
          <a:lstStyle/>
          <a:p>
            <a:pPr algn="ctr"/>
          </a:p>
        </p:txBody>
      </p:sp>
      <p:sp>
        <p:nvSpPr>
          <p:cNvPr id="11" name="TextBox 10"/>
          <p:cNvSpPr txBox="1"/>
          <p:nvPr/>
        </p:nvSpPr>
        <p:spPr>
          <a:xfrm>
            <a:off x="914400" y="5431536"/>
            <a:ext cx="4023360" cy="256032"/>
          </a:xfrm>
          <a:prstGeom prst="rect">
            <a:avLst/>
          </a:prstGeom>
          <a:noFill/>
        </p:spPr>
        <p:txBody>
          <a:bodyPr wrap="square">
            <a:spAutoFit/>
          </a:bodyPr>
          <a:lstStyle/>
          <a:p>
            <a:pPr algn="l"/>
            <a:r>
              <a:rPr sz="1200" b="1">
                <a:solidFill>
                  <a:srgbClr val="C2571A"/>
                </a:solidFill>
                <a:latin typeface="Noto Sans SC" panose="020B0200000000000000" charset="-122"/>
                <a:ea typeface="Noto Sans SC" panose="020B0200000000000000" charset="-122"/>
                <a:cs typeface="Noto Sans SC" panose="020B0200000000000000" charset="-122"/>
              </a:rPr>
              <a:t>案例：通用（用底盘零件演示）</a:t>
            </a:r>
            <a:endParaRPr sz="1200" b="1">
              <a:solidFill>
                <a:srgbClr val="C2571A"/>
              </a:solidFill>
              <a:latin typeface="Noto Sans SC" panose="020B0200000000000000" charset="-122"/>
              <a:ea typeface="Noto Sans SC" panose="020B0200000000000000" charset="-122"/>
              <a:cs typeface="Noto Sans SC" panose="020B0200000000000000" charset="-122"/>
            </a:endParaRPr>
          </a:p>
        </p:txBody>
      </p:sp>
      <p:sp>
        <p:nvSpPr>
          <p:cNvPr id="12" name="Rectangle 11"/>
          <p:cNvSpPr/>
          <p:nvPr/>
        </p:nvSpPr>
        <p:spPr>
          <a:xfrm>
            <a:off x="5870448" y="1298448"/>
            <a:ext cx="10972" cy="4480560"/>
          </a:xfrm>
          <a:prstGeom prst="rect">
            <a:avLst/>
          </a:prstGeom>
          <a:solidFill>
            <a:srgbClr val="C9D3DC"/>
          </a:solidFill>
          <a:ln>
            <a:noFill/>
          </a:ln>
        </p:spPr>
        <p:txBody>
          <a:bodyPr rtlCol="0" anchor="ctr"/>
          <a:lstStyle/>
          <a:p>
            <a:pPr algn="ctr"/>
          </a:p>
        </p:txBody>
      </p:sp>
      <p:sp>
        <p:nvSpPr>
          <p:cNvPr id="13" name="Rounded Rectangle 12"/>
          <p:cNvSpPr/>
          <p:nvPr/>
        </p:nvSpPr>
        <p:spPr>
          <a:xfrm>
            <a:off x="6355080" y="1371600"/>
            <a:ext cx="5239512" cy="1335024"/>
          </a:xfrm>
          <a:prstGeom prst="roundRect">
            <a:avLst/>
          </a:prstGeom>
          <a:solidFill>
            <a:srgbClr val="FFFFFF"/>
          </a:solidFill>
          <a:ln w="12700">
            <a:solidFill>
              <a:srgbClr val="C9D3DC"/>
            </a:solidFill>
          </a:ln>
        </p:spPr>
        <p:txBody>
          <a:bodyPr rtlCol="0" anchor="ctr"/>
          <a:lstStyle/>
          <a:p>
            <a:pPr algn="ctr"/>
          </a:p>
        </p:txBody>
      </p:sp>
      <p:sp>
        <p:nvSpPr>
          <p:cNvPr id="14" name="Rectangle 13"/>
          <p:cNvSpPr/>
          <p:nvPr/>
        </p:nvSpPr>
        <p:spPr>
          <a:xfrm>
            <a:off x="6355080" y="1371600"/>
            <a:ext cx="50292" cy="1335024"/>
          </a:xfrm>
          <a:prstGeom prst="rect">
            <a:avLst/>
          </a:prstGeom>
          <a:solidFill>
            <a:srgbClr val="C2571A"/>
          </a:solidFill>
          <a:ln>
            <a:noFill/>
          </a:ln>
        </p:spPr>
        <p:txBody>
          <a:bodyPr rtlCol="0" anchor="ctr"/>
          <a:lstStyle/>
          <a:p>
            <a:pPr algn="ctr"/>
          </a:p>
        </p:txBody>
      </p:sp>
      <p:sp>
        <p:nvSpPr>
          <p:cNvPr id="15" name="TextBox 14"/>
          <p:cNvSpPr txBox="1"/>
          <p:nvPr/>
        </p:nvSpPr>
        <p:spPr>
          <a:xfrm>
            <a:off x="6620256" y="1536192"/>
            <a:ext cx="4892040" cy="1060704"/>
          </a:xfrm>
          <a:prstGeom prst="rect">
            <a:avLst/>
          </a:prstGeom>
          <a:noFill/>
        </p:spPr>
        <p:txBody>
          <a:bodyPr wrap="square">
            <a:spAutoFit/>
          </a:bodyPr>
          <a:lstStyle/>
          <a:p>
            <a:pPr algn="l">
              <a:spcBef>
                <a:spcPts val="600"/>
              </a:spcBef>
              <a:spcAft>
                <a:spcPts val="600"/>
              </a:spcAft>
            </a:pPr>
            <a:r>
              <a:rPr sz="1650" b="0">
                <a:solidFill>
                  <a:srgbClr val="12304F"/>
                </a:solidFill>
                <a:latin typeface="Noto Sans SC" panose="020B0200000000000000" charset="-122"/>
                <a:ea typeface="Noto Sans SC" panose="020B0200000000000000" charset="-122"/>
                <a:cs typeface="Noto Sans SC" panose="020B0200000000000000" charset="-122"/>
              </a:rPr>
              <a:t>画草图不是画得像，而是画得能改；</a:t>
            </a:r>
            <a:endParaRPr sz="1650" b="0">
              <a:solidFill>
                <a:srgbClr val="12304F"/>
              </a:solidFill>
              <a:latin typeface="Noto Sans SC" panose="020B0200000000000000" charset="-122"/>
              <a:ea typeface="Noto Sans SC" panose="020B0200000000000000" charset="-122"/>
              <a:cs typeface="Noto Sans SC" panose="020B0200000000000000" charset="-122"/>
            </a:endParaRPr>
          </a:p>
          <a:p>
            <a:pPr algn="l">
              <a:spcBef>
                <a:spcPts val="600"/>
              </a:spcBef>
              <a:spcAft>
                <a:spcPts val="600"/>
              </a:spcAft>
            </a:pPr>
            <a:r>
              <a:rPr sz="1650" b="0">
                <a:solidFill>
                  <a:srgbClr val="12304F"/>
                </a:solidFill>
                <a:latin typeface="Noto Sans SC" panose="020B0200000000000000" charset="-122"/>
                <a:ea typeface="Noto Sans SC" panose="020B0200000000000000" charset="-122"/>
                <a:cs typeface="Noto Sans SC" panose="020B0200000000000000" charset="-122"/>
              </a:rPr>
              <a:t>流程、基准、约束，决定你后面返工几次。</a:t>
            </a:r>
            <a:endParaRPr sz="1650" b="0">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16" name="Rounded Rectangle 15"/>
          <p:cNvSpPr/>
          <p:nvPr/>
        </p:nvSpPr>
        <p:spPr>
          <a:xfrm>
            <a:off x="6355080" y="2944368"/>
            <a:ext cx="1655064" cy="530352"/>
          </a:xfrm>
          <a:prstGeom prst="roundRect">
            <a:avLst/>
          </a:prstGeom>
          <a:solidFill>
            <a:srgbClr val="FFFFFF"/>
          </a:solidFill>
          <a:ln w="12700">
            <a:solidFill>
              <a:srgbClr val="C9D3DC"/>
            </a:solidFill>
          </a:ln>
        </p:spPr>
        <p:txBody>
          <a:bodyPr rtlCol="0" anchor="ctr"/>
          <a:lstStyle/>
          <a:p>
            <a:pPr algn="ctr"/>
          </a:p>
        </p:txBody>
      </p:sp>
      <p:sp>
        <p:nvSpPr>
          <p:cNvPr id="17" name="TextBox 16"/>
          <p:cNvSpPr txBox="1"/>
          <p:nvPr/>
        </p:nvSpPr>
        <p:spPr>
          <a:xfrm>
            <a:off x="6409944" y="2944368"/>
            <a:ext cx="1545336" cy="530352"/>
          </a:xfrm>
          <a:prstGeom prst="rect">
            <a:avLst/>
          </a:prstGeom>
          <a:noFill/>
        </p:spPr>
        <p:txBody>
          <a:bodyPr wrap="square" anchor="ctr">
            <a:spAutoFit/>
          </a:bodyPr>
          <a:lstStyle/>
          <a:p>
            <a:pPr algn="ctr"/>
            <a:r>
              <a:rPr sz="1250" b="0">
                <a:solidFill>
                  <a:srgbClr val="23384C"/>
                </a:solidFill>
                <a:latin typeface="Noto Sans SC" panose="020B0200000000000000" charset="-122"/>
                <a:ea typeface="Noto Sans SC" panose="020B0200000000000000" charset="-122"/>
                <a:cs typeface="Noto Sans SC" panose="020B0200000000000000" charset="-122"/>
              </a:rPr>
              <a:t>通用设计流程</a:t>
            </a:r>
            <a:endParaRPr sz="12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18" name="Rounded Rectangle 17"/>
          <p:cNvSpPr/>
          <p:nvPr/>
        </p:nvSpPr>
        <p:spPr>
          <a:xfrm>
            <a:off x="8147304" y="2944368"/>
            <a:ext cx="1655064" cy="530352"/>
          </a:xfrm>
          <a:prstGeom prst="roundRect">
            <a:avLst/>
          </a:prstGeom>
          <a:solidFill>
            <a:srgbClr val="FFFFFF"/>
          </a:solidFill>
          <a:ln w="12700">
            <a:solidFill>
              <a:srgbClr val="C9D3DC"/>
            </a:solidFill>
          </a:ln>
        </p:spPr>
        <p:txBody>
          <a:bodyPr rtlCol="0" anchor="ctr"/>
          <a:lstStyle/>
          <a:p>
            <a:pPr algn="ctr"/>
          </a:p>
        </p:txBody>
      </p:sp>
      <p:sp>
        <p:nvSpPr>
          <p:cNvPr id="19" name="TextBox 18"/>
          <p:cNvSpPr txBox="1"/>
          <p:nvPr/>
        </p:nvSpPr>
        <p:spPr>
          <a:xfrm>
            <a:off x="8202168" y="2944368"/>
            <a:ext cx="1545336" cy="530352"/>
          </a:xfrm>
          <a:prstGeom prst="rect">
            <a:avLst/>
          </a:prstGeom>
          <a:noFill/>
        </p:spPr>
        <p:txBody>
          <a:bodyPr wrap="square" anchor="ctr">
            <a:spAutoFit/>
          </a:bodyPr>
          <a:lstStyle/>
          <a:p>
            <a:pPr algn="ctr"/>
            <a:r>
              <a:rPr sz="1250" b="0">
                <a:solidFill>
                  <a:srgbClr val="23384C"/>
                </a:solidFill>
                <a:latin typeface="Noto Sans SC" panose="020B0200000000000000" charset="-122"/>
                <a:ea typeface="Noto Sans SC" panose="020B0200000000000000" charset="-122"/>
                <a:cs typeface="Noto Sans SC" panose="020B0200000000000000" charset="-122"/>
              </a:rPr>
              <a:t>参数化与对称</a:t>
            </a:r>
            <a:endParaRPr sz="12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0" name="Rounded Rectangle 19"/>
          <p:cNvSpPr/>
          <p:nvPr/>
        </p:nvSpPr>
        <p:spPr>
          <a:xfrm>
            <a:off x="9939528" y="2944368"/>
            <a:ext cx="1655064" cy="530352"/>
          </a:xfrm>
          <a:prstGeom prst="roundRect">
            <a:avLst/>
          </a:prstGeom>
          <a:solidFill>
            <a:srgbClr val="FFFFFF"/>
          </a:solidFill>
          <a:ln w="12700">
            <a:solidFill>
              <a:srgbClr val="C9D3DC"/>
            </a:solidFill>
          </a:ln>
        </p:spPr>
        <p:txBody>
          <a:bodyPr rtlCol="0" anchor="ctr"/>
          <a:lstStyle/>
          <a:p>
            <a:pPr algn="ctr"/>
          </a:p>
        </p:txBody>
      </p:sp>
      <p:sp>
        <p:nvSpPr>
          <p:cNvPr id="21" name="TextBox 20"/>
          <p:cNvSpPr txBox="1"/>
          <p:nvPr/>
        </p:nvSpPr>
        <p:spPr>
          <a:xfrm>
            <a:off x="9994392" y="2944368"/>
            <a:ext cx="1545336" cy="530352"/>
          </a:xfrm>
          <a:prstGeom prst="rect">
            <a:avLst/>
          </a:prstGeom>
          <a:noFill/>
        </p:spPr>
        <p:txBody>
          <a:bodyPr wrap="square" anchor="ctr">
            <a:spAutoFit/>
          </a:bodyPr>
          <a:lstStyle/>
          <a:p>
            <a:pPr algn="ctr"/>
            <a:r>
              <a:rPr sz="1250" b="0">
                <a:solidFill>
                  <a:srgbClr val="23384C"/>
                </a:solidFill>
                <a:latin typeface="Noto Sans SC" panose="020B0200000000000000" charset="-122"/>
                <a:ea typeface="Noto Sans SC" panose="020B0200000000000000" charset="-122"/>
                <a:cs typeface="Noto Sans SC" panose="020B0200000000000000" charset="-122"/>
              </a:rPr>
              <a:t>基准与定位</a:t>
            </a:r>
            <a:endParaRPr sz="12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2" name="Rounded Rectangle 21"/>
          <p:cNvSpPr/>
          <p:nvPr/>
        </p:nvSpPr>
        <p:spPr>
          <a:xfrm>
            <a:off x="6355080" y="3621024"/>
            <a:ext cx="1655064" cy="530352"/>
          </a:xfrm>
          <a:prstGeom prst="roundRect">
            <a:avLst/>
          </a:prstGeom>
          <a:solidFill>
            <a:srgbClr val="FFFFFF"/>
          </a:solidFill>
          <a:ln w="12700">
            <a:solidFill>
              <a:srgbClr val="C9D3DC"/>
            </a:solidFill>
          </a:ln>
        </p:spPr>
        <p:txBody>
          <a:bodyPr rtlCol="0" anchor="ctr"/>
          <a:lstStyle/>
          <a:p>
            <a:pPr algn="ctr"/>
          </a:p>
        </p:txBody>
      </p:sp>
      <p:sp>
        <p:nvSpPr>
          <p:cNvPr id="23" name="TextBox 22"/>
          <p:cNvSpPr txBox="1"/>
          <p:nvPr/>
        </p:nvSpPr>
        <p:spPr>
          <a:xfrm>
            <a:off x="6409944" y="3621024"/>
            <a:ext cx="1545336" cy="530352"/>
          </a:xfrm>
          <a:prstGeom prst="rect">
            <a:avLst/>
          </a:prstGeom>
          <a:noFill/>
        </p:spPr>
        <p:txBody>
          <a:bodyPr wrap="square" anchor="ctr">
            <a:spAutoFit/>
          </a:bodyPr>
          <a:lstStyle/>
          <a:p>
            <a:pPr algn="ctr"/>
            <a:r>
              <a:rPr sz="1250" b="0">
                <a:solidFill>
                  <a:srgbClr val="23384C"/>
                </a:solidFill>
                <a:latin typeface="Noto Sans SC" panose="020B0200000000000000" charset="-122"/>
                <a:ea typeface="Noto Sans SC" panose="020B0200000000000000" charset="-122"/>
                <a:cs typeface="Noto Sans SC" panose="020B0200000000000000" charset="-122"/>
              </a:rPr>
              <a:t>草图约束</a:t>
            </a:r>
            <a:endParaRPr sz="12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4" name="Rounded Rectangle 23"/>
          <p:cNvSpPr/>
          <p:nvPr/>
        </p:nvSpPr>
        <p:spPr>
          <a:xfrm>
            <a:off x="8147304" y="3621024"/>
            <a:ext cx="1655064" cy="530352"/>
          </a:xfrm>
          <a:prstGeom prst="roundRect">
            <a:avLst/>
          </a:prstGeom>
          <a:solidFill>
            <a:srgbClr val="FFFFFF"/>
          </a:solidFill>
          <a:ln w="12700">
            <a:solidFill>
              <a:srgbClr val="C9D3DC"/>
            </a:solidFill>
          </a:ln>
        </p:spPr>
        <p:txBody>
          <a:bodyPr rtlCol="0" anchor="ctr"/>
          <a:lstStyle/>
          <a:p>
            <a:pPr algn="ctr"/>
          </a:p>
        </p:txBody>
      </p:sp>
      <p:sp>
        <p:nvSpPr>
          <p:cNvPr id="25" name="TextBox 24"/>
          <p:cNvSpPr txBox="1"/>
          <p:nvPr/>
        </p:nvSpPr>
        <p:spPr>
          <a:xfrm>
            <a:off x="8202168" y="3621024"/>
            <a:ext cx="1545336" cy="530352"/>
          </a:xfrm>
          <a:prstGeom prst="rect">
            <a:avLst/>
          </a:prstGeom>
          <a:noFill/>
        </p:spPr>
        <p:txBody>
          <a:bodyPr wrap="square" anchor="ctr">
            <a:spAutoFit/>
          </a:bodyPr>
          <a:lstStyle/>
          <a:p>
            <a:pPr algn="ctr"/>
            <a:r>
              <a:rPr sz="1250" b="0">
                <a:solidFill>
                  <a:srgbClr val="23384C"/>
                </a:solidFill>
                <a:latin typeface="Noto Sans SC" panose="020B0200000000000000" charset="-122"/>
                <a:ea typeface="Noto Sans SC" panose="020B0200000000000000" charset="-122"/>
                <a:cs typeface="Noto Sans SC" panose="020B0200000000000000" charset="-122"/>
              </a:rPr>
              <a:t>参考与投影</a:t>
            </a:r>
            <a:endParaRPr sz="12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6" name="Rounded Rectangle 25"/>
          <p:cNvSpPr/>
          <p:nvPr/>
        </p:nvSpPr>
        <p:spPr>
          <a:xfrm>
            <a:off x="9939528" y="3621024"/>
            <a:ext cx="1655064" cy="530352"/>
          </a:xfrm>
          <a:prstGeom prst="roundRect">
            <a:avLst/>
          </a:prstGeom>
          <a:solidFill>
            <a:srgbClr val="FFFFFF"/>
          </a:solidFill>
          <a:ln w="12700">
            <a:solidFill>
              <a:srgbClr val="C9D3DC"/>
            </a:solidFill>
          </a:ln>
        </p:spPr>
        <p:txBody>
          <a:bodyPr rtlCol="0" anchor="ctr"/>
          <a:lstStyle/>
          <a:p>
            <a:pPr algn="ctr"/>
          </a:p>
        </p:txBody>
      </p:sp>
      <p:sp>
        <p:nvSpPr>
          <p:cNvPr id="27" name="TextBox 26"/>
          <p:cNvSpPr txBox="1"/>
          <p:nvPr/>
        </p:nvSpPr>
        <p:spPr>
          <a:xfrm>
            <a:off x="9994392" y="3621024"/>
            <a:ext cx="1545336" cy="530352"/>
          </a:xfrm>
          <a:prstGeom prst="rect">
            <a:avLst/>
          </a:prstGeom>
          <a:noFill/>
        </p:spPr>
        <p:txBody>
          <a:bodyPr wrap="square" anchor="ctr">
            <a:spAutoFit/>
          </a:bodyPr>
          <a:lstStyle/>
          <a:p>
            <a:pPr algn="ctr"/>
            <a:r>
              <a:rPr sz="1250" b="0">
                <a:solidFill>
                  <a:srgbClr val="23384C"/>
                </a:solidFill>
                <a:latin typeface="Noto Sans SC" panose="020B0200000000000000" charset="-122"/>
                <a:ea typeface="Noto Sans SC" panose="020B0200000000000000" charset="-122"/>
                <a:cs typeface="Noto Sans SC" panose="020B0200000000000000" charset="-122"/>
              </a:rPr>
              <a:t>接口尺寸管理</a:t>
            </a:r>
            <a:endParaRPr sz="12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8" name="Rectangle 27"/>
          <p:cNvSpPr/>
          <p:nvPr/>
        </p:nvSpPr>
        <p:spPr>
          <a:xfrm>
            <a:off x="6355080" y="4370832"/>
            <a:ext cx="5239512" cy="932688"/>
          </a:xfrm>
          <a:prstGeom prst="rect">
            <a:avLst/>
          </a:prstGeom>
          <a:solidFill>
            <a:srgbClr val="FFFFFF"/>
          </a:solidFill>
          <a:ln w="9525">
            <a:solidFill>
              <a:srgbClr val="C2571A"/>
            </a:solidFill>
            <a:prstDash val="dash"/>
          </a:ln>
        </p:spPr>
        <p:txBody>
          <a:bodyPr rtlCol="0" anchor="ctr"/>
          <a:lstStyle/>
          <a:p>
            <a:pPr algn="ctr"/>
          </a:p>
        </p:txBody>
      </p:sp>
      <p:sp>
        <p:nvSpPr>
          <p:cNvPr id="29" name="TextBox 28"/>
          <p:cNvSpPr txBox="1"/>
          <p:nvPr/>
        </p:nvSpPr>
        <p:spPr>
          <a:xfrm>
            <a:off x="6492240" y="4462272"/>
            <a:ext cx="4983480" cy="237744"/>
          </a:xfrm>
          <a:prstGeom prst="rect">
            <a:avLst/>
          </a:prstGeom>
          <a:noFill/>
        </p:spPr>
        <p:txBody>
          <a:bodyPr wrap="square">
            <a:spAutoFit/>
          </a:bodyPr>
          <a:lstStyle/>
          <a:p>
            <a:pPr algn="l"/>
            <a:r>
              <a:rPr sz="1100" b="0">
                <a:solidFill>
                  <a:srgbClr val="C2571A"/>
                </a:solidFill>
                <a:latin typeface="Consolas" panose="020B0609020204030204"/>
                <a:ea typeface="Noto Sans SC" panose="020B0200000000000000" charset="-122"/>
                <a:cs typeface="Noto Sans SC" panose="020B0200000000000000" charset="-122"/>
              </a:rPr>
              <a:t>本模块产出（方法，不是零件）</a:t>
            </a:r>
            <a:endParaRPr sz="1100" b="0">
              <a:solidFill>
                <a:srgbClr val="C2571A"/>
              </a:solidFill>
              <a:latin typeface="Consolas" panose="020B0609020204030204"/>
              <a:ea typeface="Noto Sans SC" panose="020B0200000000000000" charset="-122"/>
              <a:cs typeface="Noto Sans SC" panose="020B0200000000000000" charset="-122"/>
            </a:endParaRPr>
          </a:p>
        </p:txBody>
      </p:sp>
      <p:sp>
        <p:nvSpPr>
          <p:cNvPr id="30" name="TextBox 29"/>
          <p:cNvSpPr txBox="1"/>
          <p:nvPr/>
        </p:nvSpPr>
        <p:spPr>
          <a:xfrm>
            <a:off x="6492240" y="4700016"/>
            <a:ext cx="4983480" cy="566928"/>
          </a:xfrm>
          <a:prstGeom prst="rect">
            <a:avLst/>
          </a:prstGeom>
          <a:noFill/>
        </p:spPr>
        <p:txBody>
          <a:bodyPr wrap="square">
            <a:spAutoFit/>
          </a:bodyPr>
          <a:lstStyle/>
          <a:p>
            <a:pPr algn="l">
              <a:spcBef>
                <a:spcPts val="200"/>
              </a:spcBef>
              <a:spcAft>
                <a:spcPts val="200"/>
              </a:spcAft>
            </a:pPr>
            <a:r>
              <a:rPr sz="1200" b="0">
                <a:solidFill>
                  <a:srgbClr val="23384C"/>
                </a:solidFill>
                <a:latin typeface="Noto Sans SC" panose="020B0200000000000000" charset="-122"/>
                <a:ea typeface="Noto Sans SC" panose="020B0200000000000000" charset="-122"/>
                <a:cs typeface="Noto Sans SC" panose="020B0200000000000000" charset="-122"/>
              </a:rPr>
              <a:t>一套可复用的画图与建模规范（图层 / 命名 / 参数表）</a:t>
            </a:r>
            <a:endParaRPr sz="1200" b="0">
              <a:solidFill>
                <a:srgbClr val="23384C"/>
              </a:solidFill>
              <a:latin typeface="Noto Sans SC" panose="020B0200000000000000" charset="-122"/>
              <a:ea typeface="Noto Sans SC" panose="020B0200000000000000" charset="-122"/>
              <a:cs typeface="Noto Sans SC" panose="020B0200000000000000" charset="-122"/>
            </a:endParaRPr>
          </a:p>
          <a:p>
            <a:pPr algn="l">
              <a:spcBef>
                <a:spcPts val="200"/>
              </a:spcBef>
              <a:spcAft>
                <a:spcPts val="200"/>
              </a:spcAft>
            </a:pPr>
            <a:r>
              <a:rPr sz="1200" b="0">
                <a:solidFill>
                  <a:srgbClr val="23384C"/>
                </a:solidFill>
                <a:latin typeface="Noto Sans SC" panose="020B0200000000000000" charset="-122"/>
                <a:ea typeface="Noto Sans SC" panose="020B0200000000000000" charset="-122"/>
                <a:cs typeface="Noto Sans SC" panose="020B0200000000000000" charset="-122"/>
              </a:rPr>
              <a:t>＋一套接口尺寸管理方式</a:t>
            </a:r>
            <a:endParaRPr sz="120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31" name="TextBox 30"/>
          <p:cNvSpPr txBox="1"/>
          <p:nvPr/>
        </p:nvSpPr>
        <p:spPr>
          <a:xfrm>
            <a:off x="6355080" y="5504688"/>
            <a:ext cx="5212080" cy="292608"/>
          </a:xfrm>
          <a:prstGeom prst="rect">
            <a:avLst/>
          </a:prstGeom>
          <a:noFill/>
        </p:spPr>
        <p:txBody>
          <a:bodyPr wrap="square">
            <a:spAutoFit/>
          </a:bodyPr>
          <a:lstStyle/>
          <a:p>
            <a:pPr algn="l"/>
            <a:r>
              <a:rPr sz="1250" b="0">
                <a:solidFill>
                  <a:srgbClr val="6B7B8A"/>
                </a:solidFill>
                <a:latin typeface="Noto Sans SC" panose="020B0200000000000000" charset="-122"/>
                <a:ea typeface="Noto Sans SC" panose="020B0200000000000000" charset="-122"/>
                <a:cs typeface="Noto Sans SC" panose="020B0200000000000000" charset="-122"/>
              </a:rPr>
              <a:t>零件会换，画法不变。</a:t>
            </a:r>
            <a:endParaRPr sz="12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32" name="TextBox 31"/>
          <p:cNvSpPr txBox="1"/>
          <p:nvPr/>
        </p:nvSpPr>
        <p:spPr>
          <a:xfrm>
            <a:off x="10515600" y="6400800"/>
            <a:ext cx="1371600" cy="274320"/>
          </a:xfrm>
          <a:prstGeom prst="rect">
            <a:avLst/>
          </a:prstGeom>
          <a:noFill/>
        </p:spPr>
        <p:txBody>
          <a:bodyPr wrap="square">
            <a:spAutoFit/>
          </a:bodyPr>
          <a:lstStyle/>
          <a:p>
            <a:pPr algn="r"/>
            <a:r>
              <a:rPr sz="1000" b="0">
                <a:solidFill>
                  <a:srgbClr val="6B7B8A"/>
                </a:solidFill>
                <a:latin typeface="Noto Sans SC" panose="020B0200000000000000" charset="-122"/>
                <a:ea typeface="Noto Sans SC" panose="020B0200000000000000" charset="-122"/>
                <a:cs typeface="Noto Sans SC" panose="020B0200000000000000" charset="-122"/>
              </a:rPr>
              <a:t>4 / 34</a:t>
            </a:r>
            <a:endParaRPr sz="100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33" name="Rectangle 32"/>
          <p:cNvSpPr/>
          <p:nvPr/>
        </p:nvSpPr>
        <p:spPr>
          <a:xfrm>
            <a:off x="594360" y="6199632"/>
            <a:ext cx="11002975" cy="10972"/>
          </a:xfrm>
          <a:prstGeom prst="rect">
            <a:avLst/>
          </a:prstGeom>
          <a:solidFill>
            <a:srgbClr val="C9D3DC"/>
          </a:solidFill>
          <a:ln>
            <a:noFill/>
          </a:ln>
        </p:spPr>
        <p:txBody>
          <a:bodyPr rtlCol="0" anchor="ctr"/>
          <a:lstStyle/>
          <a:p>
            <a:pPr algn="ctr"/>
          </a:p>
        </p:txBody>
      </p:sp>
      <p:sp>
        <p:nvSpPr>
          <p:cNvPr id="34" name="TextBox 33"/>
          <p:cNvSpPr txBox="1"/>
          <p:nvPr/>
        </p:nvSpPr>
        <p:spPr>
          <a:xfrm>
            <a:off x="594360" y="6327648"/>
            <a:ext cx="8778240" cy="274320"/>
          </a:xfrm>
          <a:prstGeom prst="rect">
            <a:avLst/>
          </a:prstGeom>
          <a:noFill/>
        </p:spPr>
        <p:txBody>
          <a:bodyPr wrap="square">
            <a:spAutoFit/>
          </a:bodyPr>
          <a:lstStyle/>
          <a:p>
            <a:pPr algn="l"/>
            <a:r>
              <a:rPr sz="1100" b="0">
                <a:solidFill>
                  <a:srgbClr val="6B7B8A"/>
                </a:solidFill>
                <a:latin typeface="Noto Sans SC" panose="020B0200000000000000" charset="-122"/>
                <a:ea typeface="Noto Sans SC" panose="020B0200000000000000" charset="-122"/>
                <a:cs typeface="Noto Sans SC" panose="020B0200000000000000" charset="-122"/>
              </a:rPr>
              <a:t>模块方法清单见上方胶囊；案例仅用于演示，方法可迁移到任何零件。</a:t>
            </a:r>
            <a:endParaRPr sz="1100" b="0">
              <a:solidFill>
                <a:srgbClr val="6B7B8A"/>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447916673a97bd1f0e53b186d485eed5.png"/>
          <p:cNvPicPr>
            <a:picLocks noChangeAspect="1"/>
          </p:cNvPicPr>
          <p:nvPr/>
        </p:nvPicPr>
        <p:blipFill>
          <a:blip r:embed="rId1"/>
          <a:stretch>
            <a:fillRect/>
          </a:stretch>
        </p:blipFill>
        <p:spPr>
          <a:xfrm>
            <a:off x="0" y="19861"/>
            <a:ext cx="12191695" cy="6858000"/>
          </a:xfrm>
          <a:prstGeom prst="rect">
            <a:avLst/>
          </a:prstGeom>
        </p:spPr>
      </p:pic>
      <p:sp>
        <p:nvSpPr>
          <p:cNvPr id="3" name="Rectangle 2"/>
          <p:cNvSpPr/>
          <p:nvPr/>
        </p:nvSpPr>
        <p:spPr>
          <a:xfrm>
            <a:off x="0" y="0"/>
            <a:ext cx="12191695" cy="68580"/>
          </a:xfrm>
          <a:prstGeom prst="rect">
            <a:avLst/>
          </a:prstGeom>
          <a:solidFill>
            <a:srgbClr val="C2571A"/>
          </a:solidFill>
          <a:ln>
            <a:noFill/>
          </a:ln>
        </p:spPr>
        <p:txBody>
          <a:bodyPr rtlCol="0" anchor="ctr"/>
          <a:lstStyle/>
          <a:p>
            <a:pPr algn="ctr"/>
          </a:p>
        </p:txBody>
      </p:sp>
      <p:sp>
        <p:nvSpPr>
          <p:cNvPr id="4" name="Rounded Rectangle 3"/>
          <p:cNvSpPr/>
          <p:nvPr/>
        </p:nvSpPr>
        <p:spPr>
          <a:xfrm>
            <a:off x="594360" y="310896"/>
            <a:ext cx="1517904" cy="329184"/>
          </a:xfrm>
          <a:prstGeom prst="roundRect">
            <a:avLst/>
          </a:prstGeom>
          <a:solidFill>
            <a:srgbClr val="C2571A"/>
          </a:solidFill>
          <a:ln>
            <a:noFill/>
          </a:ln>
        </p:spPr>
        <p:txBody>
          <a:bodyPr rtlCol="0" anchor="ctr"/>
          <a:lstStyle/>
          <a:p>
            <a:pPr algn="ctr"/>
          </a:p>
        </p:txBody>
      </p:sp>
      <p:sp>
        <p:nvSpPr>
          <p:cNvPr id="5" name="TextBox 4"/>
          <p:cNvSpPr txBox="1"/>
          <p:nvPr/>
        </p:nvSpPr>
        <p:spPr>
          <a:xfrm>
            <a:off x="649224" y="310896"/>
            <a:ext cx="1408176" cy="329184"/>
          </a:xfrm>
          <a:prstGeom prst="rect">
            <a:avLst/>
          </a:prstGeom>
          <a:noFill/>
        </p:spPr>
        <p:txBody>
          <a:bodyPr wrap="square" anchor="ctr">
            <a:spAutoFit/>
          </a:bodyPr>
          <a:lstStyle/>
          <a:p>
            <a:pPr algn="ctr"/>
            <a:r>
              <a:rPr sz="1300" b="1">
                <a:solidFill>
                  <a:srgbClr val="FFFFFF"/>
                </a:solidFill>
                <a:latin typeface="Noto Sans SC" panose="020B0200000000000000" charset="-122"/>
                <a:ea typeface="Noto Sans SC" panose="020B0200000000000000" charset="-122"/>
                <a:cs typeface="Noto Sans SC" panose="020B0200000000000000" charset="-122"/>
              </a:rPr>
              <a:t>01  科学绘图</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6" name="TextBox 5"/>
          <p:cNvSpPr txBox="1"/>
          <p:nvPr/>
        </p:nvSpPr>
        <p:spPr>
          <a:xfrm>
            <a:off x="2295144" y="338328"/>
            <a:ext cx="3840480" cy="274320"/>
          </a:xfrm>
          <a:prstGeom prst="rect">
            <a:avLst/>
          </a:prstGeom>
          <a:noFill/>
        </p:spPr>
        <p:txBody>
          <a:bodyPr wrap="square">
            <a:spAutoFit/>
          </a:bodyPr>
          <a:lstStyle/>
          <a:p>
            <a:pPr algn="l"/>
            <a:r>
              <a:rPr sz="1150" b="0">
                <a:solidFill>
                  <a:srgbClr val="6B7B8A"/>
                </a:solidFill>
                <a:latin typeface="Consolas" panose="020B0609020204030204"/>
                <a:ea typeface="Noto Sans SC" panose="020B0200000000000000" charset="-122"/>
                <a:cs typeface="Noto Sans SC" panose="020B0200000000000000" charset="-122"/>
              </a:rPr>
              <a:t>方法 03 · 基准与定位</a:t>
            </a:r>
            <a:endParaRPr sz="1150" b="0">
              <a:solidFill>
                <a:srgbClr val="6B7B8A"/>
              </a:solidFill>
              <a:latin typeface="Consolas" panose="020B0609020204030204"/>
              <a:ea typeface="Noto Sans SC" panose="020B0200000000000000" charset="-122"/>
              <a:cs typeface="Noto Sans SC" panose="020B0200000000000000" charset="-122"/>
            </a:endParaRPr>
          </a:p>
        </p:txBody>
      </p:sp>
      <p:sp>
        <p:nvSpPr>
          <p:cNvPr id="7" name="Rounded Rectangle 6"/>
          <p:cNvSpPr/>
          <p:nvPr/>
        </p:nvSpPr>
        <p:spPr>
          <a:xfrm>
            <a:off x="10262311" y="329184"/>
            <a:ext cx="1335024" cy="292608"/>
          </a:xfrm>
          <a:prstGeom prst="roundRect">
            <a:avLst/>
          </a:prstGeom>
          <a:solidFill>
            <a:srgbClr val="FFFFFF"/>
          </a:solidFill>
          <a:ln w="12700">
            <a:solidFill>
              <a:srgbClr val="C9D3DC"/>
            </a:solidFill>
          </a:ln>
        </p:spPr>
        <p:txBody>
          <a:bodyPr rtlCol="0" anchor="ctr"/>
          <a:lstStyle/>
          <a:p>
            <a:pPr algn="ctr"/>
          </a:p>
        </p:txBody>
      </p:sp>
      <p:sp>
        <p:nvSpPr>
          <p:cNvPr id="8" name="Rectangle 7"/>
          <p:cNvSpPr/>
          <p:nvPr/>
        </p:nvSpPr>
        <p:spPr>
          <a:xfrm>
            <a:off x="10381183" y="443484"/>
            <a:ext cx="68580" cy="68580"/>
          </a:xfrm>
          <a:prstGeom prst="rect">
            <a:avLst/>
          </a:prstGeom>
          <a:solidFill>
            <a:srgbClr val="C2571A"/>
          </a:solidFill>
          <a:ln>
            <a:noFill/>
          </a:ln>
        </p:spPr>
        <p:txBody>
          <a:bodyPr rtlCol="0" anchor="ctr"/>
          <a:lstStyle/>
          <a:p>
            <a:pPr algn="ctr"/>
          </a:p>
        </p:txBody>
      </p:sp>
      <p:sp>
        <p:nvSpPr>
          <p:cNvPr id="9" name="TextBox 8"/>
          <p:cNvSpPr txBox="1"/>
          <p:nvPr/>
        </p:nvSpPr>
        <p:spPr>
          <a:xfrm>
            <a:off x="10509199" y="329184"/>
            <a:ext cx="1042415" cy="292608"/>
          </a:xfrm>
          <a:prstGeom prst="rect">
            <a:avLst/>
          </a:prstGeom>
          <a:noFill/>
        </p:spPr>
        <p:txBody>
          <a:bodyPr wrap="square" anchor="ctr">
            <a:spAutoFit/>
          </a:bodyPr>
          <a:lstStyle/>
          <a:p>
            <a:pPr algn="l"/>
            <a:r>
              <a:rPr sz="1150" b="0">
                <a:solidFill>
                  <a:srgbClr val="23384C"/>
                </a:solidFill>
                <a:latin typeface="Consolas" panose="020B0609020204030204"/>
                <a:ea typeface="Noto Sans SC" panose="020B0200000000000000" charset="-122"/>
                <a:cs typeface="Noto Sans SC" panose="020B0200000000000000" charset="-122"/>
              </a:rPr>
              <a:t>Fusion 360</a:t>
            </a:r>
            <a:endParaRPr sz="1150" b="0">
              <a:solidFill>
                <a:srgbClr val="23384C"/>
              </a:solidFill>
              <a:latin typeface="Consolas" panose="020B0609020204030204"/>
              <a:ea typeface="Noto Sans SC" panose="020B0200000000000000" charset="-122"/>
              <a:cs typeface="Noto Sans SC" panose="020B0200000000000000" charset="-122"/>
            </a:endParaRPr>
          </a:p>
        </p:txBody>
      </p:sp>
      <p:sp>
        <p:nvSpPr>
          <p:cNvPr id="10" name="TextBox 9"/>
          <p:cNvSpPr txBox="1"/>
          <p:nvPr/>
        </p:nvSpPr>
        <p:spPr>
          <a:xfrm>
            <a:off x="594360" y="841248"/>
            <a:ext cx="10058400" cy="506730"/>
          </a:xfrm>
          <a:prstGeom prst="rect">
            <a:avLst/>
          </a:prstGeom>
          <a:noFill/>
        </p:spPr>
        <p:txBody>
          <a:bodyPr wrap="square">
            <a:spAutoFit/>
          </a:bodyPr>
          <a:lstStyle/>
          <a:p>
            <a:pPr algn="l"/>
            <a:r>
              <a:rPr lang="en-US" altLang="zh-CN" sz="2700" b="1" dirty="0">
                <a:solidFill>
                  <a:srgbClr val="12304F"/>
                </a:solidFill>
                <a:latin typeface="Noto Sans SC" panose="020B0200000000000000" charset="-122"/>
                <a:ea typeface="Noto Sans SC" panose="020B0200000000000000" charset="-122"/>
                <a:cs typeface="Noto Sans SC" panose="020B0200000000000000" charset="-122"/>
              </a:rPr>
              <a:t>Fusion</a:t>
            </a:r>
            <a:r>
              <a:rPr lang="zh-CN" altLang="en-US" sz="2700" b="1" dirty="0">
                <a:solidFill>
                  <a:srgbClr val="12304F"/>
                </a:solidFill>
                <a:latin typeface="Noto Sans SC" panose="020B0200000000000000" charset="-122"/>
                <a:ea typeface="Noto Sans SC" panose="020B0200000000000000" charset="-122"/>
                <a:cs typeface="Noto Sans SC" panose="020B0200000000000000" charset="-122"/>
              </a:rPr>
              <a:t>常用进阶操作介绍</a:t>
            </a:r>
            <a:endParaRPr sz="2700" b="1" dirty="0">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11" name="TextBox 10"/>
          <p:cNvSpPr txBox="1"/>
          <p:nvPr/>
        </p:nvSpPr>
        <p:spPr>
          <a:xfrm>
            <a:off x="594360" y="1344168"/>
            <a:ext cx="10607040" cy="300082"/>
          </a:xfrm>
          <a:prstGeom prst="rect">
            <a:avLst/>
          </a:prstGeom>
          <a:noFill/>
        </p:spPr>
        <p:txBody>
          <a:bodyPr wrap="square">
            <a:spAutoFit/>
          </a:bodyPr>
          <a:lstStyle/>
          <a:p>
            <a:pPr algn="l"/>
            <a:r>
              <a:rPr lang="zh-CN" altLang="en-US" sz="1350" b="0" dirty="0">
                <a:solidFill>
                  <a:srgbClr val="6B7B8A"/>
                </a:solidFill>
                <a:latin typeface="Noto Sans SC" panose="020B0200000000000000" charset="-122"/>
                <a:ea typeface="Noto Sans SC" panose="020B0200000000000000" charset="-122"/>
                <a:cs typeface="Noto Sans SC" panose="020B0200000000000000" charset="-122"/>
              </a:rPr>
              <a:t>快捷键 常用功能</a:t>
            </a:r>
            <a:endParaRPr sz="1350" b="0" dirty="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12" name="Rectangle 11"/>
          <p:cNvSpPr/>
          <p:nvPr/>
        </p:nvSpPr>
        <p:spPr>
          <a:xfrm>
            <a:off x="594360" y="1700784"/>
            <a:ext cx="11002975" cy="12801"/>
          </a:xfrm>
          <a:prstGeom prst="rect">
            <a:avLst/>
          </a:prstGeom>
          <a:solidFill>
            <a:srgbClr val="C9D3DC"/>
          </a:solidFill>
          <a:ln>
            <a:noFill/>
          </a:ln>
        </p:spPr>
        <p:txBody>
          <a:bodyPr rtlCol="0" anchor="ctr"/>
          <a:lstStyle/>
          <a:p>
            <a:pPr algn="ctr"/>
          </a:p>
        </p:txBody>
      </p:sp>
      <p:sp>
        <p:nvSpPr>
          <p:cNvPr id="13" name="TextBox 12"/>
          <p:cNvSpPr txBox="1"/>
          <p:nvPr/>
        </p:nvSpPr>
        <p:spPr>
          <a:xfrm>
            <a:off x="10515600" y="6400800"/>
            <a:ext cx="1371600" cy="274320"/>
          </a:xfrm>
          <a:prstGeom prst="rect">
            <a:avLst/>
          </a:prstGeom>
          <a:noFill/>
        </p:spPr>
        <p:txBody>
          <a:bodyPr wrap="square">
            <a:spAutoFit/>
          </a:bodyPr>
          <a:lstStyle/>
          <a:p>
            <a:pPr algn="r"/>
            <a:r>
              <a:rPr sz="1000" b="0">
                <a:solidFill>
                  <a:srgbClr val="6B7B8A"/>
                </a:solidFill>
                <a:latin typeface="Noto Sans SC" panose="020B0200000000000000" charset="-122"/>
                <a:ea typeface="Noto Sans SC" panose="020B0200000000000000" charset="-122"/>
                <a:cs typeface="Noto Sans SC" panose="020B0200000000000000" charset="-122"/>
              </a:rPr>
              <a:t>7 / 34</a:t>
            </a:r>
            <a:endParaRPr sz="100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45" name="Rectangle 44"/>
          <p:cNvSpPr/>
          <p:nvPr/>
        </p:nvSpPr>
        <p:spPr>
          <a:xfrm>
            <a:off x="594360" y="6199632"/>
            <a:ext cx="11002975" cy="10972"/>
          </a:xfrm>
          <a:prstGeom prst="rect">
            <a:avLst/>
          </a:prstGeom>
          <a:solidFill>
            <a:srgbClr val="C9D3DC"/>
          </a:solidFill>
          <a:ln>
            <a:noFill/>
          </a:ln>
        </p:spPr>
        <p:txBody>
          <a:bodyPr rtlCol="0" anchor="ctr"/>
          <a:lstStyle/>
          <a:p>
            <a:pPr algn="ct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447916673a97bd1f0e53b186d485eed5.png"/>
          <p:cNvPicPr>
            <a:picLocks noChangeAspect="1"/>
          </p:cNvPicPr>
          <p:nvPr/>
        </p:nvPicPr>
        <p:blipFill>
          <a:blip r:embed="rId1"/>
          <a:stretch>
            <a:fillRect/>
          </a:stretch>
        </p:blipFill>
        <p:spPr>
          <a:xfrm>
            <a:off x="0" y="0"/>
            <a:ext cx="12191695" cy="6858000"/>
          </a:xfrm>
          <a:prstGeom prst="rect">
            <a:avLst/>
          </a:prstGeom>
        </p:spPr>
      </p:pic>
      <p:sp>
        <p:nvSpPr>
          <p:cNvPr id="3" name="Rectangle 2"/>
          <p:cNvSpPr/>
          <p:nvPr/>
        </p:nvSpPr>
        <p:spPr>
          <a:xfrm>
            <a:off x="0" y="0"/>
            <a:ext cx="12191695" cy="68580"/>
          </a:xfrm>
          <a:prstGeom prst="rect">
            <a:avLst/>
          </a:prstGeom>
          <a:solidFill>
            <a:srgbClr val="C2571A"/>
          </a:solidFill>
          <a:ln>
            <a:noFill/>
          </a:ln>
        </p:spPr>
        <p:txBody>
          <a:bodyPr rtlCol="0" anchor="ctr"/>
          <a:lstStyle/>
          <a:p>
            <a:pPr algn="ctr"/>
          </a:p>
        </p:txBody>
      </p:sp>
      <p:sp>
        <p:nvSpPr>
          <p:cNvPr id="4" name="Rounded Rectangle 3"/>
          <p:cNvSpPr/>
          <p:nvPr/>
        </p:nvSpPr>
        <p:spPr>
          <a:xfrm>
            <a:off x="594360" y="310896"/>
            <a:ext cx="1517904" cy="329184"/>
          </a:xfrm>
          <a:prstGeom prst="roundRect">
            <a:avLst/>
          </a:prstGeom>
          <a:solidFill>
            <a:srgbClr val="C2571A"/>
          </a:solidFill>
          <a:ln>
            <a:noFill/>
          </a:ln>
        </p:spPr>
        <p:txBody>
          <a:bodyPr rtlCol="0" anchor="ctr"/>
          <a:lstStyle/>
          <a:p>
            <a:pPr algn="ctr"/>
          </a:p>
        </p:txBody>
      </p:sp>
      <p:sp>
        <p:nvSpPr>
          <p:cNvPr id="5" name="TextBox 4"/>
          <p:cNvSpPr txBox="1"/>
          <p:nvPr/>
        </p:nvSpPr>
        <p:spPr>
          <a:xfrm>
            <a:off x="649224" y="310896"/>
            <a:ext cx="1408176" cy="329184"/>
          </a:xfrm>
          <a:prstGeom prst="rect">
            <a:avLst/>
          </a:prstGeom>
          <a:noFill/>
        </p:spPr>
        <p:txBody>
          <a:bodyPr wrap="square" anchor="ctr">
            <a:spAutoFit/>
          </a:bodyPr>
          <a:lstStyle/>
          <a:p>
            <a:pPr algn="ctr"/>
            <a:r>
              <a:rPr sz="1300" b="1">
                <a:solidFill>
                  <a:srgbClr val="FFFFFF"/>
                </a:solidFill>
                <a:latin typeface="Noto Sans SC" panose="020B0200000000000000" charset="-122"/>
                <a:ea typeface="Noto Sans SC" panose="020B0200000000000000" charset="-122"/>
                <a:cs typeface="Noto Sans SC" panose="020B0200000000000000" charset="-122"/>
              </a:rPr>
              <a:t>01  科学绘图</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6" name="TextBox 5"/>
          <p:cNvSpPr txBox="1"/>
          <p:nvPr/>
        </p:nvSpPr>
        <p:spPr>
          <a:xfrm>
            <a:off x="2295144" y="338328"/>
            <a:ext cx="3840480" cy="274320"/>
          </a:xfrm>
          <a:prstGeom prst="rect">
            <a:avLst/>
          </a:prstGeom>
          <a:noFill/>
        </p:spPr>
        <p:txBody>
          <a:bodyPr wrap="square">
            <a:spAutoFit/>
          </a:bodyPr>
          <a:lstStyle/>
          <a:p>
            <a:pPr algn="l"/>
            <a:r>
              <a:rPr sz="1150" b="0">
                <a:solidFill>
                  <a:srgbClr val="6B7B8A"/>
                </a:solidFill>
                <a:latin typeface="Consolas" panose="020B0609020204030204"/>
                <a:ea typeface="Noto Sans SC" panose="020B0200000000000000" charset="-122"/>
                <a:cs typeface="Noto Sans SC" panose="020B0200000000000000" charset="-122"/>
              </a:rPr>
              <a:t>方法 02 · 省力建模</a:t>
            </a:r>
            <a:endParaRPr sz="1150" b="0">
              <a:solidFill>
                <a:srgbClr val="6B7B8A"/>
              </a:solidFill>
              <a:latin typeface="Consolas" panose="020B0609020204030204"/>
              <a:ea typeface="Noto Sans SC" panose="020B0200000000000000" charset="-122"/>
              <a:cs typeface="Noto Sans SC" panose="020B0200000000000000" charset="-122"/>
            </a:endParaRPr>
          </a:p>
        </p:txBody>
      </p:sp>
      <p:sp>
        <p:nvSpPr>
          <p:cNvPr id="7" name="Rounded Rectangle 6"/>
          <p:cNvSpPr/>
          <p:nvPr/>
        </p:nvSpPr>
        <p:spPr>
          <a:xfrm>
            <a:off x="10262311" y="329184"/>
            <a:ext cx="1335024" cy="292608"/>
          </a:xfrm>
          <a:prstGeom prst="roundRect">
            <a:avLst/>
          </a:prstGeom>
          <a:solidFill>
            <a:srgbClr val="FFFFFF"/>
          </a:solidFill>
          <a:ln w="12700">
            <a:solidFill>
              <a:srgbClr val="C9D3DC"/>
            </a:solidFill>
          </a:ln>
        </p:spPr>
        <p:txBody>
          <a:bodyPr rtlCol="0" anchor="ctr"/>
          <a:lstStyle/>
          <a:p>
            <a:pPr algn="ctr"/>
          </a:p>
        </p:txBody>
      </p:sp>
      <p:sp>
        <p:nvSpPr>
          <p:cNvPr id="8" name="Rectangle 7"/>
          <p:cNvSpPr/>
          <p:nvPr/>
        </p:nvSpPr>
        <p:spPr>
          <a:xfrm>
            <a:off x="10381183" y="443484"/>
            <a:ext cx="68580" cy="68580"/>
          </a:xfrm>
          <a:prstGeom prst="rect">
            <a:avLst/>
          </a:prstGeom>
          <a:solidFill>
            <a:srgbClr val="C2571A"/>
          </a:solidFill>
          <a:ln>
            <a:noFill/>
          </a:ln>
        </p:spPr>
        <p:txBody>
          <a:bodyPr rtlCol="0" anchor="ctr"/>
          <a:lstStyle/>
          <a:p>
            <a:pPr algn="ctr"/>
          </a:p>
        </p:txBody>
      </p:sp>
      <p:sp>
        <p:nvSpPr>
          <p:cNvPr id="9" name="TextBox 8"/>
          <p:cNvSpPr txBox="1"/>
          <p:nvPr/>
        </p:nvSpPr>
        <p:spPr>
          <a:xfrm>
            <a:off x="10509199" y="329184"/>
            <a:ext cx="1042415" cy="292608"/>
          </a:xfrm>
          <a:prstGeom prst="rect">
            <a:avLst/>
          </a:prstGeom>
          <a:noFill/>
        </p:spPr>
        <p:txBody>
          <a:bodyPr wrap="square" anchor="ctr">
            <a:spAutoFit/>
          </a:bodyPr>
          <a:lstStyle/>
          <a:p>
            <a:pPr algn="l"/>
            <a:r>
              <a:rPr sz="1150" b="0">
                <a:solidFill>
                  <a:srgbClr val="23384C"/>
                </a:solidFill>
                <a:latin typeface="Consolas" panose="020B0609020204030204"/>
                <a:ea typeface="Noto Sans SC" panose="020B0200000000000000" charset="-122"/>
                <a:cs typeface="Noto Sans SC" panose="020B0200000000000000" charset="-122"/>
              </a:rPr>
              <a:t>Fusion 360</a:t>
            </a:r>
            <a:endParaRPr sz="1150" b="0">
              <a:solidFill>
                <a:srgbClr val="23384C"/>
              </a:solidFill>
              <a:latin typeface="Consolas" panose="020B0609020204030204"/>
              <a:ea typeface="Noto Sans SC" panose="020B0200000000000000" charset="-122"/>
              <a:cs typeface="Noto Sans SC" panose="020B0200000000000000" charset="-122"/>
            </a:endParaRPr>
          </a:p>
        </p:txBody>
      </p:sp>
      <p:sp>
        <p:nvSpPr>
          <p:cNvPr id="10" name="TextBox 9"/>
          <p:cNvSpPr txBox="1"/>
          <p:nvPr/>
        </p:nvSpPr>
        <p:spPr>
          <a:xfrm>
            <a:off x="594360" y="841248"/>
            <a:ext cx="10058400" cy="502920"/>
          </a:xfrm>
          <a:prstGeom prst="rect">
            <a:avLst/>
          </a:prstGeom>
          <a:noFill/>
        </p:spPr>
        <p:txBody>
          <a:bodyPr wrap="square">
            <a:spAutoFit/>
          </a:bodyPr>
          <a:lstStyle/>
          <a:p>
            <a:pPr algn="l"/>
            <a:r>
              <a:rPr sz="2700" b="1">
                <a:solidFill>
                  <a:srgbClr val="12304F"/>
                </a:solidFill>
                <a:latin typeface="Noto Sans SC" panose="020B0200000000000000" charset="-122"/>
                <a:ea typeface="Noto Sans SC" panose="020B0200000000000000" charset="-122"/>
                <a:cs typeface="Noto Sans SC" panose="020B0200000000000000" charset="-122"/>
              </a:rPr>
              <a:t>省力建模三条主线</a:t>
            </a:r>
            <a:endParaRPr sz="270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11" name="TextBox 10"/>
          <p:cNvSpPr txBox="1"/>
          <p:nvPr/>
        </p:nvSpPr>
        <p:spPr>
          <a:xfrm>
            <a:off x="594360" y="1344168"/>
            <a:ext cx="10607040" cy="274320"/>
          </a:xfrm>
          <a:prstGeom prst="rect">
            <a:avLst/>
          </a:prstGeom>
          <a:noFill/>
        </p:spPr>
        <p:txBody>
          <a:bodyPr wrap="square">
            <a:spAutoFit/>
          </a:bodyPr>
          <a:lstStyle/>
          <a:p>
            <a:pPr algn="l"/>
            <a:r>
              <a:rPr sz="1350" b="0">
                <a:solidFill>
                  <a:srgbClr val="6B7B8A"/>
                </a:solidFill>
                <a:latin typeface="Noto Sans SC" panose="020B0200000000000000" charset="-122"/>
                <a:ea typeface="Noto Sans SC" panose="020B0200000000000000" charset="-122"/>
                <a:cs typeface="Noto Sans SC" panose="020B0200000000000000" charset="-122"/>
              </a:rPr>
              <a:t>参数化 · 对称复用 · 约束驱动 —— 决定你要返工几次</a:t>
            </a:r>
            <a:endParaRPr sz="13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12" name="Rectangle 11"/>
          <p:cNvSpPr/>
          <p:nvPr/>
        </p:nvSpPr>
        <p:spPr>
          <a:xfrm>
            <a:off x="594360" y="1700784"/>
            <a:ext cx="11002975" cy="12801"/>
          </a:xfrm>
          <a:prstGeom prst="rect">
            <a:avLst/>
          </a:prstGeom>
          <a:solidFill>
            <a:srgbClr val="C9D3DC"/>
          </a:solidFill>
          <a:ln>
            <a:noFill/>
          </a:ln>
        </p:spPr>
        <p:txBody>
          <a:bodyPr rtlCol="0" anchor="ctr"/>
          <a:lstStyle/>
          <a:p>
            <a:pPr algn="ctr"/>
          </a:p>
        </p:txBody>
      </p:sp>
      <p:sp>
        <p:nvSpPr>
          <p:cNvPr id="13" name="TextBox 12"/>
          <p:cNvSpPr txBox="1"/>
          <p:nvPr/>
        </p:nvSpPr>
        <p:spPr>
          <a:xfrm>
            <a:off x="10515600" y="6400800"/>
            <a:ext cx="1371600" cy="274320"/>
          </a:xfrm>
          <a:prstGeom prst="rect">
            <a:avLst/>
          </a:prstGeom>
          <a:noFill/>
        </p:spPr>
        <p:txBody>
          <a:bodyPr wrap="square">
            <a:spAutoFit/>
          </a:bodyPr>
          <a:lstStyle/>
          <a:p>
            <a:pPr algn="r"/>
            <a:r>
              <a:rPr sz="1000" b="0">
                <a:solidFill>
                  <a:srgbClr val="6B7B8A"/>
                </a:solidFill>
                <a:latin typeface="Noto Sans SC" panose="020B0200000000000000" charset="-122"/>
                <a:ea typeface="Noto Sans SC" panose="020B0200000000000000" charset="-122"/>
                <a:cs typeface="Noto Sans SC" panose="020B0200000000000000" charset="-122"/>
              </a:rPr>
              <a:t>6 / 34</a:t>
            </a:r>
            <a:endParaRPr sz="100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14" name="Rectangle 13"/>
          <p:cNvSpPr/>
          <p:nvPr/>
        </p:nvSpPr>
        <p:spPr>
          <a:xfrm>
            <a:off x="594360" y="2057400"/>
            <a:ext cx="3547745" cy="3103245"/>
          </a:xfrm>
          <a:prstGeom prst="rect">
            <a:avLst/>
          </a:prstGeom>
          <a:solidFill>
            <a:srgbClr val="FFFFFF"/>
          </a:solidFill>
          <a:ln w="12700">
            <a:solidFill>
              <a:srgbClr val="C9D3DC"/>
            </a:solidFill>
          </a:ln>
        </p:spPr>
        <p:txBody>
          <a:bodyPr rtlCol="0" anchor="ctr"/>
          <a:lstStyle/>
          <a:p>
            <a:pPr algn="ctr"/>
          </a:p>
        </p:txBody>
      </p:sp>
      <p:sp>
        <p:nvSpPr>
          <p:cNvPr id="15" name="Rectangle 14"/>
          <p:cNvSpPr/>
          <p:nvPr/>
        </p:nvSpPr>
        <p:spPr>
          <a:xfrm>
            <a:off x="594360" y="2057400"/>
            <a:ext cx="3547872" cy="45720"/>
          </a:xfrm>
          <a:prstGeom prst="rect">
            <a:avLst/>
          </a:prstGeom>
          <a:solidFill>
            <a:srgbClr val="C2571A"/>
          </a:solidFill>
          <a:ln>
            <a:noFill/>
          </a:ln>
        </p:spPr>
        <p:txBody>
          <a:bodyPr rtlCol="0" anchor="ctr"/>
          <a:lstStyle/>
          <a:p>
            <a:pPr algn="ctr"/>
          </a:p>
        </p:txBody>
      </p:sp>
      <p:sp>
        <p:nvSpPr>
          <p:cNvPr id="16" name="TextBox 15"/>
          <p:cNvSpPr txBox="1"/>
          <p:nvPr/>
        </p:nvSpPr>
        <p:spPr>
          <a:xfrm>
            <a:off x="777240" y="2194560"/>
            <a:ext cx="3108960" cy="292608"/>
          </a:xfrm>
          <a:prstGeom prst="rect">
            <a:avLst/>
          </a:prstGeom>
          <a:noFill/>
        </p:spPr>
        <p:txBody>
          <a:bodyPr wrap="square">
            <a:spAutoFit/>
          </a:bodyPr>
          <a:lstStyle/>
          <a:p>
            <a:pPr algn="l"/>
            <a:r>
              <a:rPr sz="1600" b="1">
                <a:solidFill>
                  <a:srgbClr val="12304F"/>
                </a:solidFill>
                <a:latin typeface="Noto Sans SC" panose="020B0200000000000000" charset="-122"/>
                <a:ea typeface="Noto Sans SC" panose="020B0200000000000000" charset="-122"/>
                <a:cs typeface="Noto Sans SC" panose="020B0200000000000000" charset="-122"/>
              </a:rPr>
              <a:t>参数化</a:t>
            </a:r>
            <a:endParaRPr sz="160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17" name="Rectangle 16"/>
          <p:cNvSpPr/>
          <p:nvPr/>
        </p:nvSpPr>
        <p:spPr>
          <a:xfrm>
            <a:off x="795528" y="2560320"/>
            <a:ext cx="3145536" cy="1060704"/>
          </a:xfrm>
          <a:prstGeom prst="rect">
            <a:avLst/>
          </a:prstGeom>
          <a:solidFill>
            <a:srgbClr val="FBFAF6"/>
          </a:solidFill>
          <a:ln w="12700">
            <a:solidFill>
              <a:srgbClr val="9FB0BF"/>
            </a:solidFill>
            <a:prstDash val="dash"/>
          </a:ln>
        </p:spPr>
        <p:txBody>
          <a:bodyPr rtlCol="0" anchor="ctr"/>
          <a:lstStyle/>
          <a:p>
            <a:pPr algn="ctr"/>
          </a:p>
        </p:txBody>
      </p:sp>
      <p:sp>
        <p:nvSpPr>
          <p:cNvPr id="18" name="TextBox 17"/>
          <p:cNvSpPr txBox="1"/>
          <p:nvPr/>
        </p:nvSpPr>
        <p:spPr>
          <a:xfrm>
            <a:off x="905256" y="2633472"/>
            <a:ext cx="2926080" cy="219456"/>
          </a:xfrm>
          <a:prstGeom prst="rect">
            <a:avLst/>
          </a:prstGeom>
          <a:noFill/>
        </p:spPr>
        <p:txBody>
          <a:bodyPr wrap="square">
            <a:spAutoFit/>
          </a:bodyPr>
          <a:lstStyle/>
          <a:p>
            <a:pPr algn="l"/>
            <a:r>
              <a:rPr sz="950" b="0">
                <a:solidFill>
                  <a:srgbClr val="6B7B8A"/>
                </a:solidFill>
                <a:latin typeface="Consolas" panose="020B0609020204030204"/>
                <a:ea typeface="Noto Sans SC" panose="020B0200000000000000" charset="-122"/>
                <a:cs typeface="Noto Sans SC" panose="020B0200000000000000" charset="-122"/>
              </a:rPr>
              <a:t>图位 P06-1</a:t>
            </a:r>
            <a:endParaRPr sz="950" b="0">
              <a:solidFill>
                <a:srgbClr val="6B7B8A"/>
              </a:solidFill>
              <a:latin typeface="Consolas" panose="020B0609020204030204"/>
              <a:ea typeface="Noto Sans SC" panose="020B0200000000000000" charset="-122"/>
              <a:cs typeface="Noto Sans SC" panose="020B0200000000000000" charset="-122"/>
            </a:endParaRPr>
          </a:p>
        </p:txBody>
      </p:sp>
      <p:sp>
        <p:nvSpPr>
          <p:cNvPr id="19" name="Rectangle 18"/>
          <p:cNvSpPr/>
          <p:nvPr/>
        </p:nvSpPr>
        <p:spPr>
          <a:xfrm>
            <a:off x="2093976" y="2779776"/>
            <a:ext cx="548640" cy="402336"/>
          </a:xfrm>
          <a:prstGeom prst="rect">
            <a:avLst/>
          </a:prstGeom>
          <a:solidFill>
            <a:srgbClr val="FFFFFF"/>
          </a:solidFill>
          <a:ln w="12700">
            <a:solidFill>
              <a:srgbClr val="9FB0BF"/>
            </a:solidFill>
          </a:ln>
        </p:spPr>
        <p:txBody>
          <a:bodyPr rtlCol="0" anchor="ctr"/>
          <a:lstStyle/>
          <a:p>
            <a:pPr algn="ctr"/>
          </a:p>
        </p:txBody>
      </p:sp>
      <p:sp>
        <p:nvSpPr>
          <p:cNvPr id="20" name="Isosceles Triangle 19"/>
          <p:cNvSpPr/>
          <p:nvPr/>
        </p:nvSpPr>
        <p:spPr>
          <a:xfrm>
            <a:off x="2185416" y="2944368"/>
            <a:ext cx="146304" cy="128016"/>
          </a:xfrm>
          <a:prstGeom prst="triangle">
            <a:avLst/>
          </a:prstGeom>
          <a:solidFill>
            <a:srgbClr val="9FB0BF"/>
          </a:solidFill>
          <a:ln>
            <a:noFill/>
          </a:ln>
        </p:spPr>
        <p:txBody>
          <a:bodyPr rtlCol="0" anchor="ctr"/>
          <a:lstStyle/>
          <a:p>
            <a:pPr algn="ctr"/>
          </a:p>
        </p:txBody>
      </p:sp>
      <p:sp>
        <p:nvSpPr>
          <p:cNvPr id="21" name="Isosceles Triangle 20"/>
          <p:cNvSpPr/>
          <p:nvPr/>
        </p:nvSpPr>
        <p:spPr>
          <a:xfrm>
            <a:off x="2350008" y="2889504"/>
            <a:ext cx="182880" cy="164592"/>
          </a:xfrm>
          <a:prstGeom prst="triangle">
            <a:avLst/>
          </a:prstGeom>
          <a:solidFill>
            <a:srgbClr val="9FB0BF"/>
          </a:solidFill>
          <a:ln>
            <a:noFill/>
          </a:ln>
        </p:spPr>
        <p:txBody>
          <a:bodyPr rtlCol="0" anchor="ctr"/>
          <a:lstStyle/>
          <a:p>
            <a:pPr algn="ctr"/>
          </a:p>
        </p:txBody>
      </p:sp>
      <p:sp>
        <p:nvSpPr>
          <p:cNvPr id="22" name="Oval 21"/>
          <p:cNvSpPr/>
          <p:nvPr/>
        </p:nvSpPr>
        <p:spPr>
          <a:xfrm>
            <a:off x="2478024" y="2852928"/>
            <a:ext cx="91440" cy="91440"/>
          </a:xfrm>
          <a:prstGeom prst="ellipse">
            <a:avLst/>
          </a:prstGeom>
          <a:solidFill>
            <a:srgbClr val="9FB0BF"/>
          </a:solidFill>
          <a:ln>
            <a:noFill/>
          </a:ln>
        </p:spPr>
        <p:txBody>
          <a:bodyPr rtlCol="0" anchor="ctr"/>
          <a:lstStyle/>
          <a:p>
            <a:pPr algn="ctr"/>
          </a:p>
        </p:txBody>
      </p:sp>
      <p:sp>
        <p:nvSpPr>
          <p:cNvPr id="23" name="TextBox 22"/>
          <p:cNvSpPr txBox="1"/>
          <p:nvPr/>
        </p:nvSpPr>
        <p:spPr>
          <a:xfrm>
            <a:off x="923544" y="3145536"/>
            <a:ext cx="2889504" cy="237744"/>
          </a:xfrm>
          <a:prstGeom prst="rect">
            <a:avLst/>
          </a:prstGeom>
          <a:noFill/>
        </p:spPr>
        <p:txBody>
          <a:bodyPr wrap="square">
            <a:spAutoFit/>
          </a:bodyPr>
          <a:lstStyle/>
          <a:p>
            <a:pPr algn="ctr"/>
            <a:r>
              <a:rPr sz="1050" b="0">
                <a:solidFill>
                  <a:srgbClr val="23384C"/>
                </a:solidFill>
                <a:latin typeface="Noto Sans SC" panose="020B0200000000000000" charset="-122"/>
                <a:ea typeface="Noto Sans SC" panose="020B0200000000000000" charset="-122"/>
                <a:cs typeface="Noto Sans SC" panose="020B0200000000000000" charset="-122"/>
              </a:rPr>
              <a:t>参数表截图（Change Parameters）</a:t>
            </a:r>
            <a:endParaRPr sz="10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4" name="TextBox 23"/>
          <p:cNvSpPr txBox="1"/>
          <p:nvPr/>
        </p:nvSpPr>
        <p:spPr>
          <a:xfrm>
            <a:off x="795655" y="4241927"/>
            <a:ext cx="3200400" cy="548640"/>
          </a:xfrm>
          <a:prstGeom prst="rect">
            <a:avLst/>
          </a:prstGeom>
          <a:noFill/>
        </p:spPr>
        <p:txBody>
          <a:bodyPr wrap="square">
            <a:spAutoFit/>
          </a:bodyPr>
          <a:lstStyle/>
          <a:p>
            <a:pPr algn="l">
              <a:spcBef>
                <a:spcPts val="200"/>
              </a:spcBef>
              <a:spcAft>
                <a:spcPts val="200"/>
              </a:spcAft>
            </a:pPr>
            <a:r>
              <a:rPr sz="1200" b="0">
                <a:solidFill>
                  <a:srgbClr val="23384C"/>
                </a:solidFill>
                <a:latin typeface="Noto Sans SC" panose="020B0200000000000000" charset="-122"/>
                <a:ea typeface="Noto Sans SC" panose="020B0200000000000000" charset="-122"/>
                <a:cs typeface="Noto Sans SC" panose="020B0200000000000000" charset="-122"/>
              </a:rPr>
              <a:t>把会变的尺寸抽成用户参数，改一个值全模型联动。</a:t>
            </a:r>
            <a:endParaRPr sz="120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5" name="TextBox 24"/>
          <p:cNvSpPr txBox="1"/>
          <p:nvPr/>
        </p:nvSpPr>
        <p:spPr>
          <a:xfrm>
            <a:off x="795655" y="4790313"/>
            <a:ext cx="3291840" cy="237744"/>
          </a:xfrm>
          <a:prstGeom prst="rect">
            <a:avLst/>
          </a:prstGeom>
          <a:noFill/>
        </p:spPr>
        <p:txBody>
          <a:bodyPr wrap="square">
            <a:spAutoFit/>
          </a:bodyPr>
          <a:lstStyle/>
          <a:p>
            <a:pPr algn="l"/>
            <a:r>
              <a:rPr sz="950" b="0">
                <a:solidFill>
                  <a:srgbClr val="C2571A"/>
                </a:solidFill>
                <a:latin typeface="Consolas" panose="020B0609020204030204"/>
                <a:ea typeface="Noto Sans SC" panose="020B0200000000000000" charset="-122"/>
                <a:cs typeface="Noto Sans SC" panose="020B0200000000000000" charset="-122"/>
              </a:rPr>
              <a:t>Modify ▸ Change Parameters</a:t>
            </a:r>
            <a:endParaRPr sz="950" b="0">
              <a:solidFill>
                <a:srgbClr val="C2571A"/>
              </a:solidFill>
              <a:latin typeface="Consolas" panose="020B0609020204030204"/>
              <a:ea typeface="Noto Sans SC" panose="020B0200000000000000" charset="-122"/>
              <a:cs typeface="Noto Sans SC" panose="020B0200000000000000" charset="-122"/>
            </a:endParaRPr>
          </a:p>
        </p:txBody>
      </p:sp>
      <p:sp>
        <p:nvSpPr>
          <p:cNvPr id="26" name="Rectangle 25"/>
          <p:cNvSpPr/>
          <p:nvPr/>
        </p:nvSpPr>
        <p:spPr>
          <a:xfrm>
            <a:off x="4316095" y="2057400"/>
            <a:ext cx="3547745" cy="3083560"/>
          </a:xfrm>
          <a:prstGeom prst="rect">
            <a:avLst/>
          </a:prstGeom>
          <a:solidFill>
            <a:srgbClr val="FFFFFF"/>
          </a:solidFill>
          <a:ln w="12700">
            <a:solidFill>
              <a:srgbClr val="C9D3DC"/>
            </a:solidFill>
          </a:ln>
        </p:spPr>
        <p:txBody>
          <a:bodyPr rtlCol="0" anchor="ctr"/>
          <a:lstStyle/>
          <a:p>
            <a:pPr algn="ctr"/>
          </a:p>
        </p:txBody>
      </p:sp>
      <p:sp>
        <p:nvSpPr>
          <p:cNvPr id="27" name="Rectangle 26"/>
          <p:cNvSpPr/>
          <p:nvPr/>
        </p:nvSpPr>
        <p:spPr>
          <a:xfrm>
            <a:off x="4315968" y="2057400"/>
            <a:ext cx="3547872" cy="45720"/>
          </a:xfrm>
          <a:prstGeom prst="rect">
            <a:avLst/>
          </a:prstGeom>
          <a:solidFill>
            <a:srgbClr val="0E7C74"/>
          </a:solidFill>
          <a:ln>
            <a:noFill/>
          </a:ln>
        </p:spPr>
        <p:txBody>
          <a:bodyPr rtlCol="0" anchor="ctr"/>
          <a:lstStyle/>
          <a:p>
            <a:pPr algn="ctr"/>
          </a:p>
        </p:txBody>
      </p:sp>
      <p:sp>
        <p:nvSpPr>
          <p:cNvPr id="28" name="TextBox 27"/>
          <p:cNvSpPr txBox="1"/>
          <p:nvPr/>
        </p:nvSpPr>
        <p:spPr>
          <a:xfrm>
            <a:off x="4498848" y="2194560"/>
            <a:ext cx="3108960" cy="292608"/>
          </a:xfrm>
          <a:prstGeom prst="rect">
            <a:avLst/>
          </a:prstGeom>
          <a:noFill/>
        </p:spPr>
        <p:txBody>
          <a:bodyPr wrap="square">
            <a:spAutoFit/>
          </a:bodyPr>
          <a:lstStyle/>
          <a:p>
            <a:pPr algn="l"/>
            <a:r>
              <a:rPr sz="1600" b="1">
                <a:solidFill>
                  <a:srgbClr val="12304F"/>
                </a:solidFill>
                <a:latin typeface="Noto Sans SC" panose="020B0200000000000000" charset="-122"/>
                <a:ea typeface="Noto Sans SC" panose="020B0200000000000000" charset="-122"/>
                <a:cs typeface="Noto Sans SC" panose="020B0200000000000000" charset="-122"/>
              </a:rPr>
              <a:t>对称复用</a:t>
            </a:r>
            <a:endParaRPr sz="160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36" name="TextBox 35"/>
          <p:cNvSpPr txBox="1"/>
          <p:nvPr/>
        </p:nvSpPr>
        <p:spPr>
          <a:xfrm>
            <a:off x="4517263" y="3283077"/>
            <a:ext cx="3200400" cy="548640"/>
          </a:xfrm>
          <a:prstGeom prst="rect">
            <a:avLst/>
          </a:prstGeom>
          <a:noFill/>
        </p:spPr>
        <p:txBody>
          <a:bodyPr wrap="square">
            <a:spAutoFit/>
          </a:bodyPr>
          <a:lstStyle/>
          <a:p>
            <a:pPr algn="l">
              <a:spcBef>
                <a:spcPts val="200"/>
              </a:spcBef>
              <a:spcAft>
                <a:spcPts val="200"/>
              </a:spcAft>
            </a:pPr>
            <a:r>
              <a:rPr sz="1200" b="0">
                <a:solidFill>
                  <a:srgbClr val="23384C"/>
                </a:solidFill>
                <a:latin typeface="Noto Sans SC" panose="020B0200000000000000" charset="-122"/>
                <a:ea typeface="Noto Sans SC" panose="020B0200000000000000" charset="-122"/>
                <a:cs typeface="Noto Sans SC" panose="020B0200000000000000" charset="-122"/>
              </a:rPr>
              <a:t>左右件只画一半：镜像 + 阵列，改一处两处都变。</a:t>
            </a:r>
            <a:endParaRPr sz="120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37" name="TextBox 36"/>
          <p:cNvSpPr txBox="1"/>
          <p:nvPr/>
        </p:nvSpPr>
        <p:spPr>
          <a:xfrm>
            <a:off x="4517263" y="4790313"/>
            <a:ext cx="3291840" cy="237744"/>
          </a:xfrm>
          <a:prstGeom prst="rect">
            <a:avLst/>
          </a:prstGeom>
          <a:noFill/>
        </p:spPr>
        <p:txBody>
          <a:bodyPr wrap="square">
            <a:spAutoFit/>
          </a:bodyPr>
          <a:lstStyle/>
          <a:p>
            <a:pPr algn="l"/>
            <a:r>
              <a:rPr sz="950" b="0">
                <a:solidFill>
                  <a:srgbClr val="0E7C74"/>
                </a:solidFill>
                <a:latin typeface="Consolas" panose="020B0609020204030204"/>
                <a:ea typeface="Noto Sans SC" panose="020B0200000000000000" charset="-122"/>
                <a:cs typeface="Noto Sans SC" panose="020B0200000000000000" charset="-122"/>
              </a:rPr>
              <a:t>Sketch ▸ Mirror / Create ▸ Pattern</a:t>
            </a:r>
            <a:endParaRPr sz="950" b="0">
              <a:solidFill>
                <a:srgbClr val="0E7C74"/>
              </a:solidFill>
              <a:latin typeface="Consolas" panose="020B0609020204030204"/>
              <a:ea typeface="Noto Sans SC" panose="020B0200000000000000" charset="-122"/>
              <a:cs typeface="Noto Sans SC" panose="020B0200000000000000" charset="-122"/>
            </a:endParaRPr>
          </a:p>
        </p:txBody>
      </p:sp>
      <p:sp>
        <p:nvSpPr>
          <p:cNvPr id="38" name="Rectangle 37"/>
          <p:cNvSpPr/>
          <p:nvPr/>
        </p:nvSpPr>
        <p:spPr>
          <a:xfrm>
            <a:off x="8004175" y="2057400"/>
            <a:ext cx="3547745" cy="3083560"/>
          </a:xfrm>
          <a:prstGeom prst="rect">
            <a:avLst/>
          </a:prstGeom>
          <a:solidFill>
            <a:srgbClr val="FFFFFF"/>
          </a:solidFill>
          <a:ln w="12700">
            <a:solidFill>
              <a:srgbClr val="C9D3DC"/>
            </a:solidFill>
          </a:ln>
        </p:spPr>
        <p:txBody>
          <a:bodyPr rtlCol="0" anchor="ctr"/>
          <a:lstStyle/>
          <a:p>
            <a:pPr algn="ctr"/>
          </a:p>
        </p:txBody>
      </p:sp>
      <p:sp>
        <p:nvSpPr>
          <p:cNvPr id="39" name="Rectangle 38"/>
          <p:cNvSpPr/>
          <p:nvPr/>
        </p:nvSpPr>
        <p:spPr>
          <a:xfrm>
            <a:off x="8037576" y="2057400"/>
            <a:ext cx="3547872" cy="45720"/>
          </a:xfrm>
          <a:prstGeom prst="rect">
            <a:avLst/>
          </a:prstGeom>
          <a:solidFill>
            <a:srgbClr val="1D5FA8"/>
          </a:solidFill>
          <a:ln>
            <a:noFill/>
          </a:ln>
        </p:spPr>
        <p:txBody>
          <a:bodyPr rtlCol="0" anchor="ctr"/>
          <a:lstStyle/>
          <a:p>
            <a:pPr algn="ctr"/>
          </a:p>
        </p:txBody>
      </p:sp>
      <p:sp>
        <p:nvSpPr>
          <p:cNvPr id="40" name="TextBox 39"/>
          <p:cNvSpPr txBox="1"/>
          <p:nvPr/>
        </p:nvSpPr>
        <p:spPr>
          <a:xfrm>
            <a:off x="8220456" y="2194560"/>
            <a:ext cx="3108960" cy="292608"/>
          </a:xfrm>
          <a:prstGeom prst="rect">
            <a:avLst/>
          </a:prstGeom>
          <a:noFill/>
        </p:spPr>
        <p:txBody>
          <a:bodyPr wrap="square">
            <a:spAutoFit/>
          </a:bodyPr>
          <a:lstStyle/>
          <a:p>
            <a:pPr algn="l"/>
            <a:r>
              <a:rPr sz="1600" b="1">
                <a:solidFill>
                  <a:srgbClr val="12304F"/>
                </a:solidFill>
                <a:latin typeface="Noto Sans SC" panose="020B0200000000000000" charset="-122"/>
                <a:ea typeface="Noto Sans SC" panose="020B0200000000000000" charset="-122"/>
                <a:cs typeface="Noto Sans SC" panose="020B0200000000000000" charset="-122"/>
              </a:rPr>
              <a:t>约束驱动</a:t>
            </a:r>
            <a:endParaRPr sz="160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48" name="TextBox 47"/>
          <p:cNvSpPr txBox="1"/>
          <p:nvPr/>
        </p:nvSpPr>
        <p:spPr>
          <a:xfrm>
            <a:off x="8238871" y="3232277"/>
            <a:ext cx="3200400" cy="548640"/>
          </a:xfrm>
          <a:prstGeom prst="rect">
            <a:avLst/>
          </a:prstGeom>
          <a:noFill/>
        </p:spPr>
        <p:txBody>
          <a:bodyPr wrap="square">
            <a:spAutoFit/>
          </a:bodyPr>
          <a:lstStyle/>
          <a:p>
            <a:pPr algn="l">
              <a:spcBef>
                <a:spcPts val="200"/>
              </a:spcBef>
              <a:spcAft>
                <a:spcPts val="200"/>
              </a:spcAft>
            </a:pPr>
            <a:r>
              <a:rPr sz="1200" b="0">
                <a:solidFill>
                  <a:srgbClr val="23384C"/>
                </a:solidFill>
                <a:latin typeface="Noto Sans SC" panose="020B0200000000000000" charset="-122"/>
                <a:ea typeface="Noto Sans SC" panose="020B0200000000000000" charset="-122"/>
                <a:cs typeface="Noto Sans SC" panose="020B0200000000000000" charset="-122"/>
              </a:rPr>
              <a:t>先几何约束定形状，最后标尺寸，草图不会乱跑。</a:t>
            </a:r>
            <a:endParaRPr sz="120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49" name="TextBox 48"/>
          <p:cNvSpPr txBox="1"/>
          <p:nvPr/>
        </p:nvSpPr>
        <p:spPr>
          <a:xfrm>
            <a:off x="8220456" y="4790313"/>
            <a:ext cx="3291840" cy="237744"/>
          </a:xfrm>
          <a:prstGeom prst="rect">
            <a:avLst/>
          </a:prstGeom>
          <a:noFill/>
        </p:spPr>
        <p:txBody>
          <a:bodyPr wrap="square">
            <a:spAutoFit/>
          </a:bodyPr>
          <a:lstStyle/>
          <a:p>
            <a:pPr algn="l"/>
            <a:r>
              <a:rPr sz="950" b="0">
                <a:solidFill>
                  <a:srgbClr val="1D5FA8"/>
                </a:solidFill>
                <a:latin typeface="Consolas" panose="020B0609020204030204"/>
                <a:ea typeface="Noto Sans SC" panose="020B0200000000000000" charset="-122"/>
                <a:cs typeface="Noto Sans SC" panose="020B0200000000000000" charset="-122"/>
              </a:rPr>
              <a:t>Sketch Palette ▸ Show Constraints</a:t>
            </a:r>
            <a:endParaRPr sz="950" b="0">
              <a:solidFill>
                <a:srgbClr val="1D5FA8"/>
              </a:solidFill>
              <a:latin typeface="Consolas" panose="020B0609020204030204"/>
              <a:ea typeface="Noto Sans SC" panose="020B0200000000000000" charset="-122"/>
              <a:cs typeface="Noto Sans SC" panose="020B0200000000000000" charset="-122"/>
            </a:endParaRPr>
          </a:p>
        </p:txBody>
      </p:sp>
      <p:sp>
        <p:nvSpPr>
          <p:cNvPr id="50" name="Rounded Rectangle 49"/>
          <p:cNvSpPr/>
          <p:nvPr/>
        </p:nvSpPr>
        <p:spPr>
          <a:xfrm>
            <a:off x="582295" y="5401183"/>
            <a:ext cx="11002975" cy="420624"/>
          </a:xfrm>
          <a:prstGeom prst="roundRect">
            <a:avLst/>
          </a:prstGeom>
          <a:solidFill>
            <a:srgbClr val="FBEDEB"/>
          </a:solidFill>
          <a:ln w="12700">
            <a:solidFill>
              <a:srgbClr val="B03A2E"/>
            </a:solidFill>
          </a:ln>
        </p:spPr>
        <p:txBody>
          <a:bodyPr rtlCol="0" anchor="ctr"/>
          <a:lstStyle/>
          <a:p>
            <a:pPr algn="ctr"/>
          </a:p>
        </p:txBody>
      </p:sp>
      <p:sp>
        <p:nvSpPr>
          <p:cNvPr id="51" name="Rectangle 50"/>
          <p:cNvSpPr/>
          <p:nvPr/>
        </p:nvSpPr>
        <p:spPr>
          <a:xfrm>
            <a:off x="575945" y="5401183"/>
            <a:ext cx="50292" cy="420624"/>
          </a:xfrm>
          <a:prstGeom prst="rect">
            <a:avLst/>
          </a:prstGeom>
          <a:solidFill>
            <a:srgbClr val="B03A2E"/>
          </a:solidFill>
          <a:ln>
            <a:noFill/>
          </a:ln>
        </p:spPr>
        <p:txBody>
          <a:bodyPr rtlCol="0" anchor="ctr"/>
          <a:lstStyle/>
          <a:p>
            <a:pPr algn="ctr"/>
          </a:p>
        </p:txBody>
      </p:sp>
      <p:sp>
        <p:nvSpPr>
          <p:cNvPr id="52" name="TextBox 51"/>
          <p:cNvSpPr txBox="1"/>
          <p:nvPr/>
        </p:nvSpPr>
        <p:spPr>
          <a:xfrm>
            <a:off x="777113" y="5401183"/>
            <a:ext cx="10600639" cy="420624"/>
          </a:xfrm>
          <a:prstGeom prst="rect">
            <a:avLst/>
          </a:prstGeom>
          <a:noFill/>
        </p:spPr>
        <p:txBody>
          <a:bodyPr wrap="square" anchor="ctr">
            <a:spAutoFit/>
          </a:bodyPr>
          <a:lstStyle/>
          <a:p>
            <a:pPr algn="l"/>
            <a:r>
              <a:rPr sz="1300" b="1">
                <a:solidFill>
                  <a:srgbClr val="B03A2E"/>
                </a:solidFill>
                <a:latin typeface="Noto Sans SC" panose="020B0200000000000000" charset="-122"/>
                <a:ea typeface="Noto Sans SC" panose="020B0200000000000000" charset="-122"/>
                <a:cs typeface="Noto Sans SC" panose="020B0200000000000000" charset="-122"/>
              </a:rPr>
              <a:t>反例：一堆散尺寸的「图片式草图」—— 改一个尺寸，整张草图崩掉。</a:t>
            </a:r>
            <a:endParaRPr sz="1300" b="1">
              <a:solidFill>
                <a:srgbClr val="B03A2E"/>
              </a:solidFill>
              <a:latin typeface="Noto Sans SC" panose="020B0200000000000000" charset="-122"/>
              <a:ea typeface="Noto Sans SC" panose="020B0200000000000000" charset="-122"/>
              <a:cs typeface="Noto Sans SC" panose="020B0200000000000000" charset="-122"/>
            </a:endParaRPr>
          </a:p>
        </p:txBody>
      </p:sp>
      <p:sp>
        <p:nvSpPr>
          <p:cNvPr id="53" name="Rectangle 52"/>
          <p:cNvSpPr/>
          <p:nvPr/>
        </p:nvSpPr>
        <p:spPr>
          <a:xfrm>
            <a:off x="594360" y="6199632"/>
            <a:ext cx="11002975" cy="10972"/>
          </a:xfrm>
          <a:prstGeom prst="rect">
            <a:avLst/>
          </a:prstGeom>
          <a:solidFill>
            <a:srgbClr val="C9D3DC"/>
          </a:solidFill>
          <a:ln>
            <a:noFill/>
          </a:ln>
        </p:spPr>
        <p:txBody>
          <a:bodyPr rtlCol="0" anchor="ctr"/>
          <a:lstStyle/>
          <a:p>
            <a:pPr algn="ctr"/>
          </a:p>
        </p:txBody>
      </p:sp>
      <p:sp>
        <p:nvSpPr>
          <p:cNvPr id="54" name="TextBox 53"/>
          <p:cNvSpPr txBox="1"/>
          <p:nvPr/>
        </p:nvSpPr>
        <p:spPr>
          <a:xfrm>
            <a:off x="594360" y="6327648"/>
            <a:ext cx="8778240" cy="274320"/>
          </a:xfrm>
          <a:prstGeom prst="rect">
            <a:avLst/>
          </a:prstGeom>
          <a:noFill/>
        </p:spPr>
        <p:txBody>
          <a:bodyPr wrap="square">
            <a:spAutoFit/>
          </a:bodyPr>
          <a:lstStyle/>
          <a:p>
            <a:pPr algn="l"/>
            <a:r>
              <a:rPr sz="1100" b="0">
                <a:solidFill>
                  <a:srgbClr val="6B7B8A"/>
                </a:solidFill>
                <a:latin typeface="Noto Sans SC" panose="020B0200000000000000" charset="-122"/>
                <a:ea typeface="Noto Sans SC" panose="020B0200000000000000" charset="-122"/>
                <a:cs typeface="Noto Sans SC" panose="020B0200000000000000" charset="-122"/>
              </a:rPr>
              <a:t>可迁移：拿到任何零件先问三句 —— 哪些尺寸会变？哪里对称？靠什么约束锁住？</a:t>
            </a:r>
            <a:endParaRPr sz="1100" b="0">
              <a:solidFill>
                <a:srgbClr val="6B7B8A"/>
              </a:solidFill>
              <a:latin typeface="Noto Sans SC" panose="020B0200000000000000" charset="-122"/>
              <a:ea typeface="Noto Sans SC" panose="020B0200000000000000" charset="-122"/>
              <a:cs typeface="Noto Sans SC" panose="020B0200000000000000" charset="-122"/>
            </a:endParaRPr>
          </a:p>
        </p:txBody>
      </p:sp>
      <p:pic>
        <p:nvPicPr>
          <p:cNvPr id="58" name="图片 57"/>
          <p:cNvPicPr>
            <a:picLocks noChangeAspect="1"/>
          </p:cNvPicPr>
          <p:nvPr/>
        </p:nvPicPr>
        <p:blipFill>
          <a:blip r:embed="rId2"/>
          <a:stretch>
            <a:fillRect/>
          </a:stretch>
        </p:blipFill>
        <p:spPr>
          <a:xfrm>
            <a:off x="710931" y="2518078"/>
            <a:ext cx="3336046" cy="132806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pic>
        <p:nvPicPr>
          <p:cNvPr id="2" name="Picture 1" descr="447916673a97bd1f0e53b186d485eed5.png"/>
          <p:cNvPicPr>
            <a:picLocks noChangeAspect="1"/>
          </p:cNvPicPr>
          <p:nvPr/>
        </p:nvPicPr>
        <p:blipFill>
          <a:blip r:embed="rId1"/>
          <a:stretch>
            <a:fillRect/>
          </a:stretch>
        </p:blipFill>
        <p:spPr>
          <a:xfrm>
            <a:off x="0" y="0"/>
            <a:ext cx="12191695" cy="6858000"/>
          </a:xfrm>
          <a:prstGeom prst="rect">
            <a:avLst/>
          </a:prstGeom>
        </p:spPr>
      </p:pic>
      <p:sp>
        <p:nvSpPr>
          <p:cNvPr id="3" name="Rectangle 2"/>
          <p:cNvSpPr/>
          <p:nvPr/>
        </p:nvSpPr>
        <p:spPr>
          <a:xfrm>
            <a:off x="0" y="0"/>
            <a:ext cx="12191695" cy="68580"/>
          </a:xfrm>
          <a:prstGeom prst="rect">
            <a:avLst/>
          </a:prstGeom>
          <a:solidFill>
            <a:srgbClr val="C2571A"/>
          </a:solidFill>
          <a:ln>
            <a:noFill/>
          </a:ln>
        </p:spPr>
        <p:txBody>
          <a:bodyPr rtlCol="0" anchor="ctr"/>
          <a:lstStyle/>
          <a:p>
            <a:pPr algn="ctr"/>
          </a:p>
        </p:txBody>
      </p:sp>
      <p:sp>
        <p:nvSpPr>
          <p:cNvPr id="4" name="Rounded Rectangle 3"/>
          <p:cNvSpPr/>
          <p:nvPr/>
        </p:nvSpPr>
        <p:spPr>
          <a:xfrm>
            <a:off x="594360" y="310896"/>
            <a:ext cx="1517904" cy="329184"/>
          </a:xfrm>
          <a:prstGeom prst="roundRect">
            <a:avLst/>
          </a:prstGeom>
          <a:solidFill>
            <a:srgbClr val="C2571A"/>
          </a:solidFill>
          <a:ln>
            <a:noFill/>
          </a:ln>
        </p:spPr>
        <p:txBody>
          <a:bodyPr rtlCol="0" anchor="ctr"/>
          <a:lstStyle/>
          <a:p>
            <a:pPr algn="ctr"/>
          </a:p>
        </p:txBody>
      </p:sp>
      <p:sp>
        <p:nvSpPr>
          <p:cNvPr id="5" name="TextBox 4"/>
          <p:cNvSpPr txBox="1"/>
          <p:nvPr/>
        </p:nvSpPr>
        <p:spPr>
          <a:xfrm>
            <a:off x="649224" y="310896"/>
            <a:ext cx="1408176" cy="329184"/>
          </a:xfrm>
          <a:prstGeom prst="rect">
            <a:avLst/>
          </a:prstGeom>
          <a:noFill/>
        </p:spPr>
        <p:txBody>
          <a:bodyPr wrap="square" anchor="ctr">
            <a:spAutoFit/>
          </a:bodyPr>
          <a:lstStyle/>
          <a:p>
            <a:pPr algn="ctr"/>
            <a:r>
              <a:rPr sz="1300" b="1">
                <a:solidFill>
                  <a:srgbClr val="FFFFFF"/>
                </a:solidFill>
                <a:latin typeface="Noto Sans SC" panose="020B0200000000000000" charset="-122"/>
                <a:ea typeface="Noto Sans SC" panose="020B0200000000000000" charset="-122"/>
                <a:cs typeface="Noto Sans SC" panose="020B0200000000000000" charset="-122"/>
              </a:rPr>
              <a:t>01  科学绘图</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6" name="TextBox 5"/>
          <p:cNvSpPr txBox="1"/>
          <p:nvPr/>
        </p:nvSpPr>
        <p:spPr>
          <a:xfrm>
            <a:off x="2295144" y="338328"/>
            <a:ext cx="3840480" cy="274320"/>
          </a:xfrm>
          <a:prstGeom prst="rect">
            <a:avLst/>
          </a:prstGeom>
          <a:noFill/>
        </p:spPr>
        <p:txBody>
          <a:bodyPr wrap="square">
            <a:spAutoFit/>
          </a:bodyPr>
          <a:lstStyle/>
          <a:p>
            <a:pPr algn="l"/>
            <a:r>
              <a:rPr sz="1150" b="0">
                <a:solidFill>
                  <a:srgbClr val="6B7B8A"/>
                </a:solidFill>
                <a:latin typeface="Consolas" panose="020B0609020204030204"/>
                <a:ea typeface="Noto Sans SC" panose="020B0200000000000000" charset="-122"/>
                <a:cs typeface="Noto Sans SC" panose="020B0200000000000000" charset="-122"/>
              </a:rPr>
              <a:t>方法 03 · 基准与定位</a:t>
            </a:r>
            <a:endParaRPr sz="1150" b="0">
              <a:solidFill>
                <a:srgbClr val="6B7B8A"/>
              </a:solidFill>
              <a:latin typeface="Consolas" panose="020B0609020204030204"/>
              <a:ea typeface="Noto Sans SC" panose="020B0200000000000000" charset="-122"/>
              <a:cs typeface="Noto Sans SC" panose="020B0200000000000000" charset="-122"/>
            </a:endParaRPr>
          </a:p>
        </p:txBody>
      </p:sp>
      <p:sp>
        <p:nvSpPr>
          <p:cNvPr id="7" name="Rounded Rectangle 6"/>
          <p:cNvSpPr/>
          <p:nvPr/>
        </p:nvSpPr>
        <p:spPr>
          <a:xfrm>
            <a:off x="10262311" y="329184"/>
            <a:ext cx="1335024" cy="292608"/>
          </a:xfrm>
          <a:prstGeom prst="roundRect">
            <a:avLst/>
          </a:prstGeom>
          <a:solidFill>
            <a:srgbClr val="FFFFFF"/>
          </a:solidFill>
          <a:ln w="12700">
            <a:solidFill>
              <a:srgbClr val="C9D3DC"/>
            </a:solidFill>
          </a:ln>
        </p:spPr>
        <p:txBody>
          <a:bodyPr rtlCol="0" anchor="ctr"/>
          <a:lstStyle/>
          <a:p>
            <a:pPr algn="ctr"/>
          </a:p>
        </p:txBody>
      </p:sp>
      <p:sp>
        <p:nvSpPr>
          <p:cNvPr id="8" name="Rectangle 7"/>
          <p:cNvSpPr/>
          <p:nvPr/>
        </p:nvSpPr>
        <p:spPr>
          <a:xfrm>
            <a:off x="10381183" y="443484"/>
            <a:ext cx="68580" cy="68580"/>
          </a:xfrm>
          <a:prstGeom prst="rect">
            <a:avLst/>
          </a:prstGeom>
          <a:solidFill>
            <a:srgbClr val="C2571A"/>
          </a:solidFill>
          <a:ln>
            <a:noFill/>
          </a:ln>
        </p:spPr>
        <p:txBody>
          <a:bodyPr rtlCol="0" anchor="ctr"/>
          <a:lstStyle/>
          <a:p>
            <a:pPr algn="ctr"/>
          </a:p>
        </p:txBody>
      </p:sp>
      <p:sp>
        <p:nvSpPr>
          <p:cNvPr id="9" name="TextBox 8"/>
          <p:cNvSpPr txBox="1"/>
          <p:nvPr/>
        </p:nvSpPr>
        <p:spPr>
          <a:xfrm>
            <a:off x="10509199" y="329184"/>
            <a:ext cx="1042415" cy="292608"/>
          </a:xfrm>
          <a:prstGeom prst="rect">
            <a:avLst/>
          </a:prstGeom>
          <a:noFill/>
        </p:spPr>
        <p:txBody>
          <a:bodyPr wrap="square" anchor="ctr">
            <a:spAutoFit/>
          </a:bodyPr>
          <a:lstStyle/>
          <a:p>
            <a:pPr algn="l"/>
            <a:r>
              <a:rPr sz="1150" b="0">
                <a:solidFill>
                  <a:srgbClr val="23384C"/>
                </a:solidFill>
                <a:latin typeface="Consolas" panose="020B0609020204030204"/>
                <a:ea typeface="Noto Sans SC" panose="020B0200000000000000" charset="-122"/>
                <a:cs typeface="Noto Sans SC" panose="020B0200000000000000" charset="-122"/>
              </a:rPr>
              <a:t>Fusion 360</a:t>
            </a:r>
            <a:endParaRPr sz="1150" b="0">
              <a:solidFill>
                <a:srgbClr val="23384C"/>
              </a:solidFill>
              <a:latin typeface="Consolas" panose="020B0609020204030204"/>
              <a:ea typeface="Noto Sans SC" panose="020B0200000000000000" charset="-122"/>
              <a:cs typeface="Noto Sans SC" panose="020B0200000000000000" charset="-122"/>
            </a:endParaRPr>
          </a:p>
        </p:txBody>
      </p:sp>
      <p:sp>
        <p:nvSpPr>
          <p:cNvPr id="10" name="TextBox 9"/>
          <p:cNvSpPr txBox="1"/>
          <p:nvPr/>
        </p:nvSpPr>
        <p:spPr>
          <a:xfrm>
            <a:off x="594360" y="841248"/>
            <a:ext cx="10058400" cy="506730"/>
          </a:xfrm>
          <a:prstGeom prst="rect">
            <a:avLst/>
          </a:prstGeom>
          <a:noFill/>
        </p:spPr>
        <p:txBody>
          <a:bodyPr wrap="square">
            <a:spAutoFit/>
          </a:bodyPr>
          <a:lstStyle/>
          <a:p>
            <a:pPr algn="l"/>
            <a:r>
              <a:rPr sz="2700" b="1">
                <a:solidFill>
                  <a:srgbClr val="12304F"/>
                </a:solidFill>
                <a:latin typeface="Noto Sans SC" panose="020B0200000000000000" charset="-122"/>
                <a:ea typeface="Noto Sans SC" panose="020B0200000000000000" charset="-122"/>
                <a:cs typeface="Noto Sans SC" panose="020B0200000000000000" charset="-122"/>
              </a:rPr>
              <a:t>基准先行：参考线</a:t>
            </a:r>
            <a:endParaRPr sz="270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11" name="TextBox 10"/>
          <p:cNvSpPr txBox="1"/>
          <p:nvPr/>
        </p:nvSpPr>
        <p:spPr>
          <a:xfrm>
            <a:off x="594360" y="1344168"/>
            <a:ext cx="10607040" cy="274320"/>
          </a:xfrm>
          <a:prstGeom prst="rect">
            <a:avLst/>
          </a:prstGeom>
          <a:noFill/>
        </p:spPr>
        <p:txBody>
          <a:bodyPr wrap="square">
            <a:spAutoFit/>
          </a:bodyPr>
          <a:lstStyle/>
          <a:p>
            <a:pPr algn="l"/>
            <a:r>
              <a:rPr sz="1350" b="0">
                <a:solidFill>
                  <a:srgbClr val="6B7B8A"/>
                </a:solidFill>
                <a:latin typeface="Noto Sans SC" panose="020B0200000000000000" charset="-122"/>
                <a:ea typeface="Noto Sans SC" panose="020B0200000000000000" charset="-122"/>
                <a:cs typeface="Noto Sans SC" panose="020B0200000000000000" charset="-122"/>
              </a:rPr>
              <a:t>定位靠辅助几何，不靠目测量像素</a:t>
            </a:r>
            <a:endParaRPr sz="13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12" name="Rectangle 11"/>
          <p:cNvSpPr/>
          <p:nvPr/>
        </p:nvSpPr>
        <p:spPr>
          <a:xfrm>
            <a:off x="594360" y="1700784"/>
            <a:ext cx="11002975" cy="12801"/>
          </a:xfrm>
          <a:prstGeom prst="rect">
            <a:avLst/>
          </a:prstGeom>
          <a:solidFill>
            <a:srgbClr val="C9D3DC"/>
          </a:solidFill>
          <a:ln>
            <a:noFill/>
          </a:ln>
        </p:spPr>
        <p:txBody>
          <a:bodyPr rtlCol="0" anchor="ctr"/>
          <a:lstStyle/>
          <a:p>
            <a:pPr algn="ctr"/>
          </a:p>
        </p:txBody>
      </p:sp>
      <p:sp>
        <p:nvSpPr>
          <p:cNvPr id="13" name="TextBox 12"/>
          <p:cNvSpPr txBox="1"/>
          <p:nvPr/>
        </p:nvSpPr>
        <p:spPr>
          <a:xfrm>
            <a:off x="10515600" y="6400800"/>
            <a:ext cx="1371600" cy="274320"/>
          </a:xfrm>
          <a:prstGeom prst="rect">
            <a:avLst/>
          </a:prstGeom>
          <a:noFill/>
        </p:spPr>
        <p:txBody>
          <a:bodyPr wrap="square">
            <a:spAutoFit/>
          </a:bodyPr>
          <a:lstStyle/>
          <a:p>
            <a:pPr algn="r"/>
            <a:r>
              <a:rPr sz="1000" b="0">
                <a:solidFill>
                  <a:srgbClr val="6B7B8A"/>
                </a:solidFill>
                <a:latin typeface="Noto Sans SC" panose="020B0200000000000000" charset="-122"/>
                <a:ea typeface="Noto Sans SC" panose="020B0200000000000000" charset="-122"/>
                <a:cs typeface="Noto Sans SC" panose="020B0200000000000000" charset="-122"/>
              </a:rPr>
              <a:t>7 / 34</a:t>
            </a:r>
            <a:endParaRPr sz="100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45" name="Rectangle 44"/>
          <p:cNvSpPr/>
          <p:nvPr/>
        </p:nvSpPr>
        <p:spPr>
          <a:xfrm>
            <a:off x="594360" y="6199632"/>
            <a:ext cx="11002975" cy="10972"/>
          </a:xfrm>
          <a:prstGeom prst="rect">
            <a:avLst/>
          </a:prstGeom>
          <a:solidFill>
            <a:srgbClr val="C9D3DC"/>
          </a:solidFill>
          <a:ln>
            <a:noFill/>
          </a:ln>
        </p:spPr>
        <p:txBody>
          <a:bodyPr rtlCol="0" anchor="ctr"/>
          <a:lstStyle/>
          <a:p>
            <a:pPr algn="ctr"/>
          </a:p>
        </p:txBody>
      </p:sp>
      <p:pic>
        <p:nvPicPr>
          <p:cNvPr id="48" name="图片 47"/>
          <p:cNvPicPr>
            <a:picLocks noChangeAspect="1"/>
          </p:cNvPicPr>
          <p:nvPr/>
        </p:nvPicPr>
        <p:blipFill>
          <a:blip r:embed="rId2"/>
          <a:stretch>
            <a:fillRect/>
          </a:stretch>
        </p:blipFill>
        <p:spPr>
          <a:xfrm>
            <a:off x="594360" y="1713865"/>
            <a:ext cx="4634865" cy="4463415"/>
          </a:xfrm>
          <a:prstGeom prst="roundRect">
            <a:avLst/>
          </a:prstGeom>
        </p:spPr>
      </p:pic>
      <p:sp>
        <p:nvSpPr>
          <p:cNvPr id="50" name="Rectangle 13"/>
          <p:cNvSpPr/>
          <p:nvPr/>
        </p:nvSpPr>
        <p:spPr>
          <a:xfrm>
            <a:off x="5605780" y="1643380"/>
            <a:ext cx="6022975" cy="4272280"/>
          </a:xfrm>
          <a:prstGeom prst="rect">
            <a:avLst/>
          </a:prstGeom>
          <a:solidFill>
            <a:srgbClr val="FFFFFF"/>
          </a:solidFill>
          <a:ln w="12700">
            <a:solidFill>
              <a:srgbClr val="C9D3DC"/>
            </a:solidFill>
          </a:ln>
        </p:spPr>
        <p:txBody>
          <a:bodyPr rtlCol="0" anchor="ctr"/>
          <a:lstStyle/>
          <a:p>
            <a:pPr algn="ctr"/>
          </a:p>
        </p:txBody>
      </p:sp>
      <p:sp>
        <p:nvSpPr>
          <p:cNvPr id="49" name="文本框 48"/>
          <p:cNvSpPr txBox="1"/>
          <p:nvPr/>
        </p:nvSpPr>
        <p:spPr>
          <a:xfrm>
            <a:off x="5605780" y="1976755"/>
            <a:ext cx="5946140" cy="3646170"/>
          </a:xfrm>
          <a:prstGeom prst="rect">
            <a:avLst/>
          </a:prstGeom>
          <a:noFill/>
        </p:spPr>
        <p:txBody>
          <a:bodyPr wrap="square" rtlCol="0">
            <a:spAutoFit/>
          </a:bodyPr>
          <a:lstStyle/>
          <a:p>
            <a:r>
              <a:rPr sz="1650">
                <a:solidFill>
                  <a:srgbClr val="12304F"/>
                </a:solidFill>
                <a:latin typeface="Noto Sans SC" panose="020B0200000000000000" charset="-122"/>
                <a:ea typeface="Noto Sans SC" panose="020B0200000000000000" charset="-122"/>
                <a:cs typeface="Noto Sans SC" panose="020B0200000000000000" charset="-122"/>
              </a:rPr>
              <a:t>参考线是草图中承担"基准"角色的辅助几何：它可以被标注、被约束、被当作镜像线或旋转轴，但不参与轮廓封闭，也不会被拉伸成实体。</a:t>
            </a:r>
            <a:endParaRPr sz="1650">
              <a:solidFill>
                <a:srgbClr val="12304F"/>
              </a:solidFill>
              <a:latin typeface="Noto Sans SC" panose="020B0200000000000000" charset="-122"/>
              <a:ea typeface="Noto Sans SC" panose="020B0200000000000000" charset="-122"/>
              <a:cs typeface="Noto Sans SC" panose="020B0200000000000000" charset="-122"/>
            </a:endParaRPr>
          </a:p>
          <a:p>
            <a:endParaRPr sz="1650">
              <a:solidFill>
                <a:srgbClr val="12304F"/>
              </a:solidFill>
              <a:latin typeface="Noto Sans SC" panose="020B0200000000000000" charset="-122"/>
              <a:ea typeface="Noto Sans SC" panose="020B0200000000000000" charset="-122"/>
              <a:cs typeface="Noto Sans SC" panose="020B0200000000000000" charset="-122"/>
            </a:endParaRPr>
          </a:p>
          <a:p>
            <a:r>
              <a:rPr sz="1650">
                <a:solidFill>
                  <a:srgbClr val="12304F"/>
                </a:solidFill>
                <a:latin typeface="Noto Sans SC" panose="020B0200000000000000" charset="-122"/>
                <a:ea typeface="Noto Sans SC" panose="020B0200000000000000" charset="-122"/>
                <a:cs typeface="Noto Sans SC" panose="020B0200000000000000" charset="-122"/>
              </a:rPr>
              <a:t> 它和实线不是两种曲线，而是同一条线的两种角色 —— 在 Fusion 360 里按 X 随时切换。</a:t>
            </a:r>
            <a:endParaRPr sz="1650">
              <a:solidFill>
                <a:srgbClr val="12304F"/>
              </a:solidFill>
              <a:latin typeface="Noto Sans SC" panose="020B0200000000000000" charset="-122"/>
              <a:ea typeface="Noto Sans SC" panose="020B0200000000000000" charset="-122"/>
              <a:cs typeface="Noto Sans SC" panose="020B0200000000000000" charset="-122"/>
            </a:endParaRPr>
          </a:p>
          <a:p>
            <a:endParaRPr sz="1650">
              <a:solidFill>
                <a:srgbClr val="12304F"/>
              </a:solidFill>
              <a:latin typeface="Noto Sans SC" panose="020B0200000000000000" charset="-122"/>
              <a:ea typeface="Noto Sans SC" panose="020B0200000000000000" charset="-122"/>
              <a:cs typeface="Noto Sans SC" panose="020B0200000000000000" charset="-122"/>
            </a:endParaRPr>
          </a:p>
          <a:p>
            <a:r>
              <a:rPr sz="1650">
                <a:solidFill>
                  <a:srgbClr val="12304F"/>
                </a:solidFill>
                <a:latin typeface="Noto Sans SC" panose="020B0200000000000000" charset="-122"/>
                <a:ea typeface="Noto Sans SC" panose="020B0200000000000000" charset="-122"/>
                <a:cs typeface="Noto Sans SC" panose="020B0200000000000000" charset="-122"/>
              </a:rPr>
              <a:t>参与约束与尺寸 —— 能标注、能被引用（对称轴、镜像线、旋转轴、阵列方向）。</a:t>
            </a:r>
            <a:endParaRPr sz="1650">
              <a:solidFill>
                <a:srgbClr val="12304F"/>
              </a:solidFill>
              <a:latin typeface="Noto Sans SC" panose="020B0200000000000000" charset="-122"/>
              <a:ea typeface="Noto Sans SC" panose="020B0200000000000000" charset="-122"/>
              <a:cs typeface="Noto Sans SC" panose="020B0200000000000000" charset="-122"/>
            </a:endParaRPr>
          </a:p>
          <a:p>
            <a:r>
              <a:rPr sz="1650">
                <a:solidFill>
                  <a:srgbClr val="12304F"/>
                </a:solidFill>
                <a:latin typeface="Noto Sans SC" panose="020B0200000000000000" charset="-122"/>
                <a:ea typeface="Noto Sans SC" panose="020B0200000000000000" charset="-122"/>
                <a:cs typeface="Noto Sans SC" panose="020B0200000000000000" charset="-122"/>
              </a:rPr>
              <a:t>不参与轮廓成型 —— 不封闭轮廓、不生成实体；拉伸与旋转会自动忽略它。</a:t>
            </a:r>
            <a:endParaRPr sz="1650">
              <a:solidFill>
                <a:srgbClr val="12304F"/>
              </a:solidFill>
              <a:latin typeface="Noto Sans SC" panose="020B0200000000000000" charset="-122"/>
              <a:ea typeface="Noto Sans SC" panose="020B0200000000000000" charset="-122"/>
              <a:cs typeface="Noto Sans SC" panose="020B0200000000000000" charset="-122"/>
            </a:endParaRPr>
          </a:p>
          <a:p>
            <a:endParaRPr sz="1650">
              <a:solidFill>
                <a:srgbClr val="12304F"/>
              </a:solidFill>
              <a:latin typeface="Noto Sans SC" panose="020B0200000000000000" charset="-122"/>
              <a:ea typeface="Noto Sans SC" panose="020B0200000000000000" charset="-122"/>
              <a:cs typeface="Noto Sans SC" panose="020B0200000000000000" charset="-122"/>
            </a:endParaRPr>
          </a:p>
          <a:p>
            <a:r>
              <a:rPr sz="1650">
                <a:solidFill>
                  <a:srgbClr val="12304F"/>
                </a:solidFill>
                <a:latin typeface="Noto Sans SC" panose="020B0200000000000000" charset="-122"/>
                <a:ea typeface="Noto Sans SC" panose="020B0200000000000000" charset="-122"/>
                <a:cs typeface="Noto Sans SC" panose="020B0200000000000000" charset="-122"/>
              </a:rPr>
              <a:t>角色可切换 —— 实线 ⇄ 构造线一键切换（快捷键 X）；中心线是它里面专门用于回转与对称的一类。</a:t>
            </a:r>
            <a:endParaRPr sz="1650">
              <a:solidFill>
                <a:srgbClr val="12304F"/>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pic>
        <p:nvPicPr>
          <p:cNvPr id="2" name="Picture 1" descr="447916673a97bd1f0e53b186d485eed5.png"/>
          <p:cNvPicPr>
            <a:picLocks noChangeAspect="1"/>
          </p:cNvPicPr>
          <p:nvPr/>
        </p:nvPicPr>
        <p:blipFill>
          <a:blip r:embed="rId1"/>
          <a:stretch>
            <a:fillRect/>
          </a:stretch>
        </p:blipFill>
        <p:spPr>
          <a:xfrm>
            <a:off x="0" y="0"/>
            <a:ext cx="12191695" cy="6858000"/>
          </a:xfrm>
          <a:prstGeom prst="rect">
            <a:avLst/>
          </a:prstGeom>
        </p:spPr>
      </p:pic>
      <p:sp>
        <p:nvSpPr>
          <p:cNvPr id="3" name="Rectangle 2"/>
          <p:cNvSpPr/>
          <p:nvPr/>
        </p:nvSpPr>
        <p:spPr>
          <a:xfrm>
            <a:off x="0" y="0"/>
            <a:ext cx="12191695" cy="68580"/>
          </a:xfrm>
          <a:prstGeom prst="rect">
            <a:avLst/>
          </a:prstGeom>
          <a:solidFill>
            <a:srgbClr val="C2571A"/>
          </a:solidFill>
          <a:ln>
            <a:noFill/>
          </a:ln>
        </p:spPr>
        <p:txBody>
          <a:bodyPr rtlCol="0" anchor="ctr"/>
          <a:lstStyle/>
          <a:p>
            <a:pPr algn="ctr"/>
          </a:p>
        </p:txBody>
      </p:sp>
      <p:sp>
        <p:nvSpPr>
          <p:cNvPr id="4" name="Rounded Rectangle 3"/>
          <p:cNvSpPr/>
          <p:nvPr/>
        </p:nvSpPr>
        <p:spPr>
          <a:xfrm>
            <a:off x="594360" y="310896"/>
            <a:ext cx="1517904" cy="329184"/>
          </a:xfrm>
          <a:prstGeom prst="roundRect">
            <a:avLst/>
          </a:prstGeom>
          <a:solidFill>
            <a:srgbClr val="C2571A"/>
          </a:solidFill>
          <a:ln>
            <a:noFill/>
          </a:ln>
        </p:spPr>
        <p:txBody>
          <a:bodyPr rtlCol="0" anchor="ctr"/>
          <a:lstStyle/>
          <a:p>
            <a:pPr algn="ctr"/>
          </a:p>
        </p:txBody>
      </p:sp>
      <p:sp>
        <p:nvSpPr>
          <p:cNvPr id="5" name="TextBox 4"/>
          <p:cNvSpPr txBox="1"/>
          <p:nvPr/>
        </p:nvSpPr>
        <p:spPr>
          <a:xfrm>
            <a:off x="649224" y="310896"/>
            <a:ext cx="1408176" cy="329184"/>
          </a:xfrm>
          <a:prstGeom prst="rect">
            <a:avLst/>
          </a:prstGeom>
          <a:noFill/>
        </p:spPr>
        <p:txBody>
          <a:bodyPr wrap="square" anchor="ctr">
            <a:spAutoFit/>
          </a:bodyPr>
          <a:lstStyle/>
          <a:p>
            <a:pPr algn="ctr"/>
            <a:r>
              <a:rPr sz="1300" b="1">
                <a:solidFill>
                  <a:srgbClr val="FFFFFF"/>
                </a:solidFill>
                <a:latin typeface="Noto Sans SC" panose="020B0200000000000000" charset="-122"/>
                <a:ea typeface="Noto Sans SC" panose="020B0200000000000000" charset="-122"/>
                <a:cs typeface="Noto Sans SC" panose="020B0200000000000000" charset="-122"/>
              </a:rPr>
              <a:t>01  科学绘图</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6" name="TextBox 5"/>
          <p:cNvSpPr txBox="1"/>
          <p:nvPr/>
        </p:nvSpPr>
        <p:spPr>
          <a:xfrm>
            <a:off x="2295144" y="338328"/>
            <a:ext cx="3840480" cy="274320"/>
          </a:xfrm>
          <a:prstGeom prst="rect">
            <a:avLst/>
          </a:prstGeom>
          <a:noFill/>
        </p:spPr>
        <p:txBody>
          <a:bodyPr wrap="square">
            <a:spAutoFit/>
          </a:bodyPr>
          <a:lstStyle/>
          <a:p>
            <a:pPr algn="l"/>
            <a:r>
              <a:rPr sz="1150" b="0">
                <a:solidFill>
                  <a:srgbClr val="6B7B8A"/>
                </a:solidFill>
                <a:latin typeface="Consolas" panose="020B0609020204030204"/>
                <a:ea typeface="Noto Sans SC" panose="020B0200000000000000" charset="-122"/>
                <a:cs typeface="Noto Sans SC" panose="020B0200000000000000" charset="-122"/>
              </a:rPr>
              <a:t>方法 04 · 对称复用</a:t>
            </a:r>
            <a:endParaRPr sz="1150" b="0">
              <a:solidFill>
                <a:srgbClr val="6B7B8A"/>
              </a:solidFill>
              <a:latin typeface="Consolas" panose="020B0609020204030204"/>
              <a:ea typeface="Noto Sans SC" panose="020B0200000000000000" charset="-122"/>
              <a:cs typeface="Noto Sans SC" panose="020B0200000000000000" charset="-122"/>
            </a:endParaRPr>
          </a:p>
        </p:txBody>
      </p:sp>
      <p:sp>
        <p:nvSpPr>
          <p:cNvPr id="7" name="Rounded Rectangle 6"/>
          <p:cNvSpPr/>
          <p:nvPr/>
        </p:nvSpPr>
        <p:spPr>
          <a:xfrm>
            <a:off x="10262311" y="329184"/>
            <a:ext cx="1335024" cy="292608"/>
          </a:xfrm>
          <a:prstGeom prst="roundRect">
            <a:avLst/>
          </a:prstGeom>
          <a:solidFill>
            <a:srgbClr val="FFFFFF"/>
          </a:solidFill>
          <a:ln w="12700">
            <a:solidFill>
              <a:srgbClr val="C9D3DC"/>
            </a:solidFill>
          </a:ln>
        </p:spPr>
        <p:txBody>
          <a:bodyPr rtlCol="0" anchor="ctr"/>
          <a:lstStyle/>
          <a:p>
            <a:pPr algn="ctr"/>
          </a:p>
        </p:txBody>
      </p:sp>
      <p:sp>
        <p:nvSpPr>
          <p:cNvPr id="8" name="Rectangle 7"/>
          <p:cNvSpPr/>
          <p:nvPr/>
        </p:nvSpPr>
        <p:spPr>
          <a:xfrm>
            <a:off x="10381183" y="443484"/>
            <a:ext cx="68580" cy="68580"/>
          </a:xfrm>
          <a:prstGeom prst="rect">
            <a:avLst/>
          </a:prstGeom>
          <a:solidFill>
            <a:srgbClr val="C2571A"/>
          </a:solidFill>
          <a:ln>
            <a:noFill/>
          </a:ln>
        </p:spPr>
        <p:txBody>
          <a:bodyPr rtlCol="0" anchor="ctr"/>
          <a:lstStyle/>
          <a:p>
            <a:pPr algn="ctr"/>
          </a:p>
        </p:txBody>
      </p:sp>
      <p:sp>
        <p:nvSpPr>
          <p:cNvPr id="9" name="TextBox 8"/>
          <p:cNvSpPr txBox="1"/>
          <p:nvPr/>
        </p:nvSpPr>
        <p:spPr>
          <a:xfrm>
            <a:off x="10509199" y="329184"/>
            <a:ext cx="1042415" cy="292608"/>
          </a:xfrm>
          <a:prstGeom prst="rect">
            <a:avLst/>
          </a:prstGeom>
          <a:noFill/>
        </p:spPr>
        <p:txBody>
          <a:bodyPr wrap="square" anchor="ctr">
            <a:spAutoFit/>
          </a:bodyPr>
          <a:lstStyle/>
          <a:p>
            <a:pPr algn="l"/>
            <a:r>
              <a:rPr sz="1150" b="0">
                <a:solidFill>
                  <a:srgbClr val="23384C"/>
                </a:solidFill>
                <a:latin typeface="Consolas" panose="020B0609020204030204"/>
                <a:ea typeface="Noto Sans SC" panose="020B0200000000000000" charset="-122"/>
                <a:cs typeface="Noto Sans SC" panose="020B0200000000000000" charset="-122"/>
              </a:rPr>
              <a:t>Fusion 360</a:t>
            </a:r>
            <a:endParaRPr sz="1150" b="0">
              <a:solidFill>
                <a:srgbClr val="23384C"/>
              </a:solidFill>
              <a:latin typeface="Consolas" panose="020B0609020204030204"/>
              <a:ea typeface="Noto Sans SC" panose="020B0200000000000000" charset="-122"/>
              <a:cs typeface="Noto Sans SC" panose="020B0200000000000000" charset="-122"/>
            </a:endParaRPr>
          </a:p>
        </p:txBody>
      </p:sp>
      <p:sp>
        <p:nvSpPr>
          <p:cNvPr id="10" name="TextBox 9"/>
          <p:cNvSpPr txBox="1"/>
          <p:nvPr/>
        </p:nvSpPr>
        <p:spPr>
          <a:xfrm>
            <a:off x="594360" y="841248"/>
            <a:ext cx="10058400" cy="502920"/>
          </a:xfrm>
          <a:prstGeom prst="rect">
            <a:avLst/>
          </a:prstGeom>
          <a:noFill/>
        </p:spPr>
        <p:txBody>
          <a:bodyPr wrap="square">
            <a:spAutoFit/>
          </a:bodyPr>
          <a:lstStyle/>
          <a:p>
            <a:pPr algn="l"/>
            <a:r>
              <a:rPr sz="2700" b="1">
                <a:solidFill>
                  <a:srgbClr val="12304F"/>
                </a:solidFill>
                <a:latin typeface="Noto Sans SC" panose="020B0200000000000000" charset="-122"/>
                <a:ea typeface="Noto Sans SC" panose="020B0200000000000000" charset="-122"/>
                <a:cs typeface="Noto Sans SC" panose="020B0200000000000000" charset="-122"/>
              </a:rPr>
              <a:t>对称复用：镜像与阵列</a:t>
            </a:r>
            <a:endParaRPr sz="270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11" name="TextBox 10"/>
          <p:cNvSpPr txBox="1"/>
          <p:nvPr/>
        </p:nvSpPr>
        <p:spPr>
          <a:xfrm>
            <a:off x="594360" y="1344168"/>
            <a:ext cx="10607040" cy="274320"/>
          </a:xfrm>
          <a:prstGeom prst="rect">
            <a:avLst/>
          </a:prstGeom>
          <a:noFill/>
        </p:spPr>
        <p:txBody>
          <a:bodyPr wrap="square">
            <a:spAutoFit/>
          </a:bodyPr>
          <a:lstStyle/>
          <a:p>
            <a:pPr algn="l"/>
            <a:r>
              <a:rPr sz="1350" b="0">
                <a:solidFill>
                  <a:srgbClr val="6B7B8A"/>
                </a:solidFill>
                <a:latin typeface="Noto Sans SC" panose="020B0200000000000000" charset="-122"/>
                <a:ea typeface="Noto Sans SC" panose="020B0200000000000000" charset="-122"/>
                <a:cs typeface="Noto Sans SC" panose="020B0200000000000000" charset="-122"/>
              </a:rPr>
              <a:t>能对称就不重复画，第二遍永远是 bug 的来源</a:t>
            </a:r>
            <a:endParaRPr sz="13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12" name="Rectangle 11"/>
          <p:cNvSpPr/>
          <p:nvPr/>
        </p:nvSpPr>
        <p:spPr>
          <a:xfrm>
            <a:off x="594360" y="1700784"/>
            <a:ext cx="11002975" cy="12801"/>
          </a:xfrm>
          <a:prstGeom prst="rect">
            <a:avLst/>
          </a:prstGeom>
          <a:solidFill>
            <a:srgbClr val="C9D3DC"/>
          </a:solidFill>
          <a:ln>
            <a:noFill/>
          </a:ln>
        </p:spPr>
        <p:txBody>
          <a:bodyPr rtlCol="0" anchor="ctr"/>
          <a:lstStyle/>
          <a:p>
            <a:pPr algn="ctr"/>
          </a:p>
        </p:txBody>
      </p:sp>
      <p:sp>
        <p:nvSpPr>
          <p:cNvPr id="13" name="TextBox 12"/>
          <p:cNvSpPr txBox="1"/>
          <p:nvPr/>
        </p:nvSpPr>
        <p:spPr>
          <a:xfrm>
            <a:off x="10515600" y="6400800"/>
            <a:ext cx="1371600" cy="274320"/>
          </a:xfrm>
          <a:prstGeom prst="rect">
            <a:avLst/>
          </a:prstGeom>
          <a:noFill/>
        </p:spPr>
        <p:txBody>
          <a:bodyPr wrap="square">
            <a:spAutoFit/>
          </a:bodyPr>
          <a:lstStyle/>
          <a:p>
            <a:pPr algn="r"/>
            <a:r>
              <a:rPr sz="1000" b="0">
                <a:solidFill>
                  <a:srgbClr val="6B7B8A"/>
                </a:solidFill>
                <a:latin typeface="Noto Sans SC" panose="020B0200000000000000" charset="-122"/>
                <a:ea typeface="Noto Sans SC" panose="020B0200000000000000" charset="-122"/>
                <a:cs typeface="Noto Sans SC" panose="020B0200000000000000" charset="-122"/>
              </a:rPr>
              <a:t>8 / 34</a:t>
            </a:r>
            <a:endParaRPr sz="100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14" name="Rectangle 13"/>
          <p:cNvSpPr/>
          <p:nvPr/>
        </p:nvSpPr>
        <p:spPr>
          <a:xfrm>
            <a:off x="594360" y="2011680"/>
            <a:ext cx="5623560" cy="3467100"/>
          </a:xfrm>
          <a:prstGeom prst="rect">
            <a:avLst/>
          </a:prstGeom>
          <a:solidFill>
            <a:srgbClr val="FFFFFF"/>
          </a:solidFill>
          <a:ln w="12700">
            <a:solidFill>
              <a:srgbClr val="C9D3DC"/>
            </a:solidFill>
          </a:ln>
        </p:spPr>
        <p:txBody>
          <a:bodyPr rtlCol="0" anchor="ctr"/>
          <a:lstStyle/>
          <a:p>
            <a:pPr algn="ctr"/>
          </a:p>
        </p:txBody>
      </p:sp>
      <p:sp>
        <p:nvSpPr>
          <p:cNvPr id="15" name="TextBox 14"/>
          <p:cNvSpPr txBox="1"/>
          <p:nvPr/>
        </p:nvSpPr>
        <p:spPr>
          <a:xfrm>
            <a:off x="777240" y="2121408"/>
            <a:ext cx="3657600" cy="299085"/>
          </a:xfrm>
          <a:prstGeom prst="rect">
            <a:avLst/>
          </a:prstGeom>
          <a:noFill/>
        </p:spPr>
        <p:txBody>
          <a:bodyPr wrap="square">
            <a:spAutoFit/>
          </a:bodyPr>
          <a:lstStyle/>
          <a:p>
            <a:pPr algn="l"/>
            <a:r>
              <a:rPr sz="1350" b="1">
                <a:solidFill>
                  <a:srgbClr val="12304F"/>
                </a:solidFill>
                <a:latin typeface="Noto Sans SC" panose="020B0200000000000000" charset="-122"/>
                <a:ea typeface="Noto Sans SC" panose="020B0200000000000000" charset="-122"/>
                <a:cs typeface="Noto Sans SC" panose="020B0200000000000000" charset="-122"/>
              </a:rPr>
              <a:t>镜像</a:t>
            </a:r>
            <a:endParaRPr sz="135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18" name="Rectangle 17"/>
          <p:cNvSpPr/>
          <p:nvPr/>
        </p:nvSpPr>
        <p:spPr>
          <a:xfrm>
            <a:off x="3131820" y="2889504"/>
            <a:ext cx="548640" cy="402336"/>
          </a:xfrm>
          <a:prstGeom prst="rect">
            <a:avLst/>
          </a:prstGeom>
          <a:solidFill>
            <a:srgbClr val="FFFFFF"/>
          </a:solidFill>
          <a:ln w="12700">
            <a:solidFill>
              <a:srgbClr val="9FB0BF"/>
            </a:solidFill>
          </a:ln>
        </p:spPr>
        <p:txBody>
          <a:bodyPr rtlCol="0" anchor="ctr"/>
          <a:lstStyle/>
          <a:p>
            <a:pPr algn="ctr"/>
          </a:p>
        </p:txBody>
      </p:sp>
      <p:sp>
        <p:nvSpPr>
          <p:cNvPr id="19" name="Isosceles Triangle 18"/>
          <p:cNvSpPr/>
          <p:nvPr/>
        </p:nvSpPr>
        <p:spPr>
          <a:xfrm>
            <a:off x="3223260" y="3054096"/>
            <a:ext cx="146304" cy="128016"/>
          </a:xfrm>
          <a:prstGeom prst="triangle">
            <a:avLst/>
          </a:prstGeom>
          <a:solidFill>
            <a:srgbClr val="9FB0BF"/>
          </a:solidFill>
          <a:ln>
            <a:noFill/>
          </a:ln>
        </p:spPr>
        <p:txBody>
          <a:bodyPr rtlCol="0" anchor="ctr"/>
          <a:lstStyle/>
          <a:p>
            <a:pPr algn="ctr"/>
          </a:p>
        </p:txBody>
      </p:sp>
      <p:sp>
        <p:nvSpPr>
          <p:cNvPr id="20" name="Isosceles Triangle 19"/>
          <p:cNvSpPr/>
          <p:nvPr/>
        </p:nvSpPr>
        <p:spPr>
          <a:xfrm>
            <a:off x="3387852" y="2999232"/>
            <a:ext cx="182880" cy="164592"/>
          </a:xfrm>
          <a:prstGeom prst="triangle">
            <a:avLst/>
          </a:prstGeom>
          <a:solidFill>
            <a:srgbClr val="9FB0BF"/>
          </a:solidFill>
          <a:ln>
            <a:noFill/>
          </a:ln>
        </p:spPr>
        <p:txBody>
          <a:bodyPr rtlCol="0" anchor="ctr"/>
          <a:lstStyle/>
          <a:p>
            <a:pPr algn="ctr"/>
          </a:p>
        </p:txBody>
      </p:sp>
      <p:sp>
        <p:nvSpPr>
          <p:cNvPr id="21" name="Oval 20"/>
          <p:cNvSpPr/>
          <p:nvPr/>
        </p:nvSpPr>
        <p:spPr>
          <a:xfrm>
            <a:off x="3515868" y="2962656"/>
            <a:ext cx="91440" cy="91440"/>
          </a:xfrm>
          <a:prstGeom prst="ellipse">
            <a:avLst/>
          </a:prstGeom>
          <a:solidFill>
            <a:srgbClr val="9FB0BF"/>
          </a:solidFill>
          <a:ln>
            <a:noFill/>
          </a:ln>
        </p:spPr>
        <p:txBody>
          <a:bodyPr rtlCol="0" anchor="ctr"/>
          <a:lstStyle/>
          <a:p>
            <a:pPr algn="ctr"/>
          </a:p>
        </p:txBody>
      </p:sp>
      <p:sp>
        <p:nvSpPr>
          <p:cNvPr id="22" name="TextBox 21"/>
          <p:cNvSpPr txBox="1"/>
          <p:nvPr/>
        </p:nvSpPr>
        <p:spPr>
          <a:xfrm>
            <a:off x="950976" y="3456432"/>
            <a:ext cx="4910328" cy="237744"/>
          </a:xfrm>
          <a:prstGeom prst="rect">
            <a:avLst/>
          </a:prstGeom>
          <a:noFill/>
        </p:spPr>
        <p:txBody>
          <a:bodyPr wrap="square">
            <a:spAutoFit/>
          </a:bodyPr>
          <a:lstStyle/>
          <a:p>
            <a:pPr algn="ctr"/>
            <a:r>
              <a:rPr sz="1050" b="0">
                <a:solidFill>
                  <a:srgbClr val="23384C"/>
                </a:solidFill>
                <a:latin typeface="Noto Sans SC" panose="020B0200000000000000" charset="-122"/>
                <a:ea typeface="Noto Sans SC" panose="020B0200000000000000" charset="-122"/>
                <a:cs typeface="Noto Sans SC" panose="020B0200000000000000" charset="-122"/>
              </a:rPr>
              <a:t>画一半 → 镜像结果 对比截图</a:t>
            </a:r>
            <a:endParaRPr sz="10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3" name="TextBox 22"/>
          <p:cNvSpPr txBox="1"/>
          <p:nvPr/>
        </p:nvSpPr>
        <p:spPr>
          <a:xfrm>
            <a:off x="950976" y="3675888"/>
            <a:ext cx="4910328" cy="237744"/>
          </a:xfrm>
          <a:prstGeom prst="rect">
            <a:avLst/>
          </a:prstGeom>
          <a:noFill/>
        </p:spPr>
        <p:txBody>
          <a:bodyPr wrap="square">
            <a:spAutoFit/>
          </a:bodyPr>
          <a:lstStyle/>
          <a:p>
            <a:pPr algn="ctr"/>
            <a:r>
              <a:rPr sz="950" b="0">
                <a:solidFill>
                  <a:srgbClr val="6B7B8A"/>
                </a:solidFill>
                <a:latin typeface="Noto Sans SC" panose="020B0200000000000000" charset="-122"/>
                <a:ea typeface="Noto Sans SC" panose="020B0200000000000000" charset="-122"/>
                <a:cs typeface="Noto Sans SC" panose="020B0200000000000000" charset="-122"/>
              </a:rPr>
              <a:t>左右立板 / 上下夹板最典型</a:t>
            </a:r>
            <a:endParaRPr sz="9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24" name="TextBox 23"/>
          <p:cNvSpPr txBox="1"/>
          <p:nvPr/>
        </p:nvSpPr>
        <p:spPr>
          <a:xfrm>
            <a:off x="822960" y="4791710"/>
            <a:ext cx="5212080" cy="548640"/>
          </a:xfrm>
          <a:prstGeom prst="rect">
            <a:avLst/>
          </a:prstGeom>
          <a:noFill/>
        </p:spPr>
        <p:txBody>
          <a:bodyPr wrap="square">
            <a:spAutoFit/>
          </a:bodyPr>
          <a:lstStyle/>
          <a:p>
            <a:pPr algn="l"/>
            <a:r>
              <a:rPr sz="1200" b="0">
                <a:solidFill>
                  <a:srgbClr val="23384C"/>
                </a:solidFill>
                <a:latin typeface="Noto Sans SC" panose="020B0200000000000000" charset="-122"/>
                <a:ea typeface="Noto Sans SC" panose="020B0200000000000000" charset="-122"/>
                <a:cs typeface="Noto Sans SC" panose="020B0200000000000000" charset="-122"/>
              </a:rPr>
              <a:t>左右立板、上下夹板都是天然对称件：先画一半，再镜像，最后用对称约束锁住关系。</a:t>
            </a:r>
            <a:endParaRPr sz="120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5" name="Rectangle 24"/>
          <p:cNvSpPr/>
          <p:nvPr/>
        </p:nvSpPr>
        <p:spPr>
          <a:xfrm>
            <a:off x="6355080" y="2011680"/>
            <a:ext cx="5239385" cy="3477895"/>
          </a:xfrm>
          <a:prstGeom prst="rect">
            <a:avLst/>
          </a:prstGeom>
          <a:solidFill>
            <a:srgbClr val="FFFFFF"/>
          </a:solidFill>
          <a:ln w="12700">
            <a:solidFill>
              <a:srgbClr val="C9D3DC"/>
            </a:solidFill>
          </a:ln>
        </p:spPr>
        <p:txBody>
          <a:bodyPr rtlCol="0" anchor="ctr"/>
          <a:lstStyle/>
          <a:p>
            <a:pPr algn="ctr"/>
          </a:p>
        </p:txBody>
      </p:sp>
      <p:sp>
        <p:nvSpPr>
          <p:cNvPr id="26" name="Rectangle 25"/>
          <p:cNvSpPr/>
          <p:nvPr/>
        </p:nvSpPr>
        <p:spPr>
          <a:xfrm>
            <a:off x="6355080" y="2011680"/>
            <a:ext cx="5239512" cy="41148"/>
          </a:xfrm>
          <a:prstGeom prst="rect">
            <a:avLst/>
          </a:prstGeom>
          <a:solidFill>
            <a:srgbClr val="C2571A"/>
          </a:solidFill>
          <a:ln>
            <a:noFill/>
          </a:ln>
        </p:spPr>
        <p:txBody>
          <a:bodyPr rtlCol="0" anchor="ctr"/>
          <a:lstStyle/>
          <a:p>
            <a:pPr algn="ctr"/>
          </a:p>
        </p:txBody>
      </p:sp>
      <p:sp>
        <p:nvSpPr>
          <p:cNvPr id="28" name="TextBox 27"/>
          <p:cNvSpPr txBox="1"/>
          <p:nvPr/>
        </p:nvSpPr>
        <p:spPr>
          <a:xfrm>
            <a:off x="6519672" y="2468880"/>
            <a:ext cx="4910328" cy="2039112"/>
          </a:xfrm>
          <a:prstGeom prst="rect">
            <a:avLst/>
          </a:prstGeom>
          <a:noFill/>
        </p:spPr>
        <p:txBody>
          <a:bodyPr wrap="square">
            <a:spAutoFit/>
          </a:bodyPr>
          <a:lstStyle/>
          <a:p/>
        </p:txBody>
      </p:sp>
      <p:sp>
        <p:nvSpPr>
          <p:cNvPr id="39" name="Rounded Rectangle 38"/>
          <p:cNvSpPr/>
          <p:nvPr/>
        </p:nvSpPr>
        <p:spPr>
          <a:xfrm>
            <a:off x="591185" y="5760720"/>
            <a:ext cx="11002975" cy="420624"/>
          </a:xfrm>
          <a:prstGeom prst="roundRect">
            <a:avLst/>
          </a:prstGeom>
          <a:solidFill>
            <a:srgbClr val="FBF0E4"/>
          </a:solidFill>
          <a:ln w="12700">
            <a:solidFill>
              <a:srgbClr val="C2571A"/>
            </a:solidFill>
          </a:ln>
        </p:spPr>
        <p:txBody>
          <a:bodyPr rtlCol="0" anchor="ctr"/>
          <a:lstStyle/>
          <a:p>
            <a:pPr algn="ctr"/>
          </a:p>
        </p:txBody>
      </p:sp>
      <p:sp>
        <p:nvSpPr>
          <p:cNvPr id="40" name="Rectangle 39"/>
          <p:cNvSpPr/>
          <p:nvPr/>
        </p:nvSpPr>
        <p:spPr>
          <a:xfrm>
            <a:off x="544195" y="5760720"/>
            <a:ext cx="50292" cy="420624"/>
          </a:xfrm>
          <a:prstGeom prst="rect">
            <a:avLst/>
          </a:prstGeom>
          <a:solidFill>
            <a:srgbClr val="C2571A"/>
          </a:solidFill>
          <a:ln>
            <a:noFill/>
          </a:ln>
        </p:spPr>
        <p:txBody>
          <a:bodyPr rtlCol="0" anchor="ctr"/>
          <a:lstStyle/>
          <a:p>
            <a:pPr algn="ctr"/>
          </a:p>
        </p:txBody>
      </p:sp>
      <p:sp>
        <p:nvSpPr>
          <p:cNvPr id="41" name="TextBox 40"/>
          <p:cNvSpPr txBox="1"/>
          <p:nvPr/>
        </p:nvSpPr>
        <p:spPr>
          <a:xfrm>
            <a:off x="594233" y="5825300"/>
            <a:ext cx="10600639" cy="291465"/>
          </a:xfrm>
          <a:prstGeom prst="rect">
            <a:avLst/>
          </a:prstGeom>
          <a:noFill/>
        </p:spPr>
        <p:txBody>
          <a:bodyPr wrap="square" anchor="ctr">
            <a:spAutoFit/>
          </a:bodyPr>
          <a:lstStyle/>
          <a:p>
            <a:pPr algn="l"/>
            <a:r>
              <a:rPr lang="zh-CN" sz="1300" b="1">
                <a:solidFill>
                  <a:srgbClr val="C2571A"/>
                </a:solidFill>
                <a:latin typeface="Noto Sans SC" panose="020B0200000000000000" charset="-122"/>
                <a:ea typeface="Noto Sans SC" panose="020B0200000000000000" charset="-122"/>
                <a:cs typeface="Noto Sans SC" panose="020B0200000000000000" charset="-122"/>
              </a:rPr>
              <a:t>合理使用镜像与阵列等工具减少绘图工作量</a:t>
            </a:r>
            <a:r>
              <a:rPr sz="1300" b="1">
                <a:solidFill>
                  <a:srgbClr val="C2571A"/>
                </a:solidFill>
                <a:latin typeface="Noto Sans SC" panose="020B0200000000000000" charset="-122"/>
                <a:ea typeface="Noto Sans SC" panose="020B0200000000000000" charset="-122"/>
                <a:cs typeface="Noto Sans SC" panose="020B0200000000000000" charset="-122"/>
              </a:rPr>
              <a:t>。</a:t>
            </a:r>
            <a:endParaRPr sz="1300" b="1">
              <a:solidFill>
                <a:srgbClr val="C2571A"/>
              </a:solidFill>
              <a:latin typeface="Noto Sans SC" panose="020B0200000000000000" charset="-122"/>
              <a:ea typeface="Noto Sans SC" panose="020B0200000000000000" charset="-122"/>
              <a:cs typeface="Noto Sans SC" panose="020B0200000000000000" charset="-122"/>
            </a:endParaRPr>
          </a:p>
        </p:txBody>
      </p:sp>
      <p:sp>
        <p:nvSpPr>
          <p:cNvPr id="42" name="Rectangle 41"/>
          <p:cNvSpPr/>
          <p:nvPr/>
        </p:nvSpPr>
        <p:spPr>
          <a:xfrm>
            <a:off x="594360" y="6199632"/>
            <a:ext cx="11002975" cy="10972"/>
          </a:xfrm>
          <a:prstGeom prst="rect">
            <a:avLst/>
          </a:prstGeom>
          <a:solidFill>
            <a:srgbClr val="C9D3DC"/>
          </a:solidFill>
          <a:ln>
            <a:noFill/>
          </a:ln>
        </p:spPr>
        <p:txBody>
          <a:bodyPr rtlCol="0" anchor="ctr"/>
          <a:lstStyle/>
          <a:p>
            <a:pPr algn="ctr"/>
          </a:p>
        </p:txBody>
      </p:sp>
      <p:sp>
        <p:nvSpPr>
          <p:cNvPr id="43" name="TextBox 42"/>
          <p:cNvSpPr txBox="1"/>
          <p:nvPr/>
        </p:nvSpPr>
        <p:spPr>
          <a:xfrm>
            <a:off x="594360" y="6327648"/>
            <a:ext cx="8778240" cy="274320"/>
          </a:xfrm>
          <a:prstGeom prst="rect">
            <a:avLst/>
          </a:prstGeom>
          <a:noFill/>
        </p:spPr>
        <p:txBody>
          <a:bodyPr wrap="square">
            <a:spAutoFit/>
          </a:bodyPr>
          <a:lstStyle/>
          <a:p>
            <a:pPr algn="l"/>
            <a:r>
              <a:rPr sz="1100" b="0">
                <a:solidFill>
                  <a:srgbClr val="6B7B8A"/>
                </a:solidFill>
                <a:latin typeface="Noto Sans SC" panose="020B0200000000000000" charset="-122"/>
                <a:ea typeface="Noto Sans SC" panose="020B0200000000000000" charset="-122"/>
                <a:cs typeface="Noto Sans SC" panose="020B0200000000000000" charset="-122"/>
              </a:rPr>
              <a:t>可迁移：左右件、上下件、阵列孔位 —— 先判断对称性，再决定画几遍。</a:t>
            </a:r>
            <a:endParaRPr sz="110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45" name="TextBox 14"/>
          <p:cNvSpPr txBox="1"/>
          <p:nvPr/>
        </p:nvSpPr>
        <p:spPr>
          <a:xfrm>
            <a:off x="6519545" y="2151888"/>
            <a:ext cx="3657600" cy="299085"/>
          </a:xfrm>
          <a:prstGeom prst="rect">
            <a:avLst/>
          </a:prstGeom>
          <a:noFill/>
        </p:spPr>
        <p:txBody>
          <a:bodyPr wrap="square">
            <a:spAutoFit/>
          </a:bodyPr>
          <a:lstStyle/>
          <a:p>
            <a:pPr algn="l"/>
            <a:r>
              <a:rPr lang="zh-CN" sz="1350" b="1">
                <a:solidFill>
                  <a:srgbClr val="12304F"/>
                </a:solidFill>
                <a:latin typeface="Noto Sans SC" panose="020B0200000000000000" charset="-122"/>
                <a:ea typeface="Noto Sans SC" panose="020B0200000000000000" charset="-122"/>
                <a:cs typeface="Noto Sans SC" panose="020B0200000000000000" charset="-122"/>
              </a:rPr>
              <a:t>阵列</a:t>
            </a:r>
            <a:endParaRPr sz="1350" b="1">
              <a:solidFill>
                <a:srgbClr val="12304F"/>
              </a:solidFill>
              <a:latin typeface="Noto Sans SC" panose="020B0200000000000000" charset="-122"/>
              <a:ea typeface="Noto Sans SC" panose="020B0200000000000000" charset="-122"/>
              <a:cs typeface="Noto Sans SC" panose="020B0200000000000000" charset="-122"/>
            </a:endParaRPr>
          </a:p>
        </p:txBody>
      </p:sp>
      <p:pic>
        <p:nvPicPr>
          <p:cNvPr id="46" name="图片 45"/>
          <p:cNvPicPr>
            <a:picLocks noChangeAspect="1"/>
          </p:cNvPicPr>
          <p:nvPr/>
        </p:nvPicPr>
        <p:blipFill>
          <a:blip r:embed="rId2"/>
          <a:srcRect l="11889" t="26749" b="8953"/>
          <a:stretch>
            <a:fillRect/>
          </a:stretch>
        </p:blipFill>
        <p:spPr>
          <a:xfrm>
            <a:off x="1341120" y="2451100"/>
            <a:ext cx="4028440" cy="2234565"/>
          </a:xfrm>
          <a:prstGeom prst="rect">
            <a:avLst/>
          </a:prstGeom>
        </p:spPr>
      </p:pic>
      <p:pic>
        <p:nvPicPr>
          <p:cNvPr id="47" name="图片 46"/>
          <p:cNvPicPr>
            <a:picLocks noChangeAspect="1"/>
          </p:cNvPicPr>
          <p:nvPr/>
        </p:nvPicPr>
        <p:blipFill>
          <a:blip r:embed="rId3"/>
          <a:srcRect t="14077"/>
          <a:stretch>
            <a:fillRect/>
          </a:stretch>
        </p:blipFill>
        <p:spPr>
          <a:xfrm>
            <a:off x="6722110" y="2451100"/>
            <a:ext cx="4241165" cy="2234565"/>
          </a:xfrm>
          <a:prstGeom prst="rect">
            <a:avLst/>
          </a:prstGeom>
        </p:spPr>
      </p:pic>
      <p:sp>
        <p:nvSpPr>
          <p:cNvPr id="48" name="TextBox 23"/>
          <p:cNvSpPr txBox="1"/>
          <p:nvPr/>
        </p:nvSpPr>
        <p:spPr>
          <a:xfrm>
            <a:off x="6583045" y="4791710"/>
            <a:ext cx="5212080" cy="275590"/>
          </a:xfrm>
          <a:prstGeom prst="rect">
            <a:avLst/>
          </a:prstGeom>
          <a:noFill/>
        </p:spPr>
        <p:txBody>
          <a:bodyPr wrap="square">
            <a:spAutoFit/>
          </a:bodyPr>
          <a:lstStyle/>
          <a:p>
            <a:pPr algn="l"/>
            <a:r>
              <a:rPr lang="zh-CN" sz="1200" b="0">
                <a:solidFill>
                  <a:srgbClr val="23384C"/>
                </a:solidFill>
                <a:latin typeface="Noto Sans SC" panose="020B0200000000000000" charset="-122"/>
                <a:ea typeface="Noto Sans SC" panose="020B0200000000000000" charset="-122"/>
                <a:cs typeface="Noto Sans SC" panose="020B0200000000000000" charset="-122"/>
              </a:rPr>
              <a:t>具有重复属性的草图，绘图时绘制其一部分后采用矩形</a:t>
            </a:r>
            <a:r>
              <a:rPr lang="en-US" altLang="zh-CN" sz="1200" b="0">
                <a:solidFill>
                  <a:srgbClr val="23384C"/>
                </a:solidFill>
                <a:latin typeface="Noto Sans SC" panose="020B0200000000000000" charset="-122"/>
                <a:ea typeface="Noto Sans SC" panose="020B0200000000000000" charset="-122"/>
                <a:cs typeface="Noto Sans SC" panose="020B0200000000000000" charset="-122"/>
              </a:rPr>
              <a:t>/</a:t>
            </a:r>
            <a:r>
              <a:rPr lang="zh-CN" altLang="en-US" sz="1200" b="0">
                <a:solidFill>
                  <a:srgbClr val="23384C"/>
                </a:solidFill>
                <a:latin typeface="Noto Sans SC" panose="020B0200000000000000" charset="-122"/>
                <a:ea typeface="Noto Sans SC" panose="020B0200000000000000" charset="-122"/>
                <a:cs typeface="Noto Sans SC" panose="020B0200000000000000" charset="-122"/>
              </a:rPr>
              <a:t>环形阵列</a:t>
            </a:r>
            <a:endParaRPr lang="zh-CN" altLang="en-US" sz="1200" b="0">
              <a:solidFill>
                <a:srgbClr val="23384C"/>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pic>
        <p:nvPicPr>
          <p:cNvPr id="2" name="Picture 1" descr="447916673a97bd1f0e53b186d485eed5.png"/>
          <p:cNvPicPr>
            <a:picLocks noChangeAspect="1"/>
          </p:cNvPicPr>
          <p:nvPr/>
        </p:nvPicPr>
        <p:blipFill>
          <a:blip r:embed="rId1"/>
          <a:stretch>
            <a:fillRect/>
          </a:stretch>
        </p:blipFill>
        <p:spPr>
          <a:xfrm>
            <a:off x="0" y="0"/>
            <a:ext cx="12191695" cy="6858000"/>
          </a:xfrm>
          <a:prstGeom prst="rect">
            <a:avLst/>
          </a:prstGeom>
        </p:spPr>
      </p:pic>
      <p:sp>
        <p:nvSpPr>
          <p:cNvPr id="3" name="Rectangle 2"/>
          <p:cNvSpPr/>
          <p:nvPr/>
        </p:nvSpPr>
        <p:spPr>
          <a:xfrm>
            <a:off x="0" y="0"/>
            <a:ext cx="12191695" cy="68580"/>
          </a:xfrm>
          <a:prstGeom prst="rect">
            <a:avLst/>
          </a:prstGeom>
          <a:solidFill>
            <a:srgbClr val="C2571A"/>
          </a:solidFill>
          <a:ln>
            <a:noFill/>
          </a:ln>
        </p:spPr>
        <p:txBody>
          <a:bodyPr rtlCol="0" anchor="ctr"/>
          <a:lstStyle/>
          <a:p>
            <a:pPr algn="ctr"/>
          </a:p>
        </p:txBody>
      </p:sp>
      <p:sp>
        <p:nvSpPr>
          <p:cNvPr id="4" name="Rounded Rectangle 3"/>
          <p:cNvSpPr/>
          <p:nvPr/>
        </p:nvSpPr>
        <p:spPr>
          <a:xfrm>
            <a:off x="594360" y="310896"/>
            <a:ext cx="1517904" cy="329184"/>
          </a:xfrm>
          <a:prstGeom prst="roundRect">
            <a:avLst/>
          </a:prstGeom>
          <a:solidFill>
            <a:srgbClr val="C2571A"/>
          </a:solidFill>
          <a:ln>
            <a:noFill/>
          </a:ln>
        </p:spPr>
        <p:txBody>
          <a:bodyPr rtlCol="0" anchor="ctr"/>
          <a:lstStyle/>
          <a:p>
            <a:pPr algn="ctr"/>
          </a:p>
        </p:txBody>
      </p:sp>
      <p:sp>
        <p:nvSpPr>
          <p:cNvPr id="5" name="TextBox 4"/>
          <p:cNvSpPr txBox="1"/>
          <p:nvPr/>
        </p:nvSpPr>
        <p:spPr>
          <a:xfrm>
            <a:off x="649224" y="310896"/>
            <a:ext cx="1408176" cy="329184"/>
          </a:xfrm>
          <a:prstGeom prst="rect">
            <a:avLst/>
          </a:prstGeom>
          <a:noFill/>
        </p:spPr>
        <p:txBody>
          <a:bodyPr wrap="square" anchor="ctr">
            <a:spAutoFit/>
          </a:bodyPr>
          <a:lstStyle/>
          <a:p>
            <a:pPr algn="ctr"/>
            <a:r>
              <a:rPr sz="1300" b="1">
                <a:solidFill>
                  <a:srgbClr val="FFFFFF"/>
                </a:solidFill>
                <a:latin typeface="Noto Sans SC" panose="020B0200000000000000" charset="-122"/>
                <a:ea typeface="Noto Sans SC" panose="020B0200000000000000" charset="-122"/>
                <a:cs typeface="Noto Sans SC" panose="020B0200000000000000" charset="-122"/>
              </a:rPr>
              <a:t>01  科学绘图</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6" name="TextBox 5"/>
          <p:cNvSpPr txBox="1"/>
          <p:nvPr/>
        </p:nvSpPr>
        <p:spPr>
          <a:xfrm>
            <a:off x="2295144" y="338328"/>
            <a:ext cx="3840480" cy="274320"/>
          </a:xfrm>
          <a:prstGeom prst="rect">
            <a:avLst/>
          </a:prstGeom>
          <a:noFill/>
        </p:spPr>
        <p:txBody>
          <a:bodyPr wrap="square">
            <a:spAutoFit/>
          </a:bodyPr>
          <a:lstStyle/>
          <a:p>
            <a:pPr algn="l"/>
            <a:r>
              <a:rPr sz="1150" b="0">
                <a:solidFill>
                  <a:srgbClr val="6B7B8A"/>
                </a:solidFill>
                <a:latin typeface="Consolas" panose="020B0609020204030204"/>
                <a:ea typeface="Noto Sans SC" panose="020B0200000000000000" charset="-122"/>
                <a:cs typeface="Noto Sans SC" panose="020B0200000000000000" charset="-122"/>
              </a:rPr>
              <a:t>方法 05 · 草图约束</a:t>
            </a:r>
            <a:endParaRPr sz="1150" b="0">
              <a:solidFill>
                <a:srgbClr val="6B7B8A"/>
              </a:solidFill>
              <a:latin typeface="Consolas" panose="020B0609020204030204"/>
              <a:ea typeface="Noto Sans SC" panose="020B0200000000000000" charset="-122"/>
              <a:cs typeface="Noto Sans SC" panose="020B0200000000000000" charset="-122"/>
            </a:endParaRPr>
          </a:p>
        </p:txBody>
      </p:sp>
      <p:sp>
        <p:nvSpPr>
          <p:cNvPr id="7" name="Rounded Rectangle 6"/>
          <p:cNvSpPr/>
          <p:nvPr/>
        </p:nvSpPr>
        <p:spPr>
          <a:xfrm>
            <a:off x="10262311" y="329184"/>
            <a:ext cx="1335024" cy="292608"/>
          </a:xfrm>
          <a:prstGeom prst="roundRect">
            <a:avLst/>
          </a:prstGeom>
          <a:solidFill>
            <a:srgbClr val="FFFFFF"/>
          </a:solidFill>
          <a:ln w="12700">
            <a:solidFill>
              <a:srgbClr val="C9D3DC"/>
            </a:solidFill>
          </a:ln>
        </p:spPr>
        <p:txBody>
          <a:bodyPr rtlCol="0" anchor="ctr"/>
          <a:lstStyle/>
          <a:p>
            <a:pPr algn="ctr"/>
          </a:p>
        </p:txBody>
      </p:sp>
      <p:sp>
        <p:nvSpPr>
          <p:cNvPr id="8" name="Rectangle 7"/>
          <p:cNvSpPr/>
          <p:nvPr/>
        </p:nvSpPr>
        <p:spPr>
          <a:xfrm>
            <a:off x="10381183" y="443484"/>
            <a:ext cx="68580" cy="68580"/>
          </a:xfrm>
          <a:prstGeom prst="rect">
            <a:avLst/>
          </a:prstGeom>
          <a:solidFill>
            <a:srgbClr val="C2571A"/>
          </a:solidFill>
          <a:ln>
            <a:noFill/>
          </a:ln>
        </p:spPr>
        <p:txBody>
          <a:bodyPr rtlCol="0" anchor="ctr"/>
          <a:lstStyle/>
          <a:p>
            <a:pPr algn="ctr"/>
          </a:p>
        </p:txBody>
      </p:sp>
      <p:sp>
        <p:nvSpPr>
          <p:cNvPr id="9" name="TextBox 8"/>
          <p:cNvSpPr txBox="1"/>
          <p:nvPr/>
        </p:nvSpPr>
        <p:spPr>
          <a:xfrm>
            <a:off x="10509199" y="329184"/>
            <a:ext cx="1042415" cy="292608"/>
          </a:xfrm>
          <a:prstGeom prst="rect">
            <a:avLst/>
          </a:prstGeom>
          <a:noFill/>
        </p:spPr>
        <p:txBody>
          <a:bodyPr wrap="square" anchor="ctr">
            <a:spAutoFit/>
          </a:bodyPr>
          <a:lstStyle/>
          <a:p>
            <a:pPr algn="l"/>
            <a:r>
              <a:rPr sz="1150" b="0">
                <a:solidFill>
                  <a:srgbClr val="23384C"/>
                </a:solidFill>
                <a:latin typeface="Consolas" panose="020B0609020204030204"/>
                <a:ea typeface="Noto Sans SC" panose="020B0200000000000000" charset="-122"/>
                <a:cs typeface="Noto Sans SC" panose="020B0200000000000000" charset="-122"/>
              </a:rPr>
              <a:t>Fusion 360</a:t>
            </a:r>
            <a:endParaRPr sz="1150" b="0">
              <a:solidFill>
                <a:srgbClr val="23384C"/>
              </a:solidFill>
              <a:latin typeface="Consolas" panose="020B0609020204030204"/>
              <a:ea typeface="Noto Sans SC" panose="020B0200000000000000" charset="-122"/>
              <a:cs typeface="Noto Sans SC" panose="020B0200000000000000" charset="-122"/>
            </a:endParaRPr>
          </a:p>
        </p:txBody>
      </p:sp>
      <p:sp>
        <p:nvSpPr>
          <p:cNvPr id="10" name="TextBox 9"/>
          <p:cNvSpPr txBox="1"/>
          <p:nvPr/>
        </p:nvSpPr>
        <p:spPr>
          <a:xfrm>
            <a:off x="594360" y="841248"/>
            <a:ext cx="10058400" cy="502920"/>
          </a:xfrm>
          <a:prstGeom prst="rect">
            <a:avLst/>
          </a:prstGeom>
          <a:noFill/>
        </p:spPr>
        <p:txBody>
          <a:bodyPr wrap="square">
            <a:spAutoFit/>
          </a:bodyPr>
          <a:lstStyle/>
          <a:p>
            <a:pPr algn="l"/>
            <a:r>
              <a:rPr sz="2700" b="1">
                <a:solidFill>
                  <a:srgbClr val="12304F"/>
                </a:solidFill>
                <a:latin typeface="Noto Sans SC" panose="020B0200000000000000" charset="-122"/>
                <a:ea typeface="Noto Sans SC" panose="020B0200000000000000" charset="-122"/>
                <a:cs typeface="Noto Sans SC" panose="020B0200000000000000" charset="-122"/>
              </a:rPr>
              <a:t>草图约束：把设计意图写进模型</a:t>
            </a:r>
            <a:endParaRPr sz="270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11" name="TextBox 10"/>
          <p:cNvSpPr txBox="1"/>
          <p:nvPr/>
        </p:nvSpPr>
        <p:spPr>
          <a:xfrm>
            <a:off x="594360" y="1344168"/>
            <a:ext cx="10607040" cy="274320"/>
          </a:xfrm>
          <a:prstGeom prst="rect">
            <a:avLst/>
          </a:prstGeom>
          <a:noFill/>
        </p:spPr>
        <p:txBody>
          <a:bodyPr wrap="square">
            <a:spAutoFit/>
          </a:bodyPr>
          <a:lstStyle/>
          <a:p>
            <a:pPr algn="l"/>
            <a:r>
              <a:rPr sz="1350" b="0">
                <a:solidFill>
                  <a:srgbClr val="6B7B8A"/>
                </a:solidFill>
                <a:latin typeface="Noto Sans SC" panose="020B0200000000000000" charset="-122"/>
                <a:ea typeface="Noto Sans SC" panose="020B0200000000000000" charset="-122"/>
                <a:cs typeface="Noto Sans SC" panose="020B0200000000000000" charset="-122"/>
              </a:rPr>
              <a:t>先约束、后尺寸；交付前不留欠约束</a:t>
            </a:r>
            <a:endParaRPr sz="13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12" name="Rectangle 11"/>
          <p:cNvSpPr/>
          <p:nvPr/>
        </p:nvSpPr>
        <p:spPr>
          <a:xfrm>
            <a:off x="594360" y="1700784"/>
            <a:ext cx="11002975" cy="12801"/>
          </a:xfrm>
          <a:prstGeom prst="rect">
            <a:avLst/>
          </a:prstGeom>
          <a:solidFill>
            <a:srgbClr val="C9D3DC"/>
          </a:solidFill>
          <a:ln>
            <a:noFill/>
          </a:ln>
        </p:spPr>
        <p:txBody>
          <a:bodyPr rtlCol="0" anchor="ctr"/>
          <a:lstStyle/>
          <a:p>
            <a:pPr algn="ctr"/>
          </a:p>
        </p:txBody>
      </p:sp>
      <p:sp>
        <p:nvSpPr>
          <p:cNvPr id="13" name="TextBox 12"/>
          <p:cNvSpPr txBox="1"/>
          <p:nvPr/>
        </p:nvSpPr>
        <p:spPr>
          <a:xfrm>
            <a:off x="10515600" y="6400800"/>
            <a:ext cx="1371600" cy="274320"/>
          </a:xfrm>
          <a:prstGeom prst="rect">
            <a:avLst/>
          </a:prstGeom>
          <a:noFill/>
        </p:spPr>
        <p:txBody>
          <a:bodyPr wrap="square">
            <a:spAutoFit/>
          </a:bodyPr>
          <a:lstStyle/>
          <a:p>
            <a:pPr algn="r"/>
            <a:r>
              <a:rPr sz="1000" b="0">
                <a:solidFill>
                  <a:srgbClr val="6B7B8A"/>
                </a:solidFill>
                <a:latin typeface="Noto Sans SC" panose="020B0200000000000000" charset="-122"/>
                <a:ea typeface="Noto Sans SC" panose="020B0200000000000000" charset="-122"/>
                <a:cs typeface="Noto Sans SC" panose="020B0200000000000000" charset="-122"/>
              </a:rPr>
              <a:t>9 / 34</a:t>
            </a:r>
            <a:endParaRPr sz="100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14" name="Rectangle 13"/>
          <p:cNvSpPr/>
          <p:nvPr/>
        </p:nvSpPr>
        <p:spPr>
          <a:xfrm>
            <a:off x="594360" y="1965960"/>
            <a:ext cx="1242669" cy="804672"/>
          </a:xfrm>
          <a:prstGeom prst="rect">
            <a:avLst/>
          </a:prstGeom>
          <a:solidFill>
            <a:srgbClr val="FFFFFF"/>
          </a:solidFill>
          <a:ln w="12700">
            <a:solidFill>
              <a:srgbClr val="C9D3DC"/>
            </a:solidFill>
          </a:ln>
        </p:spPr>
        <p:txBody>
          <a:bodyPr rtlCol="0" anchor="ctr"/>
          <a:lstStyle/>
          <a:p>
            <a:pPr algn="ctr"/>
          </a:p>
        </p:txBody>
      </p:sp>
      <p:sp>
        <p:nvSpPr>
          <p:cNvPr id="15" name="Rectangle 14"/>
          <p:cNvSpPr/>
          <p:nvPr/>
        </p:nvSpPr>
        <p:spPr>
          <a:xfrm>
            <a:off x="594360" y="1965960"/>
            <a:ext cx="1242669" cy="41148"/>
          </a:xfrm>
          <a:prstGeom prst="rect">
            <a:avLst/>
          </a:prstGeom>
          <a:solidFill>
            <a:srgbClr val="C9D3DC"/>
          </a:solidFill>
          <a:ln>
            <a:noFill/>
          </a:ln>
        </p:spPr>
        <p:txBody>
          <a:bodyPr rtlCol="0" anchor="ctr"/>
          <a:lstStyle/>
          <a:p>
            <a:pPr algn="ctr"/>
          </a:p>
        </p:txBody>
      </p:sp>
      <p:sp>
        <p:nvSpPr>
          <p:cNvPr id="16" name="TextBox 15"/>
          <p:cNvSpPr txBox="1"/>
          <p:nvPr/>
        </p:nvSpPr>
        <p:spPr>
          <a:xfrm>
            <a:off x="704088" y="2075688"/>
            <a:ext cx="1023213" cy="201168"/>
          </a:xfrm>
          <a:prstGeom prst="rect">
            <a:avLst/>
          </a:prstGeom>
          <a:noFill/>
        </p:spPr>
        <p:txBody>
          <a:bodyPr wrap="square">
            <a:spAutoFit/>
          </a:bodyPr>
          <a:lstStyle/>
          <a:p>
            <a:pPr algn="l"/>
            <a:r>
              <a:rPr sz="1000" b="0">
                <a:solidFill>
                  <a:srgbClr val="6B7B8A"/>
                </a:solidFill>
                <a:latin typeface="Consolas" panose="020B0609020204030204"/>
                <a:ea typeface="Noto Sans SC" panose="020B0200000000000000" charset="-122"/>
                <a:cs typeface="Noto Sans SC" panose="020B0200000000000000" charset="-122"/>
              </a:rPr>
              <a:t>01</a:t>
            </a:r>
            <a:endParaRPr sz="1000" b="0">
              <a:solidFill>
                <a:srgbClr val="6B7B8A"/>
              </a:solidFill>
              <a:latin typeface="Consolas" panose="020B0609020204030204"/>
              <a:ea typeface="Noto Sans SC" panose="020B0200000000000000" charset="-122"/>
              <a:cs typeface="Noto Sans SC" panose="020B0200000000000000" charset="-122"/>
            </a:endParaRPr>
          </a:p>
        </p:txBody>
      </p:sp>
      <p:sp>
        <p:nvSpPr>
          <p:cNvPr id="17" name="TextBox 16"/>
          <p:cNvSpPr txBox="1"/>
          <p:nvPr/>
        </p:nvSpPr>
        <p:spPr>
          <a:xfrm>
            <a:off x="704088" y="2295144"/>
            <a:ext cx="1023213" cy="402336"/>
          </a:xfrm>
          <a:prstGeom prst="rect">
            <a:avLst/>
          </a:prstGeom>
          <a:noFill/>
        </p:spPr>
        <p:txBody>
          <a:bodyPr wrap="square">
            <a:spAutoFit/>
          </a:bodyPr>
          <a:lstStyle/>
          <a:p>
            <a:pPr algn="l">
              <a:spcBef>
                <a:spcPts val="200"/>
              </a:spcBef>
              <a:spcAft>
                <a:spcPts val="200"/>
              </a:spcAft>
            </a:pPr>
            <a:r>
              <a:rPr sz="1200" b="0">
                <a:solidFill>
                  <a:srgbClr val="12304F"/>
                </a:solidFill>
                <a:latin typeface="Noto Sans SC" panose="020B0200000000000000" charset="-122"/>
                <a:ea typeface="Noto Sans SC" panose="020B0200000000000000" charset="-122"/>
                <a:cs typeface="Noto Sans SC" panose="020B0200000000000000" charset="-122"/>
              </a:rPr>
              <a:t>重合</a:t>
            </a:r>
            <a:endParaRPr sz="1200" b="0">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18" name="Right Arrow 17"/>
          <p:cNvSpPr/>
          <p:nvPr/>
        </p:nvSpPr>
        <p:spPr>
          <a:xfrm>
            <a:off x="1910181" y="2299715"/>
            <a:ext cx="237744" cy="137160"/>
          </a:xfrm>
          <a:prstGeom prst="rightArrow">
            <a:avLst/>
          </a:prstGeom>
          <a:solidFill>
            <a:srgbClr val="C9D3DC"/>
          </a:solidFill>
          <a:ln>
            <a:noFill/>
          </a:ln>
        </p:spPr>
        <p:txBody>
          <a:bodyPr rtlCol="0" anchor="ctr"/>
          <a:lstStyle/>
          <a:p>
            <a:pPr algn="ctr"/>
          </a:p>
        </p:txBody>
      </p:sp>
      <p:sp>
        <p:nvSpPr>
          <p:cNvPr id="19" name="Rectangle 18"/>
          <p:cNvSpPr/>
          <p:nvPr/>
        </p:nvSpPr>
        <p:spPr>
          <a:xfrm>
            <a:off x="2221077" y="1965960"/>
            <a:ext cx="1242669" cy="804672"/>
          </a:xfrm>
          <a:prstGeom prst="rect">
            <a:avLst/>
          </a:prstGeom>
          <a:solidFill>
            <a:srgbClr val="FFFFFF"/>
          </a:solidFill>
          <a:ln w="12700">
            <a:solidFill>
              <a:srgbClr val="C9D3DC"/>
            </a:solidFill>
          </a:ln>
        </p:spPr>
        <p:txBody>
          <a:bodyPr rtlCol="0" anchor="ctr"/>
          <a:lstStyle/>
          <a:p>
            <a:pPr algn="ctr"/>
          </a:p>
        </p:txBody>
      </p:sp>
      <p:sp>
        <p:nvSpPr>
          <p:cNvPr id="20" name="Rectangle 19"/>
          <p:cNvSpPr/>
          <p:nvPr/>
        </p:nvSpPr>
        <p:spPr>
          <a:xfrm>
            <a:off x="2221077" y="1965960"/>
            <a:ext cx="1242669" cy="41148"/>
          </a:xfrm>
          <a:prstGeom prst="rect">
            <a:avLst/>
          </a:prstGeom>
          <a:solidFill>
            <a:srgbClr val="C9D3DC"/>
          </a:solidFill>
          <a:ln>
            <a:noFill/>
          </a:ln>
        </p:spPr>
        <p:txBody>
          <a:bodyPr rtlCol="0" anchor="ctr"/>
          <a:lstStyle/>
          <a:p>
            <a:pPr algn="ctr"/>
          </a:p>
        </p:txBody>
      </p:sp>
      <p:sp>
        <p:nvSpPr>
          <p:cNvPr id="21" name="TextBox 20"/>
          <p:cNvSpPr txBox="1"/>
          <p:nvPr/>
        </p:nvSpPr>
        <p:spPr>
          <a:xfrm>
            <a:off x="2330805" y="2075688"/>
            <a:ext cx="1023213" cy="201168"/>
          </a:xfrm>
          <a:prstGeom prst="rect">
            <a:avLst/>
          </a:prstGeom>
          <a:noFill/>
        </p:spPr>
        <p:txBody>
          <a:bodyPr wrap="square">
            <a:spAutoFit/>
          </a:bodyPr>
          <a:lstStyle/>
          <a:p>
            <a:pPr algn="l"/>
            <a:r>
              <a:rPr sz="1000" b="0">
                <a:solidFill>
                  <a:srgbClr val="6B7B8A"/>
                </a:solidFill>
                <a:latin typeface="Consolas" panose="020B0609020204030204"/>
                <a:ea typeface="Noto Sans SC" panose="020B0200000000000000" charset="-122"/>
                <a:cs typeface="Noto Sans SC" panose="020B0200000000000000" charset="-122"/>
              </a:rPr>
              <a:t>02</a:t>
            </a:r>
            <a:endParaRPr sz="1000" b="0">
              <a:solidFill>
                <a:srgbClr val="6B7B8A"/>
              </a:solidFill>
              <a:latin typeface="Consolas" panose="020B0609020204030204"/>
              <a:ea typeface="Noto Sans SC" panose="020B0200000000000000" charset="-122"/>
              <a:cs typeface="Noto Sans SC" panose="020B0200000000000000" charset="-122"/>
            </a:endParaRPr>
          </a:p>
        </p:txBody>
      </p:sp>
      <p:sp>
        <p:nvSpPr>
          <p:cNvPr id="22" name="TextBox 21"/>
          <p:cNvSpPr txBox="1"/>
          <p:nvPr/>
        </p:nvSpPr>
        <p:spPr>
          <a:xfrm>
            <a:off x="2330805" y="2295144"/>
            <a:ext cx="1023213" cy="402336"/>
          </a:xfrm>
          <a:prstGeom prst="rect">
            <a:avLst/>
          </a:prstGeom>
          <a:noFill/>
        </p:spPr>
        <p:txBody>
          <a:bodyPr wrap="square">
            <a:spAutoFit/>
          </a:bodyPr>
          <a:lstStyle/>
          <a:p>
            <a:pPr algn="l">
              <a:spcBef>
                <a:spcPts val="200"/>
              </a:spcBef>
              <a:spcAft>
                <a:spcPts val="200"/>
              </a:spcAft>
            </a:pPr>
            <a:r>
              <a:rPr sz="1200" b="0">
                <a:solidFill>
                  <a:srgbClr val="12304F"/>
                </a:solidFill>
                <a:latin typeface="Noto Sans SC" panose="020B0200000000000000" charset="-122"/>
                <a:ea typeface="Noto Sans SC" panose="020B0200000000000000" charset="-122"/>
                <a:cs typeface="Noto Sans SC" panose="020B0200000000000000" charset="-122"/>
              </a:rPr>
              <a:t>水平 / 垂直</a:t>
            </a:r>
            <a:endParaRPr sz="1200" b="0">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23" name="Right Arrow 22"/>
          <p:cNvSpPr/>
          <p:nvPr/>
        </p:nvSpPr>
        <p:spPr>
          <a:xfrm>
            <a:off x="3536899" y="2299715"/>
            <a:ext cx="237744" cy="137160"/>
          </a:xfrm>
          <a:prstGeom prst="rightArrow">
            <a:avLst/>
          </a:prstGeom>
          <a:solidFill>
            <a:srgbClr val="C9D3DC"/>
          </a:solidFill>
          <a:ln>
            <a:noFill/>
          </a:ln>
        </p:spPr>
        <p:txBody>
          <a:bodyPr rtlCol="0" anchor="ctr"/>
          <a:lstStyle/>
          <a:p>
            <a:pPr algn="ctr"/>
          </a:p>
        </p:txBody>
      </p:sp>
      <p:sp>
        <p:nvSpPr>
          <p:cNvPr id="24" name="Rectangle 23"/>
          <p:cNvSpPr/>
          <p:nvPr/>
        </p:nvSpPr>
        <p:spPr>
          <a:xfrm>
            <a:off x="3847795" y="1965960"/>
            <a:ext cx="1242669" cy="804672"/>
          </a:xfrm>
          <a:prstGeom prst="rect">
            <a:avLst/>
          </a:prstGeom>
          <a:solidFill>
            <a:srgbClr val="FFFFFF"/>
          </a:solidFill>
          <a:ln w="12700">
            <a:solidFill>
              <a:srgbClr val="C9D3DC"/>
            </a:solidFill>
          </a:ln>
        </p:spPr>
        <p:txBody>
          <a:bodyPr rtlCol="0" anchor="ctr"/>
          <a:lstStyle/>
          <a:p>
            <a:pPr algn="ctr"/>
          </a:p>
        </p:txBody>
      </p:sp>
      <p:sp>
        <p:nvSpPr>
          <p:cNvPr id="25" name="Rectangle 24"/>
          <p:cNvSpPr/>
          <p:nvPr/>
        </p:nvSpPr>
        <p:spPr>
          <a:xfrm>
            <a:off x="3847795" y="1965960"/>
            <a:ext cx="1242669" cy="41148"/>
          </a:xfrm>
          <a:prstGeom prst="rect">
            <a:avLst/>
          </a:prstGeom>
          <a:solidFill>
            <a:srgbClr val="C9D3DC"/>
          </a:solidFill>
          <a:ln>
            <a:noFill/>
          </a:ln>
        </p:spPr>
        <p:txBody>
          <a:bodyPr rtlCol="0" anchor="ctr"/>
          <a:lstStyle/>
          <a:p>
            <a:pPr algn="ctr"/>
          </a:p>
        </p:txBody>
      </p:sp>
      <p:sp>
        <p:nvSpPr>
          <p:cNvPr id="26" name="TextBox 25"/>
          <p:cNvSpPr txBox="1"/>
          <p:nvPr/>
        </p:nvSpPr>
        <p:spPr>
          <a:xfrm>
            <a:off x="3957523" y="2075688"/>
            <a:ext cx="1023213" cy="201168"/>
          </a:xfrm>
          <a:prstGeom prst="rect">
            <a:avLst/>
          </a:prstGeom>
          <a:noFill/>
        </p:spPr>
        <p:txBody>
          <a:bodyPr wrap="square">
            <a:spAutoFit/>
          </a:bodyPr>
          <a:lstStyle/>
          <a:p>
            <a:pPr algn="l"/>
            <a:r>
              <a:rPr sz="1000" b="0">
                <a:solidFill>
                  <a:srgbClr val="6B7B8A"/>
                </a:solidFill>
                <a:latin typeface="Consolas" panose="020B0609020204030204"/>
                <a:ea typeface="Noto Sans SC" panose="020B0200000000000000" charset="-122"/>
                <a:cs typeface="Noto Sans SC" panose="020B0200000000000000" charset="-122"/>
              </a:rPr>
              <a:t>03</a:t>
            </a:r>
            <a:endParaRPr sz="1000" b="0">
              <a:solidFill>
                <a:srgbClr val="6B7B8A"/>
              </a:solidFill>
              <a:latin typeface="Consolas" panose="020B0609020204030204"/>
              <a:ea typeface="Noto Sans SC" panose="020B0200000000000000" charset="-122"/>
              <a:cs typeface="Noto Sans SC" panose="020B0200000000000000" charset="-122"/>
            </a:endParaRPr>
          </a:p>
        </p:txBody>
      </p:sp>
      <p:sp>
        <p:nvSpPr>
          <p:cNvPr id="27" name="TextBox 26"/>
          <p:cNvSpPr txBox="1"/>
          <p:nvPr/>
        </p:nvSpPr>
        <p:spPr>
          <a:xfrm>
            <a:off x="3957523" y="2295144"/>
            <a:ext cx="1023213" cy="402336"/>
          </a:xfrm>
          <a:prstGeom prst="rect">
            <a:avLst/>
          </a:prstGeom>
          <a:noFill/>
        </p:spPr>
        <p:txBody>
          <a:bodyPr wrap="square">
            <a:spAutoFit/>
          </a:bodyPr>
          <a:lstStyle/>
          <a:p>
            <a:pPr algn="l">
              <a:spcBef>
                <a:spcPts val="200"/>
              </a:spcBef>
              <a:spcAft>
                <a:spcPts val="200"/>
              </a:spcAft>
            </a:pPr>
            <a:r>
              <a:rPr sz="1200" b="0">
                <a:solidFill>
                  <a:srgbClr val="12304F"/>
                </a:solidFill>
                <a:latin typeface="Noto Sans SC" panose="020B0200000000000000" charset="-122"/>
                <a:ea typeface="Noto Sans SC" panose="020B0200000000000000" charset="-122"/>
                <a:cs typeface="Noto Sans SC" panose="020B0200000000000000" charset="-122"/>
              </a:rPr>
              <a:t>平行 / 垂直</a:t>
            </a:r>
            <a:endParaRPr sz="1200" b="0">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28" name="Right Arrow 27"/>
          <p:cNvSpPr/>
          <p:nvPr/>
        </p:nvSpPr>
        <p:spPr>
          <a:xfrm>
            <a:off x="5163616" y="2299715"/>
            <a:ext cx="237744" cy="137160"/>
          </a:xfrm>
          <a:prstGeom prst="rightArrow">
            <a:avLst/>
          </a:prstGeom>
          <a:solidFill>
            <a:srgbClr val="C9D3DC"/>
          </a:solidFill>
          <a:ln>
            <a:noFill/>
          </a:ln>
        </p:spPr>
        <p:txBody>
          <a:bodyPr rtlCol="0" anchor="ctr"/>
          <a:lstStyle/>
          <a:p>
            <a:pPr algn="ctr"/>
          </a:p>
        </p:txBody>
      </p:sp>
      <p:sp>
        <p:nvSpPr>
          <p:cNvPr id="29" name="Rectangle 28"/>
          <p:cNvSpPr/>
          <p:nvPr/>
        </p:nvSpPr>
        <p:spPr>
          <a:xfrm>
            <a:off x="5474512" y="1965960"/>
            <a:ext cx="1242669" cy="804672"/>
          </a:xfrm>
          <a:prstGeom prst="rect">
            <a:avLst/>
          </a:prstGeom>
          <a:solidFill>
            <a:srgbClr val="FFFFFF"/>
          </a:solidFill>
          <a:ln w="12700">
            <a:solidFill>
              <a:srgbClr val="C9D3DC"/>
            </a:solidFill>
          </a:ln>
        </p:spPr>
        <p:txBody>
          <a:bodyPr rtlCol="0" anchor="ctr"/>
          <a:lstStyle/>
          <a:p>
            <a:pPr algn="ctr"/>
          </a:p>
        </p:txBody>
      </p:sp>
      <p:sp>
        <p:nvSpPr>
          <p:cNvPr id="30" name="Rectangle 29"/>
          <p:cNvSpPr/>
          <p:nvPr/>
        </p:nvSpPr>
        <p:spPr>
          <a:xfrm>
            <a:off x="5474512" y="1965960"/>
            <a:ext cx="1242669" cy="41148"/>
          </a:xfrm>
          <a:prstGeom prst="rect">
            <a:avLst/>
          </a:prstGeom>
          <a:solidFill>
            <a:srgbClr val="C9D3DC"/>
          </a:solidFill>
          <a:ln>
            <a:noFill/>
          </a:ln>
        </p:spPr>
        <p:txBody>
          <a:bodyPr rtlCol="0" anchor="ctr"/>
          <a:lstStyle/>
          <a:p>
            <a:pPr algn="ctr"/>
          </a:p>
        </p:txBody>
      </p:sp>
      <p:sp>
        <p:nvSpPr>
          <p:cNvPr id="31" name="TextBox 30"/>
          <p:cNvSpPr txBox="1"/>
          <p:nvPr/>
        </p:nvSpPr>
        <p:spPr>
          <a:xfrm>
            <a:off x="5584240" y="2075688"/>
            <a:ext cx="1023213" cy="201168"/>
          </a:xfrm>
          <a:prstGeom prst="rect">
            <a:avLst/>
          </a:prstGeom>
          <a:noFill/>
        </p:spPr>
        <p:txBody>
          <a:bodyPr wrap="square">
            <a:spAutoFit/>
          </a:bodyPr>
          <a:lstStyle/>
          <a:p>
            <a:pPr algn="l"/>
            <a:r>
              <a:rPr sz="1000" b="0">
                <a:solidFill>
                  <a:srgbClr val="6B7B8A"/>
                </a:solidFill>
                <a:latin typeface="Consolas" panose="020B0609020204030204"/>
                <a:ea typeface="Noto Sans SC" panose="020B0200000000000000" charset="-122"/>
                <a:cs typeface="Noto Sans SC" panose="020B0200000000000000" charset="-122"/>
              </a:rPr>
              <a:t>04</a:t>
            </a:r>
            <a:endParaRPr sz="1000" b="0">
              <a:solidFill>
                <a:srgbClr val="6B7B8A"/>
              </a:solidFill>
              <a:latin typeface="Consolas" panose="020B0609020204030204"/>
              <a:ea typeface="Noto Sans SC" panose="020B0200000000000000" charset="-122"/>
              <a:cs typeface="Noto Sans SC" panose="020B0200000000000000" charset="-122"/>
            </a:endParaRPr>
          </a:p>
        </p:txBody>
      </p:sp>
      <p:sp>
        <p:nvSpPr>
          <p:cNvPr id="32" name="TextBox 31"/>
          <p:cNvSpPr txBox="1"/>
          <p:nvPr/>
        </p:nvSpPr>
        <p:spPr>
          <a:xfrm>
            <a:off x="5584240" y="2295144"/>
            <a:ext cx="1023213" cy="402336"/>
          </a:xfrm>
          <a:prstGeom prst="rect">
            <a:avLst/>
          </a:prstGeom>
          <a:noFill/>
        </p:spPr>
        <p:txBody>
          <a:bodyPr wrap="square">
            <a:spAutoFit/>
          </a:bodyPr>
          <a:lstStyle/>
          <a:p>
            <a:pPr algn="l">
              <a:spcBef>
                <a:spcPts val="200"/>
              </a:spcBef>
              <a:spcAft>
                <a:spcPts val="200"/>
              </a:spcAft>
            </a:pPr>
            <a:r>
              <a:rPr sz="1200" b="0">
                <a:solidFill>
                  <a:srgbClr val="12304F"/>
                </a:solidFill>
                <a:latin typeface="Noto Sans SC" panose="020B0200000000000000" charset="-122"/>
                <a:ea typeface="Noto Sans SC" panose="020B0200000000000000" charset="-122"/>
                <a:cs typeface="Noto Sans SC" panose="020B0200000000000000" charset="-122"/>
              </a:rPr>
              <a:t>相等</a:t>
            </a:r>
            <a:endParaRPr sz="1200" b="0">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33" name="Right Arrow 32"/>
          <p:cNvSpPr/>
          <p:nvPr/>
        </p:nvSpPr>
        <p:spPr>
          <a:xfrm>
            <a:off x="6790334" y="2299715"/>
            <a:ext cx="237744" cy="137160"/>
          </a:xfrm>
          <a:prstGeom prst="rightArrow">
            <a:avLst/>
          </a:prstGeom>
          <a:solidFill>
            <a:srgbClr val="C9D3DC"/>
          </a:solidFill>
          <a:ln>
            <a:noFill/>
          </a:ln>
        </p:spPr>
        <p:txBody>
          <a:bodyPr rtlCol="0" anchor="ctr"/>
          <a:lstStyle/>
          <a:p>
            <a:pPr algn="ctr"/>
          </a:p>
        </p:txBody>
      </p:sp>
      <p:sp>
        <p:nvSpPr>
          <p:cNvPr id="34" name="Rectangle 33"/>
          <p:cNvSpPr/>
          <p:nvPr/>
        </p:nvSpPr>
        <p:spPr>
          <a:xfrm>
            <a:off x="7101230" y="1965960"/>
            <a:ext cx="1242669" cy="804672"/>
          </a:xfrm>
          <a:prstGeom prst="rect">
            <a:avLst/>
          </a:prstGeom>
          <a:solidFill>
            <a:srgbClr val="FFFFFF"/>
          </a:solidFill>
          <a:ln w="12700">
            <a:solidFill>
              <a:srgbClr val="C9D3DC"/>
            </a:solidFill>
          </a:ln>
        </p:spPr>
        <p:txBody>
          <a:bodyPr rtlCol="0" anchor="ctr"/>
          <a:lstStyle/>
          <a:p>
            <a:pPr algn="ctr"/>
          </a:p>
        </p:txBody>
      </p:sp>
      <p:sp>
        <p:nvSpPr>
          <p:cNvPr id="35" name="Rectangle 34"/>
          <p:cNvSpPr/>
          <p:nvPr/>
        </p:nvSpPr>
        <p:spPr>
          <a:xfrm>
            <a:off x="7101230" y="1965960"/>
            <a:ext cx="1242669" cy="41148"/>
          </a:xfrm>
          <a:prstGeom prst="rect">
            <a:avLst/>
          </a:prstGeom>
          <a:solidFill>
            <a:srgbClr val="C9D3DC"/>
          </a:solidFill>
          <a:ln>
            <a:noFill/>
          </a:ln>
        </p:spPr>
        <p:txBody>
          <a:bodyPr rtlCol="0" anchor="ctr"/>
          <a:lstStyle/>
          <a:p>
            <a:pPr algn="ctr"/>
          </a:p>
        </p:txBody>
      </p:sp>
      <p:sp>
        <p:nvSpPr>
          <p:cNvPr id="36" name="TextBox 35"/>
          <p:cNvSpPr txBox="1"/>
          <p:nvPr/>
        </p:nvSpPr>
        <p:spPr>
          <a:xfrm>
            <a:off x="7210958" y="2075688"/>
            <a:ext cx="1023213" cy="201168"/>
          </a:xfrm>
          <a:prstGeom prst="rect">
            <a:avLst/>
          </a:prstGeom>
          <a:noFill/>
        </p:spPr>
        <p:txBody>
          <a:bodyPr wrap="square">
            <a:spAutoFit/>
          </a:bodyPr>
          <a:lstStyle/>
          <a:p>
            <a:pPr algn="l"/>
            <a:r>
              <a:rPr sz="1000" b="0">
                <a:solidFill>
                  <a:srgbClr val="6B7B8A"/>
                </a:solidFill>
                <a:latin typeface="Consolas" panose="020B0609020204030204"/>
                <a:ea typeface="Noto Sans SC" panose="020B0200000000000000" charset="-122"/>
                <a:cs typeface="Noto Sans SC" panose="020B0200000000000000" charset="-122"/>
              </a:rPr>
              <a:t>05</a:t>
            </a:r>
            <a:endParaRPr sz="1000" b="0">
              <a:solidFill>
                <a:srgbClr val="6B7B8A"/>
              </a:solidFill>
              <a:latin typeface="Consolas" panose="020B0609020204030204"/>
              <a:ea typeface="Noto Sans SC" panose="020B0200000000000000" charset="-122"/>
              <a:cs typeface="Noto Sans SC" panose="020B0200000000000000" charset="-122"/>
            </a:endParaRPr>
          </a:p>
        </p:txBody>
      </p:sp>
      <p:sp>
        <p:nvSpPr>
          <p:cNvPr id="37" name="TextBox 36"/>
          <p:cNvSpPr txBox="1"/>
          <p:nvPr/>
        </p:nvSpPr>
        <p:spPr>
          <a:xfrm>
            <a:off x="7210958" y="2295144"/>
            <a:ext cx="1023213" cy="402336"/>
          </a:xfrm>
          <a:prstGeom prst="rect">
            <a:avLst/>
          </a:prstGeom>
          <a:noFill/>
        </p:spPr>
        <p:txBody>
          <a:bodyPr wrap="square">
            <a:spAutoFit/>
          </a:bodyPr>
          <a:lstStyle/>
          <a:p>
            <a:pPr algn="l">
              <a:spcBef>
                <a:spcPts val="200"/>
              </a:spcBef>
              <a:spcAft>
                <a:spcPts val="200"/>
              </a:spcAft>
            </a:pPr>
            <a:r>
              <a:rPr sz="1200" b="0">
                <a:solidFill>
                  <a:srgbClr val="12304F"/>
                </a:solidFill>
                <a:latin typeface="Noto Sans SC" panose="020B0200000000000000" charset="-122"/>
                <a:ea typeface="Noto Sans SC" panose="020B0200000000000000" charset="-122"/>
                <a:cs typeface="Noto Sans SC" panose="020B0200000000000000" charset="-122"/>
              </a:rPr>
              <a:t>对称</a:t>
            </a:r>
            <a:endParaRPr sz="1200" b="0">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38" name="Right Arrow 37"/>
          <p:cNvSpPr/>
          <p:nvPr/>
        </p:nvSpPr>
        <p:spPr>
          <a:xfrm>
            <a:off x="8417052" y="2299715"/>
            <a:ext cx="237744" cy="137160"/>
          </a:xfrm>
          <a:prstGeom prst="rightArrow">
            <a:avLst/>
          </a:prstGeom>
          <a:solidFill>
            <a:srgbClr val="C9D3DC"/>
          </a:solidFill>
          <a:ln>
            <a:noFill/>
          </a:ln>
        </p:spPr>
        <p:txBody>
          <a:bodyPr rtlCol="0" anchor="ctr"/>
          <a:lstStyle/>
          <a:p>
            <a:pPr algn="ctr"/>
          </a:p>
        </p:txBody>
      </p:sp>
      <p:sp>
        <p:nvSpPr>
          <p:cNvPr id="39" name="Rectangle 38"/>
          <p:cNvSpPr/>
          <p:nvPr/>
        </p:nvSpPr>
        <p:spPr>
          <a:xfrm>
            <a:off x="8727948" y="1965960"/>
            <a:ext cx="1242669" cy="804672"/>
          </a:xfrm>
          <a:prstGeom prst="rect">
            <a:avLst/>
          </a:prstGeom>
          <a:solidFill>
            <a:srgbClr val="FFFFFF"/>
          </a:solidFill>
          <a:ln w="12700">
            <a:solidFill>
              <a:srgbClr val="C9D3DC"/>
            </a:solidFill>
          </a:ln>
        </p:spPr>
        <p:txBody>
          <a:bodyPr rtlCol="0" anchor="ctr"/>
          <a:lstStyle/>
          <a:p>
            <a:pPr algn="ctr"/>
          </a:p>
        </p:txBody>
      </p:sp>
      <p:sp>
        <p:nvSpPr>
          <p:cNvPr id="40" name="Rectangle 39"/>
          <p:cNvSpPr/>
          <p:nvPr/>
        </p:nvSpPr>
        <p:spPr>
          <a:xfrm>
            <a:off x="8727948" y="1965960"/>
            <a:ext cx="1242669" cy="41148"/>
          </a:xfrm>
          <a:prstGeom prst="rect">
            <a:avLst/>
          </a:prstGeom>
          <a:solidFill>
            <a:srgbClr val="C9D3DC"/>
          </a:solidFill>
          <a:ln>
            <a:noFill/>
          </a:ln>
        </p:spPr>
        <p:txBody>
          <a:bodyPr rtlCol="0" anchor="ctr"/>
          <a:lstStyle/>
          <a:p>
            <a:pPr algn="ctr"/>
          </a:p>
        </p:txBody>
      </p:sp>
      <p:sp>
        <p:nvSpPr>
          <p:cNvPr id="41" name="TextBox 40"/>
          <p:cNvSpPr txBox="1"/>
          <p:nvPr/>
        </p:nvSpPr>
        <p:spPr>
          <a:xfrm>
            <a:off x="8837676" y="2075688"/>
            <a:ext cx="1023213" cy="201168"/>
          </a:xfrm>
          <a:prstGeom prst="rect">
            <a:avLst/>
          </a:prstGeom>
          <a:noFill/>
        </p:spPr>
        <p:txBody>
          <a:bodyPr wrap="square">
            <a:spAutoFit/>
          </a:bodyPr>
          <a:lstStyle/>
          <a:p>
            <a:pPr algn="l"/>
            <a:r>
              <a:rPr sz="1000" b="0">
                <a:solidFill>
                  <a:srgbClr val="6B7B8A"/>
                </a:solidFill>
                <a:latin typeface="Consolas" panose="020B0609020204030204"/>
                <a:ea typeface="Noto Sans SC" panose="020B0200000000000000" charset="-122"/>
                <a:cs typeface="Noto Sans SC" panose="020B0200000000000000" charset="-122"/>
              </a:rPr>
              <a:t>06</a:t>
            </a:r>
            <a:endParaRPr sz="1000" b="0">
              <a:solidFill>
                <a:srgbClr val="6B7B8A"/>
              </a:solidFill>
              <a:latin typeface="Consolas" panose="020B0609020204030204"/>
              <a:ea typeface="Noto Sans SC" panose="020B0200000000000000" charset="-122"/>
              <a:cs typeface="Noto Sans SC" panose="020B0200000000000000" charset="-122"/>
            </a:endParaRPr>
          </a:p>
        </p:txBody>
      </p:sp>
      <p:sp>
        <p:nvSpPr>
          <p:cNvPr id="42" name="TextBox 41"/>
          <p:cNvSpPr txBox="1"/>
          <p:nvPr/>
        </p:nvSpPr>
        <p:spPr>
          <a:xfrm>
            <a:off x="8837676" y="2295144"/>
            <a:ext cx="1023213" cy="402336"/>
          </a:xfrm>
          <a:prstGeom prst="rect">
            <a:avLst/>
          </a:prstGeom>
          <a:noFill/>
        </p:spPr>
        <p:txBody>
          <a:bodyPr wrap="square">
            <a:spAutoFit/>
          </a:bodyPr>
          <a:lstStyle/>
          <a:p>
            <a:pPr algn="l">
              <a:spcBef>
                <a:spcPts val="200"/>
              </a:spcBef>
              <a:spcAft>
                <a:spcPts val="200"/>
              </a:spcAft>
            </a:pPr>
            <a:r>
              <a:rPr sz="1200" b="0">
                <a:solidFill>
                  <a:srgbClr val="12304F"/>
                </a:solidFill>
                <a:latin typeface="Noto Sans SC" panose="020B0200000000000000" charset="-122"/>
                <a:ea typeface="Noto Sans SC" panose="020B0200000000000000" charset="-122"/>
                <a:cs typeface="Noto Sans SC" panose="020B0200000000000000" charset="-122"/>
              </a:rPr>
              <a:t>相切</a:t>
            </a:r>
            <a:endParaRPr sz="1200" b="0">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43" name="Right Arrow 42"/>
          <p:cNvSpPr/>
          <p:nvPr/>
        </p:nvSpPr>
        <p:spPr>
          <a:xfrm>
            <a:off x="10043769" y="2299715"/>
            <a:ext cx="237744" cy="137160"/>
          </a:xfrm>
          <a:prstGeom prst="rightArrow">
            <a:avLst/>
          </a:prstGeom>
          <a:solidFill>
            <a:srgbClr val="C9D3DC"/>
          </a:solidFill>
          <a:ln>
            <a:noFill/>
          </a:ln>
        </p:spPr>
        <p:txBody>
          <a:bodyPr rtlCol="0" anchor="ctr"/>
          <a:lstStyle/>
          <a:p>
            <a:pPr algn="ctr"/>
          </a:p>
        </p:txBody>
      </p:sp>
      <p:sp>
        <p:nvSpPr>
          <p:cNvPr id="44" name="Rectangle 43"/>
          <p:cNvSpPr/>
          <p:nvPr/>
        </p:nvSpPr>
        <p:spPr>
          <a:xfrm>
            <a:off x="10354665" y="1965960"/>
            <a:ext cx="1242669" cy="804672"/>
          </a:xfrm>
          <a:prstGeom prst="rect">
            <a:avLst/>
          </a:prstGeom>
          <a:solidFill>
            <a:srgbClr val="FFFFFF"/>
          </a:solidFill>
          <a:ln w="12700">
            <a:solidFill>
              <a:srgbClr val="C9D3DC"/>
            </a:solidFill>
          </a:ln>
        </p:spPr>
        <p:txBody>
          <a:bodyPr rtlCol="0" anchor="ctr"/>
          <a:lstStyle/>
          <a:p>
            <a:pPr algn="ctr"/>
          </a:p>
        </p:txBody>
      </p:sp>
      <p:sp>
        <p:nvSpPr>
          <p:cNvPr id="45" name="Rectangle 44"/>
          <p:cNvSpPr/>
          <p:nvPr/>
        </p:nvSpPr>
        <p:spPr>
          <a:xfrm>
            <a:off x="10354665" y="1965960"/>
            <a:ext cx="1242669" cy="41148"/>
          </a:xfrm>
          <a:prstGeom prst="rect">
            <a:avLst/>
          </a:prstGeom>
          <a:solidFill>
            <a:srgbClr val="C9D3DC"/>
          </a:solidFill>
          <a:ln>
            <a:noFill/>
          </a:ln>
        </p:spPr>
        <p:txBody>
          <a:bodyPr rtlCol="0" anchor="ctr"/>
          <a:lstStyle/>
          <a:p>
            <a:pPr algn="ctr"/>
          </a:p>
        </p:txBody>
      </p:sp>
      <p:sp>
        <p:nvSpPr>
          <p:cNvPr id="46" name="TextBox 45"/>
          <p:cNvSpPr txBox="1"/>
          <p:nvPr/>
        </p:nvSpPr>
        <p:spPr>
          <a:xfrm>
            <a:off x="10464393" y="2075688"/>
            <a:ext cx="1023213" cy="201168"/>
          </a:xfrm>
          <a:prstGeom prst="rect">
            <a:avLst/>
          </a:prstGeom>
          <a:noFill/>
        </p:spPr>
        <p:txBody>
          <a:bodyPr wrap="square">
            <a:spAutoFit/>
          </a:bodyPr>
          <a:lstStyle/>
          <a:p>
            <a:pPr algn="l"/>
            <a:r>
              <a:rPr sz="1000" b="0">
                <a:solidFill>
                  <a:srgbClr val="6B7B8A"/>
                </a:solidFill>
                <a:latin typeface="Consolas" panose="020B0609020204030204"/>
                <a:ea typeface="Noto Sans SC" panose="020B0200000000000000" charset="-122"/>
                <a:cs typeface="Noto Sans SC" panose="020B0200000000000000" charset="-122"/>
              </a:rPr>
              <a:t>07</a:t>
            </a:r>
            <a:endParaRPr sz="1000" b="0">
              <a:solidFill>
                <a:srgbClr val="6B7B8A"/>
              </a:solidFill>
              <a:latin typeface="Consolas" panose="020B0609020204030204"/>
              <a:ea typeface="Noto Sans SC" panose="020B0200000000000000" charset="-122"/>
              <a:cs typeface="Noto Sans SC" panose="020B0200000000000000" charset="-122"/>
            </a:endParaRPr>
          </a:p>
        </p:txBody>
      </p:sp>
      <p:sp>
        <p:nvSpPr>
          <p:cNvPr id="47" name="TextBox 46"/>
          <p:cNvSpPr txBox="1"/>
          <p:nvPr/>
        </p:nvSpPr>
        <p:spPr>
          <a:xfrm>
            <a:off x="10464393" y="2295144"/>
            <a:ext cx="1023213" cy="402336"/>
          </a:xfrm>
          <a:prstGeom prst="rect">
            <a:avLst/>
          </a:prstGeom>
          <a:noFill/>
        </p:spPr>
        <p:txBody>
          <a:bodyPr wrap="square">
            <a:spAutoFit/>
          </a:bodyPr>
          <a:lstStyle/>
          <a:p>
            <a:pPr algn="l">
              <a:spcBef>
                <a:spcPts val="200"/>
              </a:spcBef>
              <a:spcAft>
                <a:spcPts val="200"/>
              </a:spcAft>
            </a:pPr>
            <a:r>
              <a:rPr sz="1200" b="0">
                <a:solidFill>
                  <a:srgbClr val="12304F"/>
                </a:solidFill>
                <a:latin typeface="Noto Sans SC" panose="020B0200000000000000" charset="-122"/>
                <a:ea typeface="Noto Sans SC" panose="020B0200000000000000" charset="-122"/>
                <a:cs typeface="Noto Sans SC" panose="020B0200000000000000" charset="-122"/>
              </a:rPr>
              <a:t>尺寸</a:t>
            </a:r>
            <a:endParaRPr sz="1200" b="0">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48" name="Rectangle 47"/>
          <p:cNvSpPr/>
          <p:nvPr/>
        </p:nvSpPr>
        <p:spPr>
          <a:xfrm>
            <a:off x="466725" y="3010535"/>
            <a:ext cx="5695315" cy="3352800"/>
          </a:xfrm>
          <a:prstGeom prst="rect">
            <a:avLst/>
          </a:prstGeom>
          <a:solidFill>
            <a:srgbClr val="FFFFFF"/>
          </a:solidFill>
          <a:ln w="12700">
            <a:solidFill>
              <a:srgbClr val="B03A2E"/>
            </a:solidFill>
          </a:ln>
        </p:spPr>
        <p:txBody>
          <a:bodyPr rtlCol="0" anchor="ctr"/>
          <a:lstStyle/>
          <a:p>
            <a:pPr algn="ctr"/>
          </a:p>
        </p:txBody>
      </p:sp>
      <p:sp>
        <p:nvSpPr>
          <p:cNvPr id="49" name="TextBox 48"/>
          <p:cNvSpPr txBox="1"/>
          <p:nvPr/>
        </p:nvSpPr>
        <p:spPr>
          <a:xfrm>
            <a:off x="722376" y="3108960"/>
            <a:ext cx="2473452" cy="283210"/>
          </a:xfrm>
          <a:prstGeom prst="rect">
            <a:avLst/>
          </a:prstGeom>
          <a:noFill/>
        </p:spPr>
        <p:txBody>
          <a:bodyPr wrap="square">
            <a:spAutoFit/>
          </a:bodyPr>
          <a:lstStyle/>
          <a:p>
            <a:pPr algn="l"/>
            <a:r>
              <a:rPr lang="zh-CN" sz="1250" b="1">
                <a:solidFill>
                  <a:srgbClr val="12304F"/>
                </a:solidFill>
                <a:latin typeface="Noto Sans SC" panose="020B0200000000000000" charset="-122"/>
                <a:ea typeface="Noto Sans SC" panose="020B0200000000000000" charset="-122"/>
                <a:cs typeface="Noto Sans SC" panose="020B0200000000000000" charset="-122"/>
              </a:rPr>
              <a:t>约束与未约束状态</a:t>
            </a:r>
            <a:endParaRPr lang="zh-CN" sz="125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62" name="Rectangle 61"/>
          <p:cNvSpPr/>
          <p:nvPr/>
        </p:nvSpPr>
        <p:spPr>
          <a:xfrm>
            <a:off x="6358255" y="3017520"/>
            <a:ext cx="5239385" cy="3345815"/>
          </a:xfrm>
          <a:prstGeom prst="rect">
            <a:avLst/>
          </a:prstGeom>
          <a:solidFill>
            <a:srgbClr val="FFFFFF"/>
          </a:solidFill>
          <a:ln w="12700">
            <a:solidFill>
              <a:srgbClr val="C9D3DC"/>
            </a:solidFill>
          </a:ln>
        </p:spPr>
        <p:txBody>
          <a:bodyPr rtlCol="0" anchor="ctr"/>
          <a:lstStyle/>
          <a:p>
            <a:pPr algn="ctr"/>
          </a:p>
        </p:txBody>
      </p:sp>
      <p:sp>
        <p:nvSpPr>
          <p:cNvPr id="63" name="Rectangle 62"/>
          <p:cNvSpPr/>
          <p:nvPr/>
        </p:nvSpPr>
        <p:spPr>
          <a:xfrm>
            <a:off x="6355080" y="3017520"/>
            <a:ext cx="5239512" cy="41148"/>
          </a:xfrm>
          <a:prstGeom prst="rect">
            <a:avLst/>
          </a:prstGeom>
          <a:solidFill>
            <a:srgbClr val="1D5FA8"/>
          </a:solidFill>
          <a:ln>
            <a:noFill/>
          </a:ln>
        </p:spPr>
        <p:txBody>
          <a:bodyPr rtlCol="0" anchor="ctr"/>
          <a:lstStyle/>
          <a:p>
            <a:pPr algn="ctr"/>
          </a:p>
        </p:txBody>
      </p:sp>
      <p:sp>
        <p:nvSpPr>
          <p:cNvPr id="64" name="TextBox 63"/>
          <p:cNvSpPr txBox="1"/>
          <p:nvPr/>
        </p:nvSpPr>
        <p:spPr>
          <a:xfrm>
            <a:off x="6519545" y="3145790"/>
            <a:ext cx="4910455" cy="3088640"/>
          </a:xfrm>
          <a:prstGeom prst="rect">
            <a:avLst/>
          </a:prstGeom>
          <a:noFill/>
        </p:spPr>
        <p:txBody>
          <a:bodyPr wrap="square">
            <a:noAutofit/>
          </a:bodyPr>
          <a:lstStyle/>
          <a:p>
            <a:pPr algn="l"/>
            <a:endParaRPr lang="zh-CN" altLang="en-US" sz="1350" b="1">
              <a:solidFill>
                <a:srgbClr val="12304F"/>
              </a:solidFill>
              <a:latin typeface="Noto Sans SC" panose="020B0200000000000000" charset="-122"/>
              <a:ea typeface="Noto Sans SC" panose="020B0200000000000000" charset="-122"/>
              <a:cs typeface="Noto Sans SC" panose="020B0200000000000000" charset="-122"/>
            </a:endParaRPr>
          </a:p>
          <a:p>
            <a:pPr algn="l">
              <a:buClrTx/>
              <a:buSzTx/>
              <a:buNone/>
            </a:pPr>
            <a:r>
              <a:rPr sz="1650">
                <a:solidFill>
                  <a:srgbClr val="12304F"/>
                </a:solidFill>
                <a:latin typeface="Noto Sans SC" panose="020B0200000000000000" charset="-122"/>
                <a:ea typeface="Noto Sans SC" panose="020B0200000000000000" charset="-122"/>
                <a:cs typeface="Noto Sans SC" panose="020B0200000000000000" charset="-122"/>
              </a:rPr>
              <a:t>草图约束是施加在草图图元之间的关系与尺寸 —— 几何约束（重合、水平垂直、平行、垂直、相等、对称、相切…）决定"关系"，尺寸决定"大小"。</a:t>
            </a:r>
            <a:endParaRPr sz="1650">
              <a:solidFill>
                <a:srgbClr val="12304F"/>
              </a:solidFill>
              <a:latin typeface="Noto Sans SC" panose="020B0200000000000000" charset="-122"/>
              <a:ea typeface="Noto Sans SC" panose="020B0200000000000000" charset="-122"/>
              <a:cs typeface="Noto Sans SC" panose="020B0200000000000000" charset="-122"/>
            </a:endParaRPr>
          </a:p>
          <a:p>
            <a:pPr algn="l">
              <a:buClrTx/>
              <a:buSzTx/>
              <a:buNone/>
            </a:pPr>
            <a:endParaRPr sz="1650">
              <a:solidFill>
                <a:srgbClr val="12304F"/>
              </a:solidFill>
              <a:latin typeface="Noto Sans SC" panose="020B0200000000000000" charset="-122"/>
              <a:ea typeface="Noto Sans SC" panose="020B0200000000000000" charset="-122"/>
              <a:cs typeface="Noto Sans SC" panose="020B0200000000000000" charset="-122"/>
            </a:endParaRPr>
          </a:p>
          <a:p>
            <a:pPr algn="l">
              <a:buClrTx/>
              <a:buSzTx/>
              <a:buNone/>
            </a:pPr>
            <a:r>
              <a:rPr sz="1650">
                <a:solidFill>
                  <a:srgbClr val="12304F"/>
                </a:solidFill>
                <a:latin typeface="Noto Sans SC" panose="020B0200000000000000" charset="-122"/>
                <a:ea typeface="Noto Sans SC" panose="020B0200000000000000" charset="-122"/>
                <a:cs typeface="Noto Sans SC" panose="020B0200000000000000" charset="-122"/>
              </a:rPr>
              <a:t>两者共同消除草图的自由度：自由度归零即全约束，草图不再能被拖动，模型才可以交付。</a:t>
            </a:r>
            <a:endParaRPr sz="1650">
              <a:solidFill>
                <a:srgbClr val="12304F"/>
              </a:solidFill>
              <a:latin typeface="Noto Sans SC" panose="020B0200000000000000" charset="-122"/>
              <a:ea typeface="Noto Sans SC" panose="020B0200000000000000" charset="-122"/>
              <a:cs typeface="Noto Sans SC" panose="020B0200000000000000" charset="-122"/>
            </a:endParaRPr>
          </a:p>
          <a:p>
            <a:pPr algn="l">
              <a:buClrTx/>
              <a:buSzTx/>
              <a:buNone/>
            </a:pPr>
            <a:endParaRPr sz="1650">
              <a:solidFill>
                <a:srgbClr val="12304F"/>
              </a:solidFill>
              <a:latin typeface="Noto Sans SC" panose="020B0200000000000000" charset="-122"/>
              <a:ea typeface="Noto Sans SC" panose="020B0200000000000000" charset="-122"/>
              <a:cs typeface="Noto Sans SC" panose="020B0200000000000000" charset="-122"/>
            </a:endParaRPr>
          </a:p>
          <a:p>
            <a:pPr algn="l">
              <a:buClrTx/>
              <a:buSzTx/>
              <a:buNone/>
            </a:pPr>
            <a:endParaRPr sz="1650">
              <a:solidFill>
                <a:srgbClr val="12304F"/>
              </a:solidFill>
              <a:latin typeface="Noto Sans SC" panose="020B0200000000000000" charset="-122"/>
              <a:ea typeface="Noto Sans SC" panose="020B0200000000000000" charset="-122"/>
              <a:cs typeface="Noto Sans SC" panose="020B0200000000000000" charset="-122"/>
            </a:endParaRPr>
          </a:p>
          <a:p>
            <a:pPr algn="l">
              <a:buClrTx/>
              <a:buSzTx/>
              <a:buNone/>
            </a:pPr>
            <a:r>
              <a:rPr sz="1650">
                <a:solidFill>
                  <a:srgbClr val="12304F"/>
                </a:solidFill>
                <a:latin typeface="Noto Sans SC" panose="020B0200000000000000" charset="-122"/>
                <a:ea typeface="Noto Sans SC" panose="020B0200000000000000" charset="-122"/>
                <a:cs typeface="Noto Sans SC" panose="020B0200000000000000" charset="-122"/>
              </a:rPr>
              <a:t>先定位置（重合、水平 / 垂直）→ 再定形状（平行垂直、相等、对称、相切）→ 最后标尺寸。 </a:t>
            </a:r>
            <a:endParaRPr sz="1650">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70" name="Rectangle 69"/>
          <p:cNvSpPr/>
          <p:nvPr/>
        </p:nvSpPr>
        <p:spPr>
          <a:xfrm>
            <a:off x="594360" y="6199632"/>
            <a:ext cx="11002975" cy="10972"/>
          </a:xfrm>
          <a:prstGeom prst="rect">
            <a:avLst/>
          </a:prstGeom>
          <a:solidFill>
            <a:srgbClr val="C9D3DC"/>
          </a:solidFill>
          <a:ln>
            <a:noFill/>
          </a:ln>
        </p:spPr>
        <p:txBody>
          <a:bodyPr rtlCol="0" anchor="ctr"/>
          <a:lstStyle/>
          <a:p>
            <a:pPr algn="ctr"/>
          </a:p>
        </p:txBody>
      </p:sp>
      <p:pic>
        <p:nvPicPr>
          <p:cNvPr id="75" name="图片 74"/>
          <p:cNvPicPr>
            <a:picLocks noChangeAspect="1"/>
          </p:cNvPicPr>
          <p:nvPr/>
        </p:nvPicPr>
        <p:blipFill>
          <a:blip r:embed="rId2"/>
          <a:stretch>
            <a:fillRect/>
          </a:stretch>
        </p:blipFill>
        <p:spPr>
          <a:xfrm>
            <a:off x="722630" y="3559810"/>
            <a:ext cx="2345055" cy="2159635"/>
          </a:xfrm>
          <a:prstGeom prst="rect">
            <a:avLst/>
          </a:prstGeom>
        </p:spPr>
      </p:pic>
      <p:pic>
        <p:nvPicPr>
          <p:cNvPr id="76" name="图片 75"/>
          <p:cNvPicPr>
            <a:picLocks noChangeAspect="1"/>
          </p:cNvPicPr>
          <p:nvPr/>
        </p:nvPicPr>
        <p:blipFill>
          <a:blip r:embed="rId3"/>
          <a:stretch>
            <a:fillRect/>
          </a:stretch>
        </p:blipFill>
        <p:spPr>
          <a:xfrm>
            <a:off x="3310890" y="3559810"/>
            <a:ext cx="2366645" cy="216027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pic>
        <p:nvPicPr>
          <p:cNvPr id="2" name="Picture 1" descr="447916673a97bd1f0e53b186d485eed5.png"/>
          <p:cNvPicPr>
            <a:picLocks noChangeAspect="1"/>
          </p:cNvPicPr>
          <p:nvPr/>
        </p:nvPicPr>
        <p:blipFill>
          <a:blip r:embed="rId1"/>
          <a:stretch>
            <a:fillRect/>
          </a:stretch>
        </p:blipFill>
        <p:spPr>
          <a:xfrm>
            <a:off x="0" y="0"/>
            <a:ext cx="12191695" cy="6858000"/>
          </a:xfrm>
          <a:prstGeom prst="rect">
            <a:avLst/>
          </a:prstGeom>
        </p:spPr>
      </p:pic>
      <p:sp>
        <p:nvSpPr>
          <p:cNvPr id="3" name="Rectangle 2"/>
          <p:cNvSpPr/>
          <p:nvPr/>
        </p:nvSpPr>
        <p:spPr>
          <a:xfrm>
            <a:off x="0" y="0"/>
            <a:ext cx="12191695" cy="68580"/>
          </a:xfrm>
          <a:prstGeom prst="rect">
            <a:avLst/>
          </a:prstGeom>
          <a:solidFill>
            <a:srgbClr val="C2571A"/>
          </a:solidFill>
          <a:ln>
            <a:noFill/>
          </a:ln>
        </p:spPr>
        <p:txBody>
          <a:bodyPr rtlCol="0" anchor="ctr"/>
          <a:lstStyle/>
          <a:p>
            <a:pPr algn="ctr"/>
          </a:p>
        </p:txBody>
      </p:sp>
      <p:sp>
        <p:nvSpPr>
          <p:cNvPr id="4" name="Rounded Rectangle 3"/>
          <p:cNvSpPr/>
          <p:nvPr/>
        </p:nvSpPr>
        <p:spPr>
          <a:xfrm>
            <a:off x="594360" y="310896"/>
            <a:ext cx="1517904" cy="329184"/>
          </a:xfrm>
          <a:prstGeom prst="roundRect">
            <a:avLst/>
          </a:prstGeom>
          <a:solidFill>
            <a:srgbClr val="C2571A"/>
          </a:solidFill>
          <a:ln>
            <a:noFill/>
          </a:ln>
        </p:spPr>
        <p:txBody>
          <a:bodyPr rtlCol="0" anchor="ctr"/>
          <a:lstStyle/>
          <a:p>
            <a:pPr algn="ctr"/>
          </a:p>
        </p:txBody>
      </p:sp>
      <p:sp>
        <p:nvSpPr>
          <p:cNvPr id="5" name="TextBox 4"/>
          <p:cNvSpPr txBox="1"/>
          <p:nvPr/>
        </p:nvSpPr>
        <p:spPr>
          <a:xfrm>
            <a:off x="649224" y="310896"/>
            <a:ext cx="1408176" cy="329184"/>
          </a:xfrm>
          <a:prstGeom prst="rect">
            <a:avLst/>
          </a:prstGeom>
          <a:noFill/>
        </p:spPr>
        <p:txBody>
          <a:bodyPr wrap="square" anchor="ctr">
            <a:spAutoFit/>
          </a:bodyPr>
          <a:lstStyle/>
          <a:p>
            <a:pPr algn="ctr"/>
            <a:r>
              <a:rPr sz="1300" b="1">
                <a:solidFill>
                  <a:srgbClr val="FFFFFF"/>
                </a:solidFill>
                <a:latin typeface="Noto Sans SC" panose="020B0200000000000000" charset="-122"/>
                <a:ea typeface="Noto Sans SC" panose="020B0200000000000000" charset="-122"/>
                <a:cs typeface="Noto Sans SC" panose="020B0200000000000000" charset="-122"/>
              </a:rPr>
              <a:t>01  科学绘图</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6" name="TextBox 5"/>
          <p:cNvSpPr txBox="1"/>
          <p:nvPr/>
        </p:nvSpPr>
        <p:spPr>
          <a:xfrm>
            <a:off x="2295144" y="338328"/>
            <a:ext cx="3840480" cy="274320"/>
          </a:xfrm>
          <a:prstGeom prst="rect">
            <a:avLst/>
          </a:prstGeom>
          <a:noFill/>
        </p:spPr>
        <p:txBody>
          <a:bodyPr wrap="square">
            <a:spAutoFit/>
          </a:bodyPr>
          <a:lstStyle/>
          <a:p>
            <a:pPr algn="l"/>
            <a:r>
              <a:rPr sz="1150" b="0">
                <a:solidFill>
                  <a:srgbClr val="6B7B8A"/>
                </a:solidFill>
                <a:latin typeface="Consolas" panose="020B0609020204030204"/>
                <a:ea typeface="Noto Sans SC" panose="020B0200000000000000" charset="-122"/>
                <a:cs typeface="Noto Sans SC" panose="020B0200000000000000" charset="-122"/>
              </a:rPr>
              <a:t>方法 06 · 接口管理</a:t>
            </a:r>
            <a:endParaRPr sz="1150" b="0">
              <a:solidFill>
                <a:srgbClr val="6B7B8A"/>
              </a:solidFill>
              <a:latin typeface="Consolas" panose="020B0609020204030204"/>
              <a:ea typeface="Noto Sans SC" panose="020B0200000000000000" charset="-122"/>
              <a:cs typeface="Noto Sans SC" panose="020B0200000000000000" charset="-122"/>
            </a:endParaRPr>
          </a:p>
        </p:txBody>
      </p:sp>
      <p:sp>
        <p:nvSpPr>
          <p:cNvPr id="7" name="Rounded Rectangle 6"/>
          <p:cNvSpPr/>
          <p:nvPr/>
        </p:nvSpPr>
        <p:spPr>
          <a:xfrm>
            <a:off x="10262311" y="329184"/>
            <a:ext cx="1335024" cy="292608"/>
          </a:xfrm>
          <a:prstGeom prst="roundRect">
            <a:avLst/>
          </a:prstGeom>
          <a:solidFill>
            <a:srgbClr val="FFFFFF"/>
          </a:solidFill>
          <a:ln w="12700">
            <a:solidFill>
              <a:srgbClr val="C9D3DC"/>
            </a:solidFill>
          </a:ln>
        </p:spPr>
        <p:txBody>
          <a:bodyPr rtlCol="0" anchor="ctr"/>
          <a:lstStyle/>
          <a:p>
            <a:pPr algn="ctr"/>
          </a:p>
        </p:txBody>
      </p:sp>
      <p:sp>
        <p:nvSpPr>
          <p:cNvPr id="8" name="Rectangle 7"/>
          <p:cNvSpPr/>
          <p:nvPr/>
        </p:nvSpPr>
        <p:spPr>
          <a:xfrm>
            <a:off x="10381183" y="443484"/>
            <a:ext cx="68580" cy="68580"/>
          </a:xfrm>
          <a:prstGeom prst="rect">
            <a:avLst/>
          </a:prstGeom>
          <a:solidFill>
            <a:srgbClr val="C2571A"/>
          </a:solidFill>
          <a:ln>
            <a:noFill/>
          </a:ln>
        </p:spPr>
        <p:txBody>
          <a:bodyPr rtlCol="0" anchor="ctr"/>
          <a:lstStyle/>
          <a:p>
            <a:pPr algn="ctr"/>
          </a:p>
        </p:txBody>
      </p:sp>
      <p:sp>
        <p:nvSpPr>
          <p:cNvPr id="9" name="TextBox 8"/>
          <p:cNvSpPr txBox="1"/>
          <p:nvPr/>
        </p:nvSpPr>
        <p:spPr>
          <a:xfrm>
            <a:off x="10509199" y="329184"/>
            <a:ext cx="1042415" cy="292608"/>
          </a:xfrm>
          <a:prstGeom prst="rect">
            <a:avLst/>
          </a:prstGeom>
          <a:noFill/>
        </p:spPr>
        <p:txBody>
          <a:bodyPr wrap="square" anchor="ctr">
            <a:spAutoFit/>
          </a:bodyPr>
          <a:lstStyle/>
          <a:p>
            <a:pPr algn="l"/>
            <a:r>
              <a:rPr sz="1150" b="0">
                <a:solidFill>
                  <a:srgbClr val="23384C"/>
                </a:solidFill>
                <a:latin typeface="Consolas" panose="020B0609020204030204"/>
                <a:ea typeface="Noto Sans SC" panose="020B0200000000000000" charset="-122"/>
                <a:cs typeface="Noto Sans SC" panose="020B0200000000000000" charset="-122"/>
              </a:rPr>
              <a:t>Fusion 360</a:t>
            </a:r>
            <a:endParaRPr sz="1150" b="0">
              <a:solidFill>
                <a:srgbClr val="23384C"/>
              </a:solidFill>
              <a:latin typeface="Consolas" panose="020B0609020204030204"/>
              <a:ea typeface="Noto Sans SC" panose="020B0200000000000000" charset="-122"/>
              <a:cs typeface="Noto Sans SC" panose="020B0200000000000000" charset="-122"/>
            </a:endParaRPr>
          </a:p>
        </p:txBody>
      </p:sp>
      <p:sp>
        <p:nvSpPr>
          <p:cNvPr id="10" name="TextBox 9"/>
          <p:cNvSpPr txBox="1"/>
          <p:nvPr/>
        </p:nvSpPr>
        <p:spPr>
          <a:xfrm>
            <a:off x="594360" y="841248"/>
            <a:ext cx="10058400" cy="502920"/>
          </a:xfrm>
          <a:prstGeom prst="rect">
            <a:avLst/>
          </a:prstGeom>
          <a:noFill/>
        </p:spPr>
        <p:txBody>
          <a:bodyPr wrap="square">
            <a:spAutoFit/>
          </a:bodyPr>
          <a:lstStyle/>
          <a:p>
            <a:pPr algn="l"/>
            <a:r>
              <a:rPr sz="2700" b="1">
                <a:solidFill>
                  <a:srgbClr val="12304F"/>
                </a:solidFill>
                <a:latin typeface="Noto Sans SC" panose="020B0200000000000000" charset="-122"/>
                <a:ea typeface="Noto Sans SC" panose="020B0200000000000000" charset="-122"/>
                <a:cs typeface="Noto Sans SC" panose="020B0200000000000000" charset="-122"/>
              </a:rPr>
              <a:t>接口管理：参考与投影</a:t>
            </a:r>
            <a:endParaRPr sz="270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11" name="TextBox 10"/>
          <p:cNvSpPr txBox="1"/>
          <p:nvPr/>
        </p:nvSpPr>
        <p:spPr>
          <a:xfrm>
            <a:off x="594360" y="1344168"/>
            <a:ext cx="10607040" cy="274320"/>
          </a:xfrm>
          <a:prstGeom prst="rect">
            <a:avLst/>
          </a:prstGeom>
          <a:noFill/>
        </p:spPr>
        <p:txBody>
          <a:bodyPr wrap="square">
            <a:spAutoFit/>
          </a:bodyPr>
          <a:lstStyle/>
          <a:p>
            <a:pPr algn="l"/>
            <a:r>
              <a:rPr sz="1350" b="0">
                <a:solidFill>
                  <a:srgbClr val="6B7B8A"/>
                </a:solidFill>
                <a:latin typeface="Noto Sans SC" panose="020B0200000000000000" charset="-122"/>
                <a:ea typeface="Noto Sans SC" panose="020B0200000000000000" charset="-122"/>
                <a:cs typeface="Noto Sans SC" panose="020B0200000000000000" charset="-122"/>
              </a:rPr>
              <a:t>接口尺寸来自真实几何，而不是手抄数字</a:t>
            </a:r>
            <a:endParaRPr sz="13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12" name="Rectangle 11"/>
          <p:cNvSpPr/>
          <p:nvPr/>
        </p:nvSpPr>
        <p:spPr>
          <a:xfrm>
            <a:off x="594360" y="1700784"/>
            <a:ext cx="11002975" cy="12801"/>
          </a:xfrm>
          <a:prstGeom prst="rect">
            <a:avLst/>
          </a:prstGeom>
          <a:solidFill>
            <a:srgbClr val="C9D3DC"/>
          </a:solidFill>
          <a:ln>
            <a:noFill/>
          </a:ln>
        </p:spPr>
        <p:txBody>
          <a:bodyPr rtlCol="0" anchor="ctr"/>
          <a:lstStyle/>
          <a:p>
            <a:pPr algn="ctr"/>
          </a:p>
        </p:txBody>
      </p:sp>
      <p:sp>
        <p:nvSpPr>
          <p:cNvPr id="13" name="TextBox 12"/>
          <p:cNvSpPr txBox="1"/>
          <p:nvPr/>
        </p:nvSpPr>
        <p:spPr>
          <a:xfrm>
            <a:off x="10515600" y="6400800"/>
            <a:ext cx="1371600" cy="274320"/>
          </a:xfrm>
          <a:prstGeom prst="rect">
            <a:avLst/>
          </a:prstGeom>
          <a:noFill/>
        </p:spPr>
        <p:txBody>
          <a:bodyPr wrap="square">
            <a:spAutoFit/>
          </a:bodyPr>
          <a:lstStyle/>
          <a:p>
            <a:pPr algn="r"/>
            <a:r>
              <a:rPr sz="1000" b="0">
                <a:solidFill>
                  <a:srgbClr val="6B7B8A"/>
                </a:solidFill>
                <a:latin typeface="Noto Sans SC" panose="020B0200000000000000" charset="-122"/>
                <a:ea typeface="Noto Sans SC" panose="020B0200000000000000" charset="-122"/>
                <a:cs typeface="Noto Sans SC" panose="020B0200000000000000" charset="-122"/>
              </a:rPr>
              <a:t>10 / 34</a:t>
            </a:r>
            <a:endParaRPr sz="100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14" name="Rectangle 13"/>
          <p:cNvSpPr/>
          <p:nvPr/>
        </p:nvSpPr>
        <p:spPr>
          <a:xfrm>
            <a:off x="594360" y="1965960"/>
            <a:ext cx="5623560" cy="3943985"/>
          </a:xfrm>
          <a:prstGeom prst="rect">
            <a:avLst/>
          </a:prstGeom>
          <a:solidFill>
            <a:srgbClr val="FFFFFF"/>
          </a:solidFill>
          <a:ln w="12700">
            <a:solidFill>
              <a:srgbClr val="C9D3DC"/>
            </a:solidFill>
          </a:ln>
        </p:spPr>
        <p:txBody>
          <a:bodyPr rtlCol="0" anchor="ctr"/>
          <a:lstStyle/>
          <a:p>
            <a:pPr algn="ctr"/>
          </a:p>
        </p:txBody>
      </p:sp>
      <p:sp>
        <p:nvSpPr>
          <p:cNvPr id="15" name="TextBox 14"/>
          <p:cNvSpPr txBox="1"/>
          <p:nvPr/>
        </p:nvSpPr>
        <p:spPr>
          <a:xfrm>
            <a:off x="777240" y="2075688"/>
            <a:ext cx="4754880" cy="256032"/>
          </a:xfrm>
          <a:prstGeom prst="rect">
            <a:avLst/>
          </a:prstGeom>
          <a:noFill/>
        </p:spPr>
        <p:txBody>
          <a:bodyPr wrap="square">
            <a:spAutoFit/>
          </a:bodyPr>
          <a:lstStyle/>
          <a:p>
            <a:pPr algn="l"/>
            <a:r>
              <a:rPr sz="1350" b="1">
                <a:solidFill>
                  <a:srgbClr val="12304F"/>
                </a:solidFill>
                <a:latin typeface="Noto Sans SC" panose="020B0200000000000000" charset="-122"/>
                <a:ea typeface="Noto Sans SC" panose="020B0200000000000000" charset="-122"/>
                <a:cs typeface="Noto Sans SC" panose="020B0200000000000000" charset="-122"/>
              </a:rPr>
              <a:t>把上游零件的边，投到自己的草图里</a:t>
            </a:r>
            <a:endParaRPr sz="135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16" name="Rectangle 15"/>
          <p:cNvSpPr/>
          <p:nvPr/>
        </p:nvSpPr>
        <p:spPr>
          <a:xfrm>
            <a:off x="822960" y="2395728"/>
            <a:ext cx="5166360" cy="1234440"/>
          </a:xfrm>
          <a:prstGeom prst="rect">
            <a:avLst/>
          </a:prstGeom>
          <a:solidFill>
            <a:srgbClr val="FBFAF6"/>
          </a:solidFill>
          <a:ln w="12700">
            <a:solidFill>
              <a:srgbClr val="9FB0BF"/>
            </a:solidFill>
            <a:prstDash val="dash"/>
          </a:ln>
        </p:spPr>
        <p:txBody>
          <a:bodyPr rtlCol="0" anchor="ctr"/>
          <a:lstStyle/>
          <a:p>
            <a:pPr algn="ctr"/>
          </a:p>
        </p:txBody>
      </p:sp>
      <p:sp>
        <p:nvSpPr>
          <p:cNvPr id="17" name="TextBox 16"/>
          <p:cNvSpPr txBox="1"/>
          <p:nvPr/>
        </p:nvSpPr>
        <p:spPr>
          <a:xfrm>
            <a:off x="932688" y="2468880"/>
            <a:ext cx="4946904" cy="219456"/>
          </a:xfrm>
          <a:prstGeom prst="rect">
            <a:avLst/>
          </a:prstGeom>
          <a:noFill/>
        </p:spPr>
        <p:txBody>
          <a:bodyPr wrap="square">
            <a:spAutoFit/>
          </a:bodyPr>
          <a:lstStyle/>
          <a:p>
            <a:pPr algn="l"/>
            <a:r>
              <a:rPr sz="950" b="0">
                <a:solidFill>
                  <a:srgbClr val="6B7B8A"/>
                </a:solidFill>
                <a:latin typeface="Consolas" panose="020B0609020204030204"/>
                <a:ea typeface="Noto Sans SC" panose="020B0200000000000000" charset="-122"/>
                <a:cs typeface="Noto Sans SC" panose="020B0200000000000000" charset="-122"/>
              </a:rPr>
              <a:t>图位 P10-1</a:t>
            </a:r>
            <a:endParaRPr sz="950" b="0">
              <a:solidFill>
                <a:srgbClr val="6B7B8A"/>
              </a:solidFill>
              <a:latin typeface="Consolas" panose="020B0609020204030204"/>
              <a:ea typeface="Noto Sans SC" panose="020B0200000000000000" charset="-122"/>
              <a:cs typeface="Noto Sans SC" panose="020B0200000000000000" charset="-122"/>
            </a:endParaRPr>
          </a:p>
        </p:txBody>
      </p:sp>
      <p:sp>
        <p:nvSpPr>
          <p:cNvPr id="18" name="Rectangle 17"/>
          <p:cNvSpPr/>
          <p:nvPr/>
        </p:nvSpPr>
        <p:spPr>
          <a:xfrm>
            <a:off x="3131820" y="2702052"/>
            <a:ext cx="548640" cy="402336"/>
          </a:xfrm>
          <a:prstGeom prst="rect">
            <a:avLst/>
          </a:prstGeom>
          <a:solidFill>
            <a:srgbClr val="FFFFFF"/>
          </a:solidFill>
          <a:ln w="12700">
            <a:solidFill>
              <a:srgbClr val="9FB0BF"/>
            </a:solidFill>
          </a:ln>
        </p:spPr>
        <p:txBody>
          <a:bodyPr rtlCol="0" anchor="ctr"/>
          <a:lstStyle/>
          <a:p>
            <a:pPr algn="ctr"/>
          </a:p>
        </p:txBody>
      </p:sp>
      <p:sp>
        <p:nvSpPr>
          <p:cNvPr id="19" name="Isosceles Triangle 18"/>
          <p:cNvSpPr/>
          <p:nvPr/>
        </p:nvSpPr>
        <p:spPr>
          <a:xfrm>
            <a:off x="3223260" y="2866644"/>
            <a:ext cx="146304" cy="128016"/>
          </a:xfrm>
          <a:prstGeom prst="triangle">
            <a:avLst/>
          </a:prstGeom>
          <a:solidFill>
            <a:srgbClr val="9FB0BF"/>
          </a:solidFill>
          <a:ln>
            <a:noFill/>
          </a:ln>
        </p:spPr>
        <p:txBody>
          <a:bodyPr rtlCol="0" anchor="ctr"/>
          <a:lstStyle/>
          <a:p>
            <a:pPr algn="ctr"/>
          </a:p>
        </p:txBody>
      </p:sp>
      <p:sp>
        <p:nvSpPr>
          <p:cNvPr id="20" name="Isosceles Triangle 19"/>
          <p:cNvSpPr/>
          <p:nvPr/>
        </p:nvSpPr>
        <p:spPr>
          <a:xfrm>
            <a:off x="3387852" y="2811780"/>
            <a:ext cx="182880" cy="164592"/>
          </a:xfrm>
          <a:prstGeom prst="triangle">
            <a:avLst/>
          </a:prstGeom>
          <a:solidFill>
            <a:srgbClr val="9FB0BF"/>
          </a:solidFill>
          <a:ln>
            <a:noFill/>
          </a:ln>
        </p:spPr>
        <p:txBody>
          <a:bodyPr rtlCol="0" anchor="ctr"/>
          <a:lstStyle/>
          <a:p>
            <a:pPr algn="ctr"/>
          </a:p>
        </p:txBody>
      </p:sp>
      <p:sp>
        <p:nvSpPr>
          <p:cNvPr id="21" name="Oval 20"/>
          <p:cNvSpPr/>
          <p:nvPr/>
        </p:nvSpPr>
        <p:spPr>
          <a:xfrm>
            <a:off x="3515868" y="2775204"/>
            <a:ext cx="91440" cy="91440"/>
          </a:xfrm>
          <a:prstGeom prst="ellipse">
            <a:avLst/>
          </a:prstGeom>
          <a:solidFill>
            <a:srgbClr val="9FB0BF"/>
          </a:solidFill>
          <a:ln>
            <a:noFill/>
          </a:ln>
        </p:spPr>
        <p:txBody>
          <a:bodyPr rtlCol="0" anchor="ctr"/>
          <a:lstStyle/>
          <a:p>
            <a:pPr algn="ctr"/>
          </a:p>
        </p:txBody>
      </p:sp>
      <p:sp>
        <p:nvSpPr>
          <p:cNvPr id="22" name="TextBox 21"/>
          <p:cNvSpPr txBox="1"/>
          <p:nvPr/>
        </p:nvSpPr>
        <p:spPr>
          <a:xfrm>
            <a:off x="950976" y="3154680"/>
            <a:ext cx="4910328" cy="237744"/>
          </a:xfrm>
          <a:prstGeom prst="rect">
            <a:avLst/>
          </a:prstGeom>
          <a:noFill/>
        </p:spPr>
        <p:txBody>
          <a:bodyPr wrap="square">
            <a:spAutoFit/>
          </a:bodyPr>
          <a:lstStyle/>
          <a:p>
            <a:pPr algn="ctr"/>
            <a:r>
              <a:rPr sz="1050" b="0">
                <a:solidFill>
                  <a:srgbClr val="23384C"/>
                </a:solidFill>
                <a:latin typeface="Noto Sans SC" panose="020B0200000000000000" charset="-122"/>
                <a:ea typeface="Noto Sans SC" panose="020B0200000000000000" charset="-122"/>
                <a:cs typeface="Noto Sans SC" panose="020B0200000000000000" charset="-122"/>
              </a:rPr>
              <a:t>Project 投影操作截图 / 投影前后对比</a:t>
            </a:r>
            <a:endParaRPr sz="10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3" name="TextBox 22"/>
          <p:cNvSpPr txBox="1"/>
          <p:nvPr/>
        </p:nvSpPr>
        <p:spPr>
          <a:xfrm>
            <a:off x="950976" y="3374136"/>
            <a:ext cx="4910328" cy="237744"/>
          </a:xfrm>
          <a:prstGeom prst="rect">
            <a:avLst/>
          </a:prstGeom>
          <a:noFill/>
        </p:spPr>
        <p:txBody>
          <a:bodyPr wrap="square">
            <a:spAutoFit/>
          </a:bodyPr>
          <a:lstStyle/>
          <a:p>
            <a:pPr algn="ctr"/>
            <a:r>
              <a:rPr sz="950" b="0">
                <a:solidFill>
                  <a:srgbClr val="6B7B8A"/>
                </a:solidFill>
                <a:latin typeface="Noto Sans SC" panose="020B0200000000000000" charset="-122"/>
                <a:ea typeface="Noto Sans SC" panose="020B0200000000000000" charset="-122"/>
                <a:cs typeface="Noto Sans SC" panose="020B0200000000000000" charset="-122"/>
              </a:rPr>
              <a:t>标注：零件 A 的孔位被投进零件 B 的草图</a:t>
            </a:r>
            <a:endParaRPr sz="9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24" name="TextBox 23"/>
          <p:cNvSpPr txBox="1"/>
          <p:nvPr/>
        </p:nvSpPr>
        <p:spPr>
          <a:xfrm>
            <a:off x="777240" y="5129529"/>
            <a:ext cx="5212080" cy="256032"/>
          </a:xfrm>
          <a:prstGeom prst="rect">
            <a:avLst/>
          </a:prstGeom>
          <a:noFill/>
        </p:spPr>
        <p:txBody>
          <a:bodyPr wrap="square">
            <a:spAutoFit/>
          </a:bodyPr>
          <a:lstStyle/>
          <a:p>
            <a:pPr algn="l"/>
            <a:r>
              <a:rPr sz="1100" b="0">
                <a:solidFill>
                  <a:srgbClr val="C2571A"/>
                </a:solidFill>
                <a:latin typeface="Consolas" panose="020B0609020204030204"/>
                <a:ea typeface="Noto Sans SC" panose="020B0200000000000000" charset="-122"/>
                <a:cs typeface="Noto Sans SC" panose="020B0200000000000000" charset="-122"/>
              </a:rPr>
              <a:t>Project ▸ 投影真实孔位，A 改动 B 自动跟着变</a:t>
            </a:r>
            <a:endParaRPr sz="1100" b="0">
              <a:solidFill>
                <a:srgbClr val="C2571A"/>
              </a:solidFill>
              <a:latin typeface="Consolas" panose="020B0609020204030204"/>
              <a:ea typeface="Noto Sans SC" panose="020B0200000000000000" charset="-122"/>
              <a:cs typeface="Noto Sans SC" panose="020B0200000000000000" charset="-122"/>
            </a:endParaRPr>
          </a:p>
        </p:txBody>
      </p:sp>
      <p:sp>
        <p:nvSpPr>
          <p:cNvPr id="25" name="TextBox 24"/>
          <p:cNvSpPr txBox="1"/>
          <p:nvPr/>
        </p:nvSpPr>
        <p:spPr>
          <a:xfrm>
            <a:off x="822960" y="5477383"/>
            <a:ext cx="5212080" cy="274320"/>
          </a:xfrm>
          <a:prstGeom prst="rect">
            <a:avLst/>
          </a:prstGeom>
          <a:noFill/>
        </p:spPr>
        <p:txBody>
          <a:bodyPr wrap="square">
            <a:spAutoFit/>
          </a:bodyPr>
          <a:lstStyle/>
          <a:p>
            <a:pPr algn="l"/>
            <a:r>
              <a:rPr sz="1150" b="0">
                <a:solidFill>
                  <a:srgbClr val="6B7B8A"/>
                </a:solidFill>
                <a:latin typeface="Noto Sans SC" panose="020B0200000000000000" charset="-122"/>
                <a:ea typeface="Noto Sans SC" panose="020B0200000000000000" charset="-122"/>
                <a:cs typeface="Noto Sans SC" panose="020B0200000000000000" charset="-122"/>
              </a:rPr>
              <a:t>投影几何带链接：上游改了会更新；需要固化时右键 Break Link。</a:t>
            </a:r>
            <a:endParaRPr sz="11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26" name="Rectangle 25"/>
          <p:cNvSpPr/>
          <p:nvPr/>
        </p:nvSpPr>
        <p:spPr>
          <a:xfrm>
            <a:off x="6355080" y="1965960"/>
            <a:ext cx="5239385" cy="1470660"/>
          </a:xfrm>
          <a:prstGeom prst="rect">
            <a:avLst/>
          </a:prstGeom>
          <a:solidFill>
            <a:srgbClr val="FFFFFF"/>
          </a:solidFill>
          <a:ln w="12700">
            <a:solidFill>
              <a:srgbClr val="C9D3DC"/>
            </a:solidFill>
          </a:ln>
        </p:spPr>
        <p:txBody>
          <a:bodyPr rtlCol="0" anchor="ctr"/>
          <a:lstStyle/>
          <a:p>
            <a:pPr algn="ctr"/>
          </a:p>
        </p:txBody>
      </p:sp>
      <p:sp>
        <p:nvSpPr>
          <p:cNvPr id="27" name="Rectangle 26"/>
          <p:cNvSpPr/>
          <p:nvPr/>
        </p:nvSpPr>
        <p:spPr>
          <a:xfrm>
            <a:off x="6355080" y="1965960"/>
            <a:ext cx="5239512" cy="41148"/>
          </a:xfrm>
          <a:prstGeom prst="rect">
            <a:avLst/>
          </a:prstGeom>
          <a:solidFill>
            <a:srgbClr val="1D5FA8"/>
          </a:solidFill>
          <a:ln>
            <a:noFill/>
          </a:ln>
        </p:spPr>
        <p:txBody>
          <a:bodyPr rtlCol="0" anchor="ctr"/>
          <a:lstStyle/>
          <a:p>
            <a:pPr algn="ctr"/>
          </a:p>
        </p:txBody>
      </p:sp>
      <p:sp>
        <p:nvSpPr>
          <p:cNvPr id="29" name="TextBox 28"/>
          <p:cNvSpPr txBox="1"/>
          <p:nvPr/>
        </p:nvSpPr>
        <p:spPr>
          <a:xfrm>
            <a:off x="6519672" y="2182495"/>
            <a:ext cx="4910328" cy="852805"/>
          </a:xfrm>
          <a:prstGeom prst="rect">
            <a:avLst/>
          </a:prstGeom>
          <a:noFill/>
        </p:spPr>
        <p:txBody>
          <a:bodyPr wrap="square">
            <a:spAutoFit/>
          </a:bodyPr>
          <a:lstStyle/>
          <a:p>
            <a:r>
              <a:rPr sz="1650">
                <a:solidFill>
                  <a:srgbClr val="12304F"/>
                </a:solidFill>
                <a:latin typeface="Noto Sans SC" panose="020B0200000000000000" charset="-122"/>
                <a:ea typeface="Noto Sans SC" panose="020B0200000000000000" charset="-122"/>
                <a:cs typeface="Noto Sans SC" panose="020B0200000000000000" charset="-122"/>
              </a:rPr>
              <a:t>投影，是把同一设计里已有的几何 —— 其他草图的线、实体的边与面、别的零件的轮廓 —— 引用到当前草图平面，上游改了，下游跟着变。</a:t>
            </a:r>
            <a:endParaRPr sz="1650">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36" name="Rectangle 35"/>
          <p:cNvSpPr/>
          <p:nvPr/>
        </p:nvSpPr>
        <p:spPr>
          <a:xfrm>
            <a:off x="6358255" y="4316095"/>
            <a:ext cx="5239385" cy="1593850"/>
          </a:xfrm>
          <a:prstGeom prst="rect">
            <a:avLst/>
          </a:prstGeom>
          <a:solidFill>
            <a:srgbClr val="FFFFFF"/>
          </a:solidFill>
          <a:ln w="12700">
            <a:solidFill>
              <a:srgbClr val="C9D3DC"/>
            </a:solidFill>
          </a:ln>
        </p:spPr>
        <p:txBody>
          <a:bodyPr rtlCol="0" anchor="ctr"/>
          <a:lstStyle/>
          <a:p>
            <a:pPr algn="ctr"/>
          </a:p>
        </p:txBody>
      </p:sp>
      <p:sp>
        <p:nvSpPr>
          <p:cNvPr id="37" name="Rectangle 36"/>
          <p:cNvSpPr/>
          <p:nvPr/>
        </p:nvSpPr>
        <p:spPr>
          <a:xfrm>
            <a:off x="6355080" y="4274185"/>
            <a:ext cx="5239512" cy="41148"/>
          </a:xfrm>
          <a:prstGeom prst="rect">
            <a:avLst/>
          </a:prstGeom>
          <a:solidFill>
            <a:srgbClr val="C2571A"/>
          </a:solidFill>
          <a:ln>
            <a:noFill/>
          </a:ln>
        </p:spPr>
        <p:txBody>
          <a:bodyPr rtlCol="0" anchor="ctr"/>
          <a:lstStyle/>
          <a:p>
            <a:pPr algn="ctr"/>
          </a:p>
        </p:txBody>
      </p:sp>
      <p:sp>
        <p:nvSpPr>
          <p:cNvPr id="50" name="Rectangle 49"/>
          <p:cNvSpPr/>
          <p:nvPr/>
        </p:nvSpPr>
        <p:spPr>
          <a:xfrm>
            <a:off x="594360" y="6199632"/>
            <a:ext cx="11002975" cy="10972"/>
          </a:xfrm>
          <a:prstGeom prst="rect">
            <a:avLst/>
          </a:prstGeom>
          <a:solidFill>
            <a:srgbClr val="C9D3DC"/>
          </a:solidFill>
          <a:ln>
            <a:noFill/>
          </a:ln>
        </p:spPr>
        <p:txBody>
          <a:bodyPr rtlCol="0" anchor="ctr"/>
          <a:lstStyle/>
          <a:p>
            <a:pPr algn="ctr"/>
          </a:p>
        </p:txBody>
      </p:sp>
      <p:sp>
        <p:nvSpPr>
          <p:cNvPr id="51" name="TextBox 50"/>
          <p:cNvSpPr txBox="1"/>
          <p:nvPr/>
        </p:nvSpPr>
        <p:spPr>
          <a:xfrm>
            <a:off x="594360" y="6327648"/>
            <a:ext cx="8778240" cy="274320"/>
          </a:xfrm>
          <a:prstGeom prst="rect">
            <a:avLst/>
          </a:prstGeom>
          <a:noFill/>
        </p:spPr>
        <p:txBody>
          <a:bodyPr wrap="square">
            <a:spAutoFit/>
          </a:bodyPr>
          <a:lstStyle/>
          <a:p>
            <a:pPr algn="l"/>
            <a:r>
              <a:rPr sz="1100" b="0">
                <a:solidFill>
                  <a:srgbClr val="6B7B8A"/>
                </a:solidFill>
                <a:latin typeface="Noto Sans SC" panose="020B0200000000000000" charset="-122"/>
                <a:ea typeface="Noto Sans SC" panose="020B0200000000000000" charset="-122"/>
                <a:cs typeface="Noto Sans SC" panose="020B0200000000000000" charset="-122"/>
              </a:rPr>
              <a:t>可迁移：任何两个零件的连接（孔位、轴距、法兰）都用投影建立关系。</a:t>
            </a:r>
            <a:endParaRPr sz="1100" b="0">
              <a:solidFill>
                <a:srgbClr val="6B7B8A"/>
              </a:solidFill>
              <a:latin typeface="Noto Sans SC" panose="020B0200000000000000" charset="-122"/>
              <a:ea typeface="Noto Sans SC" panose="020B0200000000000000" charset="-122"/>
              <a:cs typeface="Noto Sans SC" panose="020B0200000000000000" charset="-122"/>
            </a:endParaRPr>
          </a:p>
        </p:txBody>
      </p:sp>
      <p:pic>
        <p:nvPicPr>
          <p:cNvPr id="52" name="图片 51"/>
          <p:cNvPicPr>
            <a:picLocks noChangeAspect="1"/>
          </p:cNvPicPr>
          <p:nvPr/>
        </p:nvPicPr>
        <p:blipFill>
          <a:blip r:embed="rId2"/>
          <a:srcRect t="9618" b="7845"/>
          <a:stretch>
            <a:fillRect/>
          </a:stretch>
        </p:blipFill>
        <p:spPr>
          <a:xfrm>
            <a:off x="816610" y="2389505"/>
            <a:ext cx="5207000" cy="2723515"/>
          </a:xfrm>
          <a:prstGeom prst="rect">
            <a:avLst/>
          </a:prstGeom>
        </p:spPr>
      </p:pic>
      <p:sp>
        <p:nvSpPr>
          <p:cNvPr id="53" name="TextBox 28"/>
          <p:cNvSpPr txBox="1"/>
          <p:nvPr/>
        </p:nvSpPr>
        <p:spPr>
          <a:xfrm>
            <a:off x="6455537" y="4518660"/>
            <a:ext cx="4910328" cy="852805"/>
          </a:xfrm>
          <a:prstGeom prst="rect">
            <a:avLst/>
          </a:prstGeom>
          <a:noFill/>
        </p:spPr>
        <p:txBody>
          <a:bodyPr wrap="square">
            <a:spAutoFit/>
          </a:bodyPr>
          <a:lstStyle/>
          <a:p>
            <a:r>
              <a:rPr lang="zh-CN" sz="1650">
                <a:solidFill>
                  <a:srgbClr val="12304F"/>
                </a:solidFill>
                <a:latin typeface="Noto Sans SC" panose="020B0200000000000000" charset="-122"/>
                <a:ea typeface="Noto Sans SC" panose="020B0200000000000000" charset="-122"/>
                <a:cs typeface="Noto Sans SC" panose="020B0200000000000000" charset="-122"/>
              </a:rPr>
              <a:t>需要零件间存在某种关系</a:t>
            </a:r>
            <a:r>
              <a:rPr lang="zh-CN" altLang="en-US" sz="1650">
                <a:solidFill>
                  <a:srgbClr val="12304F"/>
                </a:solidFill>
                <a:latin typeface="Noto Sans SC" panose="020B0200000000000000" charset="-122"/>
                <a:ea typeface="Noto Sans SC" panose="020B0200000000000000" charset="-122"/>
                <a:cs typeface="Noto Sans SC" panose="020B0200000000000000" charset="-122"/>
              </a:rPr>
              <a:t>用于装配等</a:t>
            </a:r>
            <a:endParaRPr lang="zh-CN" altLang="en-US" sz="1650">
              <a:solidFill>
                <a:srgbClr val="12304F"/>
              </a:solidFill>
              <a:latin typeface="Noto Sans SC" panose="020B0200000000000000" charset="-122"/>
              <a:ea typeface="Noto Sans SC" panose="020B0200000000000000" charset="-122"/>
              <a:cs typeface="Noto Sans SC" panose="020B0200000000000000" charset="-122"/>
            </a:endParaRPr>
          </a:p>
          <a:p>
            <a:endParaRPr lang="zh-CN" altLang="en-US" sz="1650">
              <a:solidFill>
                <a:srgbClr val="12304F"/>
              </a:solidFill>
              <a:latin typeface="Noto Sans SC" panose="020B0200000000000000" charset="-122"/>
              <a:ea typeface="Noto Sans SC" panose="020B0200000000000000" charset="-122"/>
              <a:cs typeface="Noto Sans SC" panose="020B0200000000000000" charset="-122"/>
            </a:endParaRPr>
          </a:p>
          <a:p>
            <a:r>
              <a:rPr lang="zh-CN" sz="1650">
                <a:solidFill>
                  <a:srgbClr val="12304F"/>
                </a:solidFill>
                <a:latin typeface="Noto Sans SC" panose="020B0200000000000000" charset="-122"/>
                <a:ea typeface="Noto Sans SC" panose="020B0200000000000000" charset="-122"/>
                <a:cs typeface="Noto Sans SC" panose="020B0200000000000000" charset="-122"/>
              </a:rPr>
              <a:t>将手抄参数与位置转化为使用投影工具</a:t>
            </a:r>
            <a:endParaRPr lang="zh-CN" sz="1650">
              <a:solidFill>
                <a:srgbClr val="12304F"/>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pic>
        <p:nvPicPr>
          <p:cNvPr id="2" name="Picture 1" descr="447916673a97bd1f0e53b186d485eed5.png"/>
          <p:cNvPicPr>
            <a:picLocks noChangeAspect="1"/>
          </p:cNvPicPr>
          <p:nvPr/>
        </p:nvPicPr>
        <p:blipFill>
          <a:blip r:embed="rId1"/>
          <a:stretch>
            <a:fillRect/>
          </a:stretch>
        </p:blipFill>
        <p:spPr>
          <a:xfrm>
            <a:off x="0" y="0"/>
            <a:ext cx="12191695" cy="6858000"/>
          </a:xfrm>
          <a:prstGeom prst="rect">
            <a:avLst/>
          </a:prstGeom>
        </p:spPr>
      </p:pic>
      <p:sp>
        <p:nvSpPr>
          <p:cNvPr id="3" name="Rectangle 2"/>
          <p:cNvSpPr/>
          <p:nvPr/>
        </p:nvSpPr>
        <p:spPr>
          <a:xfrm>
            <a:off x="0" y="0"/>
            <a:ext cx="12191695" cy="68580"/>
          </a:xfrm>
          <a:prstGeom prst="rect">
            <a:avLst/>
          </a:prstGeom>
          <a:solidFill>
            <a:srgbClr val="0E7C74"/>
          </a:solidFill>
          <a:ln>
            <a:noFill/>
          </a:ln>
        </p:spPr>
        <p:txBody>
          <a:bodyPr rtlCol="0" anchor="ctr"/>
          <a:lstStyle/>
          <a:p>
            <a:pPr algn="ctr"/>
          </a:p>
        </p:txBody>
      </p:sp>
      <p:sp>
        <p:nvSpPr>
          <p:cNvPr id="4" name="TextBox 3"/>
          <p:cNvSpPr txBox="1"/>
          <p:nvPr/>
        </p:nvSpPr>
        <p:spPr>
          <a:xfrm>
            <a:off x="448056" y="1115568"/>
            <a:ext cx="4626864" cy="3118104"/>
          </a:xfrm>
          <a:prstGeom prst="rect">
            <a:avLst/>
          </a:prstGeom>
          <a:noFill/>
        </p:spPr>
        <p:txBody>
          <a:bodyPr wrap="square">
            <a:spAutoFit/>
          </a:bodyPr>
          <a:lstStyle/>
          <a:p>
            <a:pPr algn="l"/>
            <a:r>
              <a:rPr sz="17000" b="1">
                <a:solidFill>
                  <a:srgbClr val="0E7C74"/>
                </a:solidFill>
              </a:rPr>
              <a:t>02</a:t>
            </a:r>
            <a:endParaRPr sz="17000" b="1">
              <a:solidFill>
                <a:srgbClr val="0E7C74"/>
              </a:solidFill>
            </a:endParaRPr>
          </a:p>
        </p:txBody>
      </p:sp>
      <p:sp>
        <p:nvSpPr>
          <p:cNvPr id="5" name="TextBox 4"/>
          <p:cNvSpPr txBox="1"/>
          <p:nvPr/>
        </p:nvSpPr>
        <p:spPr>
          <a:xfrm>
            <a:off x="475488" y="1143000"/>
            <a:ext cx="4572000" cy="3063240"/>
          </a:xfrm>
          <a:prstGeom prst="rect">
            <a:avLst/>
          </a:prstGeom>
          <a:noFill/>
        </p:spPr>
        <p:txBody>
          <a:bodyPr wrap="square">
            <a:spAutoFit/>
          </a:bodyPr>
          <a:lstStyle/>
          <a:p>
            <a:pPr algn="l"/>
            <a:r>
              <a:rPr sz="17000" b="1">
                <a:solidFill>
                  <a:srgbClr val="FFFFFF"/>
                </a:solidFill>
              </a:rPr>
              <a:t>02</a:t>
            </a:r>
            <a:endParaRPr sz="17000" b="1">
              <a:solidFill>
                <a:srgbClr val="FFFFFF"/>
              </a:solidFill>
            </a:endParaRPr>
          </a:p>
        </p:txBody>
      </p:sp>
      <p:sp>
        <p:nvSpPr>
          <p:cNvPr id="6" name="TextBox 5"/>
          <p:cNvSpPr txBox="1"/>
          <p:nvPr/>
        </p:nvSpPr>
        <p:spPr>
          <a:xfrm>
            <a:off x="713232" y="3913632"/>
            <a:ext cx="4023360" cy="768350"/>
          </a:xfrm>
          <a:prstGeom prst="rect">
            <a:avLst/>
          </a:prstGeom>
          <a:noFill/>
        </p:spPr>
        <p:txBody>
          <a:bodyPr wrap="square">
            <a:spAutoFit/>
          </a:bodyPr>
          <a:lstStyle/>
          <a:p>
            <a:pPr algn="l"/>
            <a:r>
              <a:rPr sz="4400" b="1">
                <a:solidFill>
                  <a:srgbClr val="12304F"/>
                </a:solidFill>
                <a:latin typeface="Noto Sans SC" panose="020B0200000000000000" charset="-122"/>
                <a:ea typeface="Noto Sans SC" panose="020B0200000000000000" charset="-122"/>
                <a:cs typeface="Noto Sans SC" panose="020B0200000000000000" charset="-122"/>
              </a:rPr>
              <a:t>设计</a:t>
            </a:r>
            <a:r>
              <a:rPr lang="zh-CN" sz="4400" b="1">
                <a:solidFill>
                  <a:srgbClr val="12304F"/>
                </a:solidFill>
                <a:latin typeface="Noto Sans SC" panose="020B0200000000000000" charset="-122"/>
                <a:ea typeface="Noto Sans SC" panose="020B0200000000000000" charset="-122"/>
                <a:cs typeface="Noto Sans SC" panose="020B0200000000000000" charset="-122"/>
              </a:rPr>
              <a:t>思维</a:t>
            </a:r>
            <a:endParaRPr lang="zh-CN" sz="440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7" name="TextBox 6"/>
          <p:cNvSpPr txBox="1"/>
          <p:nvPr/>
        </p:nvSpPr>
        <p:spPr>
          <a:xfrm>
            <a:off x="749808" y="4626864"/>
            <a:ext cx="4206240" cy="256032"/>
          </a:xfrm>
          <a:prstGeom prst="rect">
            <a:avLst/>
          </a:prstGeom>
          <a:noFill/>
        </p:spPr>
        <p:txBody>
          <a:bodyPr wrap="square">
            <a:spAutoFit/>
          </a:bodyPr>
          <a:lstStyle/>
          <a:p>
            <a:pPr algn="l"/>
            <a:r>
              <a:rPr sz="1300" b="0">
                <a:solidFill>
                  <a:srgbClr val="6B7B8A"/>
                </a:solidFill>
                <a:latin typeface="Consolas" panose="020B0609020204030204"/>
                <a:ea typeface="Noto Sans SC" panose="020B0200000000000000" charset="-122"/>
                <a:cs typeface="Noto Sans SC" panose="020B0200000000000000" charset="-122"/>
              </a:rPr>
              <a:t>STRUCTURAL DESIGN　MODULE 02</a:t>
            </a:r>
            <a:endParaRPr sz="1300" b="0">
              <a:solidFill>
                <a:srgbClr val="6B7B8A"/>
              </a:solidFill>
              <a:latin typeface="Consolas" panose="020B0609020204030204"/>
              <a:ea typeface="Noto Sans SC" panose="020B0200000000000000" charset="-122"/>
              <a:cs typeface="Noto Sans SC" panose="020B0200000000000000" charset="-122"/>
            </a:endParaRPr>
          </a:p>
        </p:txBody>
      </p:sp>
      <p:sp>
        <p:nvSpPr>
          <p:cNvPr id="8" name="Rectangle 7"/>
          <p:cNvSpPr/>
          <p:nvPr/>
        </p:nvSpPr>
        <p:spPr>
          <a:xfrm>
            <a:off x="749808" y="4956048"/>
            <a:ext cx="1005840" cy="41148"/>
          </a:xfrm>
          <a:prstGeom prst="rect">
            <a:avLst/>
          </a:prstGeom>
          <a:solidFill>
            <a:srgbClr val="0E7C74"/>
          </a:solidFill>
          <a:ln>
            <a:noFill/>
          </a:ln>
        </p:spPr>
        <p:txBody>
          <a:bodyPr rtlCol="0" anchor="ctr"/>
          <a:lstStyle/>
          <a:p>
            <a:pPr algn="ctr"/>
          </a:p>
        </p:txBody>
      </p:sp>
      <p:sp>
        <p:nvSpPr>
          <p:cNvPr id="10" name="Rectangle 9"/>
          <p:cNvSpPr/>
          <p:nvPr/>
        </p:nvSpPr>
        <p:spPr>
          <a:xfrm>
            <a:off x="749808" y="5431536"/>
            <a:ext cx="50292" cy="256032"/>
          </a:xfrm>
          <a:prstGeom prst="rect">
            <a:avLst/>
          </a:prstGeom>
          <a:solidFill>
            <a:srgbClr val="0E7C74"/>
          </a:solidFill>
          <a:ln>
            <a:noFill/>
          </a:ln>
        </p:spPr>
        <p:txBody>
          <a:bodyPr rtlCol="0" anchor="ctr"/>
          <a:lstStyle/>
          <a:p>
            <a:pPr algn="ctr"/>
          </a:p>
        </p:txBody>
      </p:sp>
      <p:sp>
        <p:nvSpPr>
          <p:cNvPr id="11" name="TextBox 10"/>
          <p:cNvSpPr txBox="1"/>
          <p:nvPr/>
        </p:nvSpPr>
        <p:spPr>
          <a:xfrm>
            <a:off x="914400" y="5431536"/>
            <a:ext cx="4023360" cy="256032"/>
          </a:xfrm>
          <a:prstGeom prst="rect">
            <a:avLst/>
          </a:prstGeom>
          <a:noFill/>
        </p:spPr>
        <p:txBody>
          <a:bodyPr wrap="square">
            <a:spAutoFit/>
          </a:bodyPr>
          <a:lstStyle/>
          <a:p>
            <a:pPr algn="l"/>
            <a:r>
              <a:rPr sz="1200" b="1">
                <a:solidFill>
                  <a:srgbClr val="0E7C74"/>
                </a:solidFill>
                <a:latin typeface="Noto Sans SC" panose="020B0200000000000000" charset="-122"/>
                <a:ea typeface="Noto Sans SC" panose="020B0200000000000000" charset="-122"/>
                <a:cs typeface="Noto Sans SC" panose="020B0200000000000000" charset="-122"/>
              </a:rPr>
              <a:t>案例：底盘 / 上盖</a:t>
            </a:r>
            <a:endParaRPr sz="1200" b="1">
              <a:solidFill>
                <a:srgbClr val="0E7C74"/>
              </a:solidFill>
              <a:latin typeface="Noto Sans SC" panose="020B0200000000000000" charset="-122"/>
              <a:ea typeface="Noto Sans SC" panose="020B0200000000000000" charset="-122"/>
              <a:cs typeface="Noto Sans SC" panose="020B0200000000000000" charset="-122"/>
            </a:endParaRPr>
          </a:p>
        </p:txBody>
      </p:sp>
      <p:sp>
        <p:nvSpPr>
          <p:cNvPr id="12" name="Rectangle 11"/>
          <p:cNvSpPr/>
          <p:nvPr/>
        </p:nvSpPr>
        <p:spPr>
          <a:xfrm>
            <a:off x="5870448" y="1298448"/>
            <a:ext cx="10972" cy="4480560"/>
          </a:xfrm>
          <a:prstGeom prst="rect">
            <a:avLst/>
          </a:prstGeom>
          <a:solidFill>
            <a:srgbClr val="C9D3DC"/>
          </a:solidFill>
          <a:ln>
            <a:noFill/>
          </a:ln>
        </p:spPr>
        <p:txBody>
          <a:bodyPr rtlCol="0" anchor="ctr"/>
          <a:lstStyle/>
          <a:p>
            <a:pPr algn="ctr"/>
          </a:p>
        </p:txBody>
      </p:sp>
      <p:sp>
        <p:nvSpPr>
          <p:cNvPr id="13" name="Rounded Rectangle 12"/>
          <p:cNvSpPr/>
          <p:nvPr/>
        </p:nvSpPr>
        <p:spPr>
          <a:xfrm>
            <a:off x="6355080" y="1371600"/>
            <a:ext cx="5239512" cy="1335024"/>
          </a:xfrm>
          <a:prstGeom prst="roundRect">
            <a:avLst/>
          </a:prstGeom>
          <a:solidFill>
            <a:srgbClr val="FFFFFF"/>
          </a:solidFill>
          <a:ln w="12700">
            <a:solidFill>
              <a:srgbClr val="C9D3DC"/>
            </a:solidFill>
          </a:ln>
        </p:spPr>
        <p:txBody>
          <a:bodyPr rtlCol="0" anchor="ctr"/>
          <a:lstStyle/>
          <a:p>
            <a:pPr algn="ctr"/>
          </a:p>
        </p:txBody>
      </p:sp>
      <p:sp>
        <p:nvSpPr>
          <p:cNvPr id="14" name="Rectangle 13"/>
          <p:cNvSpPr/>
          <p:nvPr/>
        </p:nvSpPr>
        <p:spPr>
          <a:xfrm>
            <a:off x="6355080" y="1371600"/>
            <a:ext cx="50292" cy="1335024"/>
          </a:xfrm>
          <a:prstGeom prst="rect">
            <a:avLst/>
          </a:prstGeom>
          <a:solidFill>
            <a:srgbClr val="0E7C74"/>
          </a:solidFill>
          <a:ln>
            <a:noFill/>
          </a:ln>
        </p:spPr>
        <p:txBody>
          <a:bodyPr rtlCol="0" anchor="ctr"/>
          <a:lstStyle/>
          <a:p>
            <a:pPr algn="ctr"/>
          </a:p>
        </p:txBody>
      </p:sp>
      <p:sp>
        <p:nvSpPr>
          <p:cNvPr id="15" name="TextBox 14"/>
          <p:cNvSpPr txBox="1"/>
          <p:nvPr/>
        </p:nvSpPr>
        <p:spPr>
          <a:xfrm>
            <a:off x="6620256" y="1536192"/>
            <a:ext cx="4892040" cy="1160780"/>
          </a:xfrm>
          <a:prstGeom prst="rect">
            <a:avLst/>
          </a:prstGeom>
          <a:noFill/>
        </p:spPr>
        <p:txBody>
          <a:bodyPr wrap="square">
            <a:spAutoFit/>
          </a:bodyPr>
          <a:lstStyle/>
          <a:p>
            <a:pPr algn="l">
              <a:spcBef>
                <a:spcPts val="600"/>
              </a:spcBef>
              <a:spcAft>
                <a:spcPts val="600"/>
              </a:spcAft>
            </a:pPr>
            <a:r>
              <a:rPr lang="zh-CN" sz="1650" b="0">
                <a:solidFill>
                  <a:srgbClr val="12304F"/>
                </a:solidFill>
                <a:latin typeface="Noto Sans SC" panose="020B0200000000000000" charset="-122"/>
                <a:ea typeface="Noto Sans SC" panose="020B0200000000000000" charset="-122"/>
                <a:cs typeface="Noto Sans SC" panose="020B0200000000000000" charset="-122"/>
              </a:rPr>
              <a:t>什么零件需要做加强，什么零件需要轻量化</a:t>
            </a:r>
            <a:endParaRPr lang="zh-CN" sz="1650" b="0">
              <a:solidFill>
                <a:srgbClr val="12304F"/>
              </a:solidFill>
              <a:latin typeface="Noto Sans SC" panose="020B0200000000000000" charset="-122"/>
              <a:ea typeface="Noto Sans SC" panose="020B0200000000000000" charset="-122"/>
              <a:cs typeface="Noto Sans SC" panose="020B0200000000000000" charset="-122"/>
            </a:endParaRPr>
          </a:p>
          <a:p>
            <a:pPr algn="l">
              <a:spcBef>
                <a:spcPts val="600"/>
              </a:spcBef>
              <a:spcAft>
                <a:spcPts val="600"/>
              </a:spcAft>
            </a:pPr>
            <a:r>
              <a:rPr lang="zh-CN" sz="1650" b="0">
                <a:solidFill>
                  <a:srgbClr val="12304F"/>
                </a:solidFill>
                <a:latin typeface="Noto Sans SC" panose="020B0200000000000000" charset="-122"/>
                <a:ea typeface="Noto Sans SC" panose="020B0200000000000000" charset="-122"/>
                <a:cs typeface="Noto Sans SC" panose="020B0200000000000000" charset="-122"/>
              </a:rPr>
              <a:t>怎么做加强</a:t>
            </a:r>
            <a:r>
              <a:rPr lang="en-US" altLang="zh-CN" sz="1650" b="0">
                <a:solidFill>
                  <a:srgbClr val="12304F"/>
                </a:solidFill>
                <a:latin typeface="Noto Sans SC" panose="020B0200000000000000" charset="-122"/>
                <a:ea typeface="Noto Sans SC" panose="020B0200000000000000" charset="-122"/>
                <a:cs typeface="Noto Sans SC" panose="020B0200000000000000" charset="-122"/>
              </a:rPr>
              <a:t>/</a:t>
            </a:r>
            <a:r>
              <a:rPr lang="zh-CN" altLang="en-US" sz="1650" b="0">
                <a:solidFill>
                  <a:srgbClr val="12304F"/>
                </a:solidFill>
                <a:latin typeface="Noto Sans SC" panose="020B0200000000000000" charset="-122"/>
                <a:ea typeface="Noto Sans SC" panose="020B0200000000000000" charset="-122"/>
                <a:cs typeface="Noto Sans SC" panose="020B0200000000000000" charset="-122"/>
              </a:rPr>
              <a:t>轻量</a:t>
            </a:r>
            <a:r>
              <a:rPr lang="zh-CN" sz="1650" b="0">
                <a:solidFill>
                  <a:srgbClr val="12304F"/>
                </a:solidFill>
                <a:latin typeface="Noto Sans SC" panose="020B0200000000000000" charset="-122"/>
                <a:ea typeface="Noto Sans SC" panose="020B0200000000000000" charset="-122"/>
                <a:cs typeface="Noto Sans SC" panose="020B0200000000000000" charset="-122"/>
              </a:rPr>
              <a:t>设计</a:t>
            </a:r>
            <a:endParaRPr lang="zh-CN" sz="1650" b="0">
              <a:solidFill>
                <a:srgbClr val="12304F"/>
              </a:solidFill>
              <a:latin typeface="Noto Sans SC" panose="020B0200000000000000" charset="-122"/>
              <a:ea typeface="Noto Sans SC" panose="020B0200000000000000" charset="-122"/>
              <a:cs typeface="Noto Sans SC" panose="020B0200000000000000" charset="-122"/>
            </a:endParaRPr>
          </a:p>
          <a:p>
            <a:pPr algn="l">
              <a:spcBef>
                <a:spcPts val="600"/>
              </a:spcBef>
              <a:spcAft>
                <a:spcPts val="600"/>
              </a:spcAft>
            </a:pPr>
            <a:r>
              <a:rPr lang="zh-CN" sz="1650" b="0">
                <a:solidFill>
                  <a:srgbClr val="12304F"/>
                </a:solidFill>
                <a:latin typeface="Noto Sans SC" panose="020B0200000000000000" charset="-122"/>
                <a:ea typeface="Noto Sans SC" panose="020B0200000000000000" charset="-122"/>
                <a:cs typeface="Noto Sans SC" panose="020B0200000000000000" charset="-122"/>
              </a:rPr>
              <a:t>如何设计零件公差</a:t>
            </a:r>
            <a:endParaRPr lang="zh-CN" sz="1650" b="0">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16" name="Rounded Rectangle 15"/>
          <p:cNvSpPr/>
          <p:nvPr/>
        </p:nvSpPr>
        <p:spPr>
          <a:xfrm>
            <a:off x="6355080" y="2944368"/>
            <a:ext cx="1655064" cy="530352"/>
          </a:xfrm>
          <a:prstGeom prst="roundRect">
            <a:avLst/>
          </a:prstGeom>
          <a:solidFill>
            <a:srgbClr val="FFFFFF"/>
          </a:solidFill>
          <a:ln w="12700">
            <a:solidFill>
              <a:srgbClr val="C9D3DC"/>
            </a:solidFill>
          </a:ln>
        </p:spPr>
        <p:txBody>
          <a:bodyPr rtlCol="0" anchor="ctr"/>
          <a:lstStyle/>
          <a:p>
            <a:pPr algn="ctr"/>
          </a:p>
        </p:txBody>
      </p:sp>
      <p:sp>
        <p:nvSpPr>
          <p:cNvPr id="17" name="TextBox 16"/>
          <p:cNvSpPr txBox="1"/>
          <p:nvPr/>
        </p:nvSpPr>
        <p:spPr>
          <a:xfrm>
            <a:off x="6409944" y="2944368"/>
            <a:ext cx="1545336" cy="530352"/>
          </a:xfrm>
          <a:prstGeom prst="rect">
            <a:avLst/>
          </a:prstGeom>
          <a:noFill/>
        </p:spPr>
        <p:txBody>
          <a:bodyPr wrap="square" anchor="ctr">
            <a:spAutoFit/>
          </a:bodyPr>
          <a:lstStyle/>
          <a:p>
            <a:pPr algn="ctr"/>
            <a:r>
              <a:rPr sz="1250" b="0">
                <a:solidFill>
                  <a:srgbClr val="23384C"/>
                </a:solidFill>
                <a:latin typeface="Noto Sans SC" panose="020B0200000000000000" charset="-122"/>
                <a:ea typeface="Noto Sans SC" panose="020B0200000000000000" charset="-122"/>
                <a:cs typeface="Noto Sans SC" panose="020B0200000000000000" charset="-122"/>
              </a:rPr>
              <a:t>受力路径</a:t>
            </a:r>
            <a:endParaRPr sz="12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18" name="Rounded Rectangle 17"/>
          <p:cNvSpPr/>
          <p:nvPr/>
        </p:nvSpPr>
        <p:spPr>
          <a:xfrm>
            <a:off x="8147304" y="2944368"/>
            <a:ext cx="1655064" cy="530352"/>
          </a:xfrm>
          <a:prstGeom prst="roundRect">
            <a:avLst/>
          </a:prstGeom>
          <a:solidFill>
            <a:srgbClr val="FFFFFF"/>
          </a:solidFill>
          <a:ln w="12700">
            <a:solidFill>
              <a:srgbClr val="C9D3DC"/>
            </a:solidFill>
          </a:ln>
        </p:spPr>
        <p:txBody>
          <a:bodyPr rtlCol="0" anchor="ctr"/>
          <a:lstStyle/>
          <a:p>
            <a:pPr algn="ctr"/>
          </a:p>
        </p:txBody>
      </p:sp>
      <p:sp>
        <p:nvSpPr>
          <p:cNvPr id="19" name="TextBox 18"/>
          <p:cNvSpPr txBox="1"/>
          <p:nvPr/>
        </p:nvSpPr>
        <p:spPr>
          <a:xfrm>
            <a:off x="8202168" y="2944368"/>
            <a:ext cx="1545336" cy="530352"/>
          </a:xfrm>
          <a:prstGeom prst="rect">
            <a:avLst/>
          </a:prstGeom>
          <a:noFill/>
        </p:spPr>
        <p:txBody>
          <a:bodyPr wrap="square" anchor="ctr">
            <a:spAutoFit/>
          </a:bodyPr>
          <a:lstStyle/>
          <a:p>
            <a:pPr algn="ctr"/>
            <a:r>
              <a:rPr sz="1250" b="0">
                <a:solidFill>
                  <a:srgbClr val="23384C"/>
                </a:solidFill>
                <a:latin typeface="Noto Sans SC" panose="020B0200000000000000" charset="-122"/>
                <a:ea typeface="Noto Sans SC" panose="020B0200000000000000" charset="-122"/>
                <a:cs typeface="Noto Sans SC" panose="020B0200000000000000" charset="-122"/>
              </a:rPr>
              <a:t>布局方法</a:t>
            </a:r>
            <a:endParaRPr sz="12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0" name="Rounded Rectangle 19"/>
          <p:cNvSpPr/>
          <p:nvPr/>
        </p:nvSpPr>
        <p:spPr>
          <a:xfrm>
            <a:off x="9939528" y="2944368"/>
            <a:ext cx="1655064" cy="530352"/>
          </a:xfrm>
          <a:prstGeom prst="roundRect">
            <a:avLst/>
          </a:prstGeom>
          <a:solidFill>
            <a:srgbClr val="FFFFFF"/>
          </a:solidFill>
          <a:ln w="12700">
            <a:solidFill>
              <a:srgbClr val="C9D3DC"/>
            </a:solidFill>
          </a:ln>
        </p:spPr>
        <p:txBody>
          <a:bodyPr rtlCol="0" anchor="ctr"/>
          <a:lstStyle/>
          <a:p>
            <a:pPr algn="ctr"/>
          </a:p>
        </p:txBody>
      </p:sp>
      <p:sp>
        <p:nvSpPr>
          <p:cNvPr id="21" name="TextBox 20"/>
          <p:cNvSpPr txBox="1"/>
          <p:nvPr/>
        </p:nvSpPr>
        <p:spPr>
          <a:xfrm>
            <a:off x="9994392" y="2944368"/>
            <a:ext cx="1545336" cy="530352"/>
          </a:xfrm>
          <a:prstGeom prst="rect">
            <a:avLst/>
          </a:prstGeom>
          <a:noFill/>
        </p:spPr>
        <p:txBody>
          <a:bodyPr wrap="square" anchor="ctr">
            <a:spAutoFit/>
          </a:bodyPr>
          <a:lstStyle/>
          <a:p>
            <a:pPr algn="ctr"/>
            <a:r>
              <a:rPr sz="1250" b="0">
                <a:solidFill>
                  <a:srgbClr val="23384C"/>
                </a:solidFill>
                <a:latin typeface="Noto Sans SC" panose="020B0200000000000000" charset="-122"/>
                <a:ea typeface="Noto Sans SC" panose="020B0200000000000000" charset="-122"/>
                <a:cs typeface="Noto Sans SC" panose="020B0200000000000000" charset="-122"/>
              </a:rPr>
              <a:t>公差与配合</a:t>
            </a:r>
            <a:endParaRPr sz="12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2" name="Rounded Rectangle 21"/>
          <p:cNvSpPr/>
          <p:nvPr/>
        </p:nvSpPr>
        <p:spPr>
          <a:xfrm>
            <a:off x="6355080" y="3621024"/>
            <a:ext cx="1655064" cy="530352"/>
          </a:xfrm>
          <a:prstGeom prst="roundRect">
            <a:avLst/>
          </a:prstGeom>
          <a:solidFill>
            <a:srgbClr val="FFFFFF"/>
          </a:solidFill>
          <a:ln w="12700">
            <a:solidFill>
              <a:srgbClr val="C9D3DC"/>
            </a:solidFill>
          </a:ln>
        </p:spPr>
        <p:txBody>
          <a:bodyPr rtlCol="0" anchor="ctr"/>
          <a:lstStyle/>
          <a:p>
            <a:pPr algn="ctr"/>
          </a:p>
        </p:txBody>
      </p:sp>
      <p:sp>
        <p:nvSpPr>
          <p:cNvPr id="23" name="TextBox 22"/>
          <p:cNvSpPr txBox="1"/>
          <p:nvPr/>
        </p:nvSpPr>
        <p:spPr>
          <a:xfrm>
            <a:off x="6409944" y="3621024"/>
            <a:ext cx="1545336" cy="530352"/>
          </a:xfrm>
          <a:prstGeom prst="rect">
            <a:avLst/>
          </a:prstGeom>
          <a:noFill/>
        </p:spPr>
        <p:txBody>
          <a:bodyPr wrap="square" anchor="ctr">
            <a:spAutoFit/>
          </a:bodyPr>
          <a:lstStyle/>
          <a:p>
            <a:pPr algn="ctr"/>
            <a:r>
              <a:rPr sz="1250" b="0">
                <a:solidFill>
                  <a:srgbClr val="23384C"/>
                </a:solidFill>
                <a:latin typeface="Noto Sans SC" panose="020B0200000000000000" charset="-122"/>
                <a:ea typeface="Noto Sans SC" panose="020B0200000000000000" charset="-122"/>
                <a:cs typeface="Noto Sans SC" panose="020B0200000000000000" charset="-122"/>
              </a:rPr>
              <a:t>可装配性</a:t>
            </a:r>
            <a:endParaRPr sz="12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4" name="Rounded Rectangle 23"/>
          <p:cNvSpPr/>
          <p:nvPr/>
        </p:nvSpPr>
        <p:spPr>
          <a:xfrm>
            <a:off x="8147304" y="3621024"/>
            <a:ext cx="1655064" cy="530352"/>
          </a:xfrm>
          <a:prstGeom prst="roundRect">
            <a:avLst/>
          </a:prstGeom>
          <a:solidFill>
            <a:srgbClr val="FFFFFF"/>
          </a:solidFill>
          <a:ln w="12700">
            <a:solidFill>
              <a:srgbClr val="C9D3DC"/>
            </a:solidFill>
          </a:ln>
        </p:spPr>
        <p:txBody>
          <a:bodyPr rtlCol="0" anchor="ctr"/>
          <a:lstStyle/>
          <a:p>
            <a:pPr algn="ctr"/>
          </a:p>
        </p:txBody>
      </p:sp>
      <p:sp>
        <p:nvSpPr>
          <p:cNvPr id="25" name="TextBox 24"/>
          <p:cNvSpPr txBox="1"/>
          <p:nvPr/>
        </p:nvSpPr>
        <p:spPr>
          <a:xfrm>
            <a:off x="8202168" y="3621024"/>
            <a:ext cx="1545336" cy="530352"/>
          </a:xfrm>
          <a:prstGeom prst="rect">
            <a:avLst/>
          </a:prstGeom>
          <a:noFill/>
        </p:spPr>
        <p:txBody>
          <a:bodyPr wrap="square" anchor="ctr">
            <a:spAutoFit/>
          </a:bodyPr>
          <a:lstStyle/>
          <a:p>
            <a:pPr algn="ctr"/>
            <a:r>
              <a:rPr sz="1250" b="0">
                <a:solidFill>
                  <a:srgbClr val="23384C"/>
                </a:solidFill>
                <a:latin typeface="Noto Sans SC" panose="020B0200000000000000" charset="-122"/>
                <a:ea typeface="Noto Sans SC" panose="020B0200000000000000" charset="-122"/>
                <a:cs typeface="Noto Sans SC" panose="020B0200000000000000" charset="-122"/>
              </a:rPr>
              <a:t>拆件方向</a:t>
            </a:r>
            <a:endParaRPr sz="12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6" name="Rounded Rectangle 25"/>
          <p:cNvSpPr/>
          <p:nvPr/>
        </p:nvSpPr>
        <p:spPr>
          <a:xfrm>
            <a:off x="9939528" y="3621024"/>
            <a:ext cx="1655064" cy="530352"/>
          </a:xfrm>
          <a:prstGeom prst="roundRect">
            <a:avLst/>
          </a:prstGeom>
          <a:solidFill>
            <a:srgbClr val="FFFFFF"/>
          </a:solidFill>
          <a:ln w="12700">
            <a:solidFill>
              <a:srgbClr val="C9D3DC"/>
            </a:solidFill>
          </a:ln>
        </p:spPr>
        <p:txBody>
          <a:bodyPr rtlCol="0" anchor="ctr"/>
          <a:lstStyle/>
          <a:p>
            <a:pPr algn="ctr"/>
          </a:p>
        </p:txBody>
      </p:sp>
      <p:sp>
        <p:nvSpPr>
          <p:cNvPr id="27" name="TextBox 26"/>
          <p:cNvSpPr txBox="1"/>
          <p:nvPr/>
        </p:nvSpPr>
        <p:spPr>
          <a:xfrm>
            <a:off x="9994392" y="3621024"/>
            <a:ext cx="1545336" cy="530352"/>
          </a:xfrm>
          <a:prstGeom prst="rect">
            <a:avLst/>
          </a:prstGeom>
          <a:noFill/>
        </p:spPr>
        <p:txBody>
          <a:bodyPr wrap="square" anchor="ctr">
            <a:spAutoFit/>
          </a:bodyPr>
          <a:lstStyle/>
          <a:p>
            <a:pPr algn="ctr"/>
            <a:r>
              <a:rPr sz="1250" b="0">
                <a:solidFill>
                  <a:srgbClr val="23384C"/>
                </a:solidFill>
                <a:latin typeface="Noto Sans SC" panose="020B0200000000000000" charset="-122"/>
                <a:ea typeface="Noto Sans SC" panose="020B0200000000000000" charset="-122"/>
                <a:cs typeface="Noto Sans SC" panose="020B0200000000000000" charset="-122"/>
              </a:rPr>
              <a:t>轻量化</a:t>
            </a:r>
            <a:endParaRPr sz="12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8" name="Rectangle 27"/>
          <p:cNvSpPr/>
          <p:nvPr/>
        </p:nvSpPr>
        <p:spPr>
          <a:xfrm>
            <a:off x="6355080" y="4370832"/>
            <a:ext cx="5239512" cy="932688"/>
          </a:xfrm>
          <a:prstGeom prst="rect">
            <a:avLst/>
          </a:prstGeom>
          <a:solidFill>
            <a:srgbClr val="FFFFFF"/>
          </a:solidFill>
          <a:ln w="9525">
            <a:solidFill>
              <a:srgbClr val="0E7C74"/>
            </a:solidFill>
            <a:prstDash val="dash"/>
          </a:ln>
        </p:spPr>
        <p:txBody>
          <a:bodyPr rtlCol="0" anchor="ctr"/>
          <a:lstStyle/>
          <a:p>
            <a:pPr algn="ctr"/>
          </a:p>
        </p:txBody>
      </p:sp>
      <p:sp>
        <p:nvSpPr>
          <p:cNvPr id="29" name="TextBox 28"/>
          <p:cNvSpPr txBox="1"/>
          <p:nvPr/>
        </p:nvSpPr>
        <p:spPr>
          <a:xfrm>
            <a:off x="6492240" y="4462272"/>
            <a:ext cx="4983480" cy="237744"/>
          </a:xfrm>
          <a:prstGeom prst="rect">
            <a:avLst/>
          </a:prstGeom>
          <a:noFill/>
        </p:spPr>
        <p:txBody>
          <a:bodyPr wrap="square">
            <a:spAutoFit/>
          </a:bodyPr>
          <a:lstStyle/>
          <a:p>
            <a:pPr algn="l"/>
            <a:r>
              <a:rPr sz="1100" b="0">
                <a:solidFill>
                  <a:srgbClr val="0E7C74"/>
                </a:solidFill>
                <a:latin typeface="Consolas" panose="020B0609020204030204"/>
                <a:ea typeface="Noto Sans SC" panose="020B0200000000000000" charset="-122"/>
                <a:cs typeface="Noto Sans SC" panose="020B0200000000000000" charset="-122"/>
              </a:rPr>
              <a:t>本模块产出（方法，不是零件）</a:t>
            </a:r>
            <a:endParaRPr sz="1100" b="0">
              <a:solidFill>
                <a:srgbClr val="0E7C74"/>
              </a:solidFill>
              <a:latin typeface="Consolas" panose="020B0609020204030204"/>
              <a:ea typeface="Noto Sans SC" panose="020B0200000000000000" charset="-122"/>
              <a:cs typeface="Noto Sans SC" panose="020B0200000000000000" charset="-122"/>
            </a:endParaRPr>
          </a:p>
        </p:txBody>
      </p:sp>
      <p:sp>
        <p:nvSpPr>
          <p:cNvPr id="30" name="TextBox 29"/>
          <p:cNvSpPr txBox="1"/>
          <p:nvPr/>
        </p:nvSpPr>
        <p:spPr>
          <a:xfrm>
            <a:off x="6492240" y="4700016"/>
            <a:ext cx="4983480" cy="566928"/>
          </a:xfrm>
          <a:prstGeom prst="rect">
            <a:avLst/>
          </a:prstGeom>
          <a:noFill/>
        </p:spPr>
        <p:txBody>
          <a:bodyPr wrap="square">
            <a:spAutoFit/>
          </a:bodyPr>
          <a:lstStyle/>
          <a:p>
            <a:pPr algn="l">
              <a:spcBef>
                <a:spcPts val="200"/>
              </a:spcBef>
              <a:spcAft>
                <a:spcPts val="200"/>
              </a:spcAft>
            </a:pPr>
            <a:r>
              <a:rPr sz="1200" b="0">
                <a:solidFill>
                  <a:srgbClr val="23384C"/>
                </a:solidFill>
                <a:latin typeface="Noto Sans SC" panose="020B0200000000000000" charset="-122"/>
                <a:ea typeface="Noto Sans SC" panose="020B0200000000000000" charset="-122"/>
                <a:cs typeface="Noto Sans SC" panose="020B0200000000000000" charset="-122"/>
              </a:rPr>
              <a:t>一套强度与轻量化的判断方法（含加强筋布置）</a:t>
            </a:r>
            <a:endParaRPr sz="1200" b="0">
              <a:solidFill>
                <a:srgbClr val="23384C"/>
              </a:solidFill>
              <a:latin typeface="Noto Sans SC" panose="020B0200000000000000" charset="-122"/>
              <a:ea typeface="Noto Sans SC" panose="020B0200000000000000" charset="-122"/>
              <a:cs typeface="Noto Sans SC" panose="020B0200000000000000" charset="-122"/>
            </a:endParaRPr>
          </a:p>
          <a:p>
            <a:pPr algn="l">
              <a:spcBef>
                <a:spcPts val="200"/>
              </a:spcBef>
              <a:spcAft>
                <a:spcPts val="200"/>
              </a:spcAft>
            </a:pPr>
            <a:r>
              <a:rPr sz="1200" b="0">
                <a:solidFill>
                  <a:srgbClr val="23384C"/>
                </a:solidFill>
                <a:latin typeface="Noto Sans SC" panose="020B0200000000000000" charset="-122"/>
                <a:ea typeface="Noto Sans SC" panose="020B0200000000000000" charset="-122"/>
                <a:cs typeface="Noto Sans SC" panose="020B0200000000000000" charset="-122"/>
              </a:rPr>
              <a:t>＋一套可装配性与拆件检查方法</a:t>
            </a:r>
            <a:endParaRPr sz="120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31" name="TextBox 30"/>
          <p:cNvSpPr txBox="1"/>
          <p:nvPr/>
        </p:nvSpPr>
        <p:spPr>
          <a:xfrm>
            <a:off x="6355080" y="5504688"/>
            <a:ext cx="5212080" cy="292608"/>
          </a:xfrm>
          <a:prstGeom prst="rect">
            <a:avLst/>
          </a:prstGeom>
          <a:noFill/>
        </p:spPr>
        <p:txBody>
          <a:bodyPr wrap="square">
            <a:spAutoFit/>
          </a:bodyPr>
          <a:lstStyle/>
          <a:p>
            <a:pPr algn="l"/>
            <a:r>
              <a:rPr sz="1250" b="0">
                <a:solidFill>
                  <a:srgbClr val="6B7B8A"/>
                </a:solidFill>
                <a:latin typeface="Noto Sans SC" panose="020B0200000000000000" charset="-122"/>
                <a:ea typeface="Noto Sans SC" panose="020B0200000000000000" charset="-122"/>
                <a:cs typeface="Noto Sans SC" panose="020B0200000000000000" charset="-122"/>
              </a:rPr>
              <a:t>换成任何承力结构，方法一样。</a:t>
            </a:r>
            <a:endParaRPr sz="12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32" name="TextBox 31"/>
          <p:cNvSpPr txBox="1"/>
          <p:nvPr/>
        </p:nvSpPr>
        <p:spPr>
          <a:xfrm>
            <a:off x="10515600" y="6400800"/>
            <a:ext cx="1371600" cy="274320"/>
          </a:xfrm>
          <a:prstGeom prst="rect">
            <a:avLst/>
          </a:prstGeom>
          <a:noFill/>
        </p:spPr>
        <p:txBody>
          <a:bodyPr wrap="square">
            <a:spAutoFit/>
          </a:bodyPr>
          <a:lstStyle/>
          <a:p>
            <a:pPr algn="r"/>
            <a:r>
              <a:rPr sz="1000" b="0">
                <a:solidFill>
                  <a:srgbClr val="6B7B8A"/>
                </a:solidFill>
                <a:latin typeface="Noto Sans SC" panose="020B0200000000000000" charset="-122"/>
                <a:ea typeface="Noto Sans SC" panose="020B0200000000000000" charset="-122"/>
                <a:cs typeface="Noto Sans SC" panose="020B0200000000000000" charset="-122"/>
              </a:rPr>
              <a:t>11 / 34</a:t>
            </a:r>
            <a:endParaRPr sz="100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33" name="Rectangle 32"/>
          <p:cNvSpPr/>
          <p:nvPr/>
        </p:nvSpPr>
        <p:spPr>
          <a:xfrm>
            <a:off x="594360" y="6199632"/>
            <a:ext cx="11002975" cy="10972"/>
          </a:xfrm>
          <a:prstGeom prst="rect">
            <a:avLst/>
          </a:prstGeom>
          <a:solidFill>
            <a:srgbClr val="C9D3DC"/>
          </a:solidFill>
          <a:ln>
            <a:noFill/>
          </a:ln>
        </p:spPr>
        <p:txBody>
          <a:bodyPr rtlCol="0" anchor="ctr"/>
          <a:lstStyle/>
          <a:p>
            <a:pPr algn="ctr"/>
          </a:p>
        </p:txBody>
      </p:sp>
      <p:sp>
        <p:nvSpPr>
          <p:cNvPr id="34" name="TextBox 33"/>
          <p:cNvSpPr txBox="1"/>
          <p:nvPr/>
        </p:nvSpPr>
        <p:spPr>
          <a:xfrm>
            <a:off x="594360" y="6327648"/>
            <a:ext cx="8778240" cy="274320"/>
          </a:xfrm>
          <a:prstGeom prst="rect">
            <a:avLst/>
          </a:prstGeom>
          <a:noFill/>
        </p:spPr>
        <p:txBody>
          <a:bodyPr wrap="square">
            <a:spAutoFit/>
          </a:bodyPr>
          <a:lstStyle/>
          <a:p>
            <a:pPr algn="l"/>
            <a:r>
              <a:rPr sz="1100" b="0">
                <a:solidFill>
                  <a:srgbClr val="6B7B8A"/>
                </a:solidFill>
                <a:latin typeface="Noto Sans SC" panose="020B0200000000000000" charset="-122"/>
                <a:ea typeface="Noto Sans SC" panose="020B0200000000000000" charset="-122"/>
                <a:cs typeface="Noto Sans SC" panose="020B0200000000000000" charset="-122"/>
              </a:rPr>
              <a:t>模块方法清单见上方胶囊；案例仅用于演示，方法可迁移到任何零件。</a:t>
            </a:r>
            <a:endParaRPr sz="1100" b="0">
              <a:solidFill>
                <a:srgbClr val="6B7B8A"/>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447916673a97bd1f0e53b186d485eed5.png"/>
          <p:cNvPicPr>
            <a:picLocks noChangeAspect="1"/>
          </p:cNvPicPr>
          <p:nvPr/>
        </p:nvPicPr>
        <p:blipFill>
          <a:blip r:embed="rId1"/>
          <a:stretch>
            <a:fillRect/>
          </a:stretch>
        </p:blipFill>
        <p:spPr>
          <a:xfrm>
            <a:off x="0" y="0"/>
            <a:ext cx="12191695" cy="6858000"/>
          </a:xfrm>
          <a:prstGeom prst="rect">
            <a:avLst/>
          </a:prstGeom>
        </p:spPr>
      </p:pic>
      <p:sp>
        <p:nvSpPr>
          <p:cNvPr id="6" name="TextBox 5"/>
          <p:cNvSpPr txBox="1"/>
          <p:nvPr/>
        </p:nvSpPr>
        <p:spPr>
          <a:xfrm>
            <a:off x="2295144" y="338328"/>
            <a:ext cx="3840480" cy="274320"/>
          </a:xfrm>
          <a:prstGeom prst="rect">
            <a:avLst/>
          </a:prstGeom>
          <a:noFill/>
        </p:spPr>
        <p:txBody>
          <a:bodyPr wrap="square">
            <a:spAutoFit/>
          </a:bodyPr>
          <a:lstStyle/>
          <a:p>
            <a:pPr algn="l"/>
            <a:r>
              <a:rPr sz="1150" b="0">
                <a:solidFill>
                  <a:srgbClr val="6B7B8A"/>
                </a:solidFill>
                <a:latin typeface="Consolas" panose="020B0609020204030204"/>
                <a:ea typeface="Noto Sans SC" panose="020B0200000000000000" charset="-122"/>
                <a:cs typeface="Noto Sans SC" panose="020B0200000000000000" charset="-122"/>
              </a:rPr>
              <a:t>方法 04 · 对称复用</a:t>
            </a:r>
            <a:endParaRPr sz="1150" b="0">
              <a:solidFill>
                <a:srgbClr val="6B7B8A"/>
              </a:solidFill>
              <a:latin typeface="Consolas" panose="020B0609020204030204"/>
              <a:ea typeface="Noto Sans SC" panose="020B0200000000000000" charset="-122"/>
              <a:cs typeface="Noto Sans SC" panose="020B0200000000000000" charset="-122"/>
            </a:endParaRPr>
          </a:p>
        </p:txBody>
      </p:sp>
      <p:sp>
        <p:nvSpPr>
          <p:cNvPr id="7" name="Rounded Rectangle 6"/>
          <p:cNvSpPr/>
          <p:nvPr/>
        </p:nvSpPr>
        <p:spPr>
          <a:xfrm>
            <a:off x="10262311" y="329184"/>
            <a:ext cx="1335024" cy="292608"/>
          </a:xfrm>
          <a:prstGeom prst="roundRect">
            <a:avLst/>
          </a:prstGeom>
          <a:solidFill>
            <a:srgbClr val="FFFFFF"/>
          </a:solidFill>
          <a:ln w="12700">
            <a:solidFill>
              <a:srgbClr val="C9D3DC"/>
            </a:solidFill>
          </a:ln>
        </p:spPr>
        <p:txBody>
          <a:bodyPr rtlCol="0" anchor="ctr"/>
          <a:lstStyle/>
          <a:p>
            <a:pPr algn="ctr"/>
          </a:p>
        </p:txBody>
      </p:sp>
      <p:sp>
        <p:nvSpPr>
          <p:cNvPr id="8" name="Rectangle 7"/>
          <p:cNvSpPr/>
          <p:nvPr/>
        </p:nvSpPr>
        <p:spPr>
          <a:xfrm>
            <a:off x="10381183" y="443484"/>
            <a:ext cx="68580" cy="68580"/>
          </a:xfrm>
          <a:prstGeom prst="rect">
            <a:avLst/>
          </a:prstGeom>
          <a:solidFill>
            <a:srgbClr val="C2571A"/>
          </a:solidFill>
          <a:ln>
            <a:noFill/>
          </a:ln>
        </p:spPr>
        <p:txBody>
          <a:bodyPr rtlCol="0" anchor="ctr"/>
          <a:lstStyle/>
          <a:p>
            <a:pPr algn="ctr"/>
          </a:p>
        </p:txBody>
      </p:sp>
      <p:sp>
        <p:nvSpPr>
          <p:cNvPr id="9" name="TextBox 8"/>
          <p:cNvSpPr txBox="1"/>
          <p:nvPr/>
        </p:nvSpPr>
        <p:spPr>
          <a:xfrm>
            <a:off x="10509199" y="329184"/>
            <a:ext cx="1042415" cy="292608"/>
          </a:xfrm>
          <a:prstGeom prst="rect">
            <a:avLst/>
          </a:prstGeom>
          <a:noFill/>
        </p:spPr>
        <p:txBody>
          <a:bodyPr wrap="square" anchor="ctr">
            <a:spAutoFit/>
          </a:bodyPr>
          <a:lstStyle/>
          <a:p>
            <a:pPr algn="l"/>
            <a:r>
              <a:rPr sz="1150" b="0">
                <a:solidFill>
                  <a:srgbClr val="23384C"/>
                </a:solidFill>
                <a:latin typeface="Consolas" panose="020B0609020204030204"/>
                <a:ea typeface="Noto Sans SC" panose="020B0200000000000000" charset="-122"/>
                <a:cs typeface="Noto Sans SC" panose="020B0200000000000000" charset="-122"/>
              </a:rPr>
              <a:t>Fusion 360</a:t>
            </a:r>
            <a:endParaRPr sz="1150" b="0">
              <a:solidFill>
                <a:srgbClr val="23384C"/>
              </a:solidFill>
              <a:latin typeface="Consolas" panose="020B0609020204030204"/>
              <a:ea typeface="Noto Sans SC" panose="020B0200000000000000" charset="-122"/>
              <a:cs typeface="Noto Sans SC" panose="020B0200000000000000" charset="-122"/>
            </a:endParaRPr>
          </a:p>
        </p:txBody>
      </p:sp>
      <p:sp>
        <p:nvSpPr>
          <p:cNvPr id="10" name="TextBox 9"/>
          <p:cNvSpPr txBox="1"/>
          <p:nvPr/>
        </p:nvSpPr>
        <p:spPr>
          <a:xfrm>
            <a:off x="594360" y="841248"/>
            <a:ext cx="10058400" cy="506730"/>
          </a:xfrm>
          <a:prstGeom prst="rect">
            <a:avLst/>
          </a:prstGeom>
          <a:noFill/>
        </p:spPr>
        <p:txBody>
          <a:bodyPr wrap="square">
            <a:spAutoFit/>
          </a:bodyPr>
          <a:lstStyle/>
          <a:p>
            <a:pPr algn="l"/>
            <a:r>
              <a:rPr lang="zh-CN" sz="2700" b="1">
                <a:solidFill>
                  <a:srgbClr val="12304F"/>
                </a:solidFill>
                <a:latin typeface="Noto Sans SC" panose="020B0200000000000000" charset="-122"/>
                <a:ea typeface="Noto Sans SC" panose="020B0200000000000000" charset="-122"/>
                <a:cs typeface="Noto Sans SC" panose="020B0200000000000000" charset="-122"/>
              </a:rPr>
              <a:t>加强筋与减重镂空</a:t>
            </a:r>
            <a:endParaRPr lang="zh-CN" sz="270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11" name="TextBox 10"/>
          <p:cNvSpPr txBox="1"/>
          <p:nvPr/>
        </p:nvSpPr>
        <p:spPr>
          <a:xfrm>
            <a:off x="594360" y="1344168"/>
            <a:ext cx="10607040" cy="274320"/>
          </a:xfrm>
          <a:prstGeom prst="rect">
            <a:avLst/>
          </a:prstGeom>
          <a:noFill/>
        </p:spPr>
        <p:txBody>
          <a:bodyPr wrap="square">
            <a:spAutoFit/>
          </a:bodyPr>
          <a:lstStyle/>
          <a:p>
            <a:pPr algn="l"/>
            <a:r>
              <a:rPr sz="1350" b="0">
                <a:solidFill>
                  <a:srgbClr val="6B7B8A"/>
                </a:solidFill>
                <a:latin typeface="Noto Sans SC" panose="020B0200000000000000" charset="-122"/>
                <a:ea typeface="Noto Sans SC" panose="020B0200000000000000" charset="-122"/>
                <a:cs typeface="Noto Sans SC" panose="020B0200000000000000" charset="-122"/>
              </a:rPr>
              <a:t>能对称就不重复画，第二遍永远是 bug 的来源</a:t>
            </a:r>
            <a:endParaRPr sz="13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12" name="Rectangle 11"/>
          <p:cNvSpPr/>
          <p:nvPr/>
        </p:nvSpPr>
        <p:spPr>
          <a:xfrm>
            <a:off x="594360" y="1700784"/>
            <a:ext cx="11002975" cy="12801"/>
          </a:xfrm>
          <a:prstGeom prst="rect">
            <a:avLst/>
          </a:prstGeom>
          <a:solidFill>
            <a:srgbClr val="C9D3DC"/>
          </a:solidFill>
          <a:ln>
            <a:noFill/>
          </a:ln>
        </p:spPr>
        <p:txBody>
          <a:bodyPr rtlCol="0" anchor="ctr"/>
          <a:lstStyle/>
          <a:p>
            <a:pPr algn="ctr"/>
          </a:p>
        </p:txBody>
      </p:sp>
      <p:sp>
        <p:nvSpPr>
          <p:cNvPr id="13" name="TextBox 12"/>
          <p:cNvSpPr txBox="1"/>
          <p:nvPr/>
        </p:nvSpPr>
        <p:spPr>
          <a:xfrm>
            <a:off x="10515600" y="6400800"/>
            <a:ext cx="1371600" cy="274320"/>
          </a:xfrm>
          <a:prstGeom prst="rect">
            <a:avLst/>
          </a:prstGeom>
          <a:noFill/>
        </p:spPr>
        <p:txBody>
          <a:bodyPr wrap="square">
            <a:spAutoFit/>
          </a:bodyPr>
          <a:lstStyle/>
          <a:p>
            <a:pPr algn="r"/>
            <a:r>
              <a:rPr sz="1000" b="0">
                <a:solidFill>
                  <a:srgbClr val="6B7B8A"/>
                </a:solidFill>
                <a:latin typeface="Noto Sans SC" panose="020B0200000000000000" charset="-122"/>
                <a:ea typeface="Noto Sans SC" panose="020B0200000000000000" charset="-122"/>
                <a:cs typeface="Noto Sans SC" panose="020B0200000000000000" charset="-122"/>
              </a:rPr>
              <a:t>8 / 34</a:t>
            </a:r>
            <a:endParaRPr sz="100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14" name="Rectangle 13"/>
          <p:cNvSpPr/>
          <p:nvPr/>
        </p:nvSpPr>
        <p:spPr>
          <a:xfrm>
            <a:off x="594360" y="2011680"/>
            <a:ext cx="5623560" cy="3467100"/>
          </a:xfrm>
          <a:prstGeom prst="rect">
            <a:avLst/>
          </a:prstGeom>
          <a:solidFill>
            <a:srgbClr val="FFFFFF"/>
          </a:solidFill>
          <a:ln w="12700">
            <a:solidFill>
              <a:srgbClr val="C9D3DC"/>
            </a:solidFill>
          </a:ln>
        </p:spPr>
        <p:txBody>
          <a:bodyPr rtlCol="0" anchor="ctr"/>
          <a:lstStyle/>
          <a:p>
            <a:pPr algn="ctr"/>
          </a:p>
        </p:txBody>
      </p:sp>
      <p:sp>
        <p:nvSpPr>
          <p:cNvPr id="15" name="TextBox 14"/>
          <p:cNvSpPr txBox="1"/>
          <p:nvPr/>
        </p:nvSpPr>
        <p:spPr>
          <a:xfrm>
            <a:off x="777240" y="2121408"/>
            <a:ext cx="3657600" cy="299085"/>
          </a:xfrm>
          <a:prstGeom prst="rect">
            <a:avLst/>
          </a:prstGeom>
          <a:noFill/>
        </p:spPr>
        <p:txBody>
          <a:bodyPr wrap="square">
            <a:spAutoFit/>
          </a:bodyPr>
          <a:lstStyle/>
          <a:p>
            <a:pPr algn="l"/>
            <a:r>
              <a:rPr lang="zh-CN" sz="1350" b="1">
                <a:solidFill>
                  <a:srgbClr val="12304F"/>
                </a:solidFill>
                <a:latin typeface="Noto Sans SC" panose="020B0200000000000000" charset="-122"/>
                <a:ea typeface="Noto Sans SC" panose="020B0200000000000000" charset="-122"/>
                <a:cs typeface="Noto Sans SC" panose="020B0200000000000000" charset="-122"/>
              </a:rPr>
              <a:t>加强筋设计</a:t>
            </a:r>
            <a:endParaRPr lang="zh-CN" sz="135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18" name="Rectangle 17"/>
          <p:cNvSpPr/>
          <p:nvPr/>
        </p:nvSpPr>
        <p:spPr>
          <a:xfrm>
            <a:off x="3131820" y="2889504"/>
            <a:ext cx="548640" cy="402336"/>
          </a:xfrm>
          <a:prstGeom prst="rect">
            <a:avLst/>
          </a:prstGeom>
          <a:solidFill>
            <a:srgbClr val="FFFFFF"/>
          </a:solidFill>
          <a:ln w="12700">
            <a:solidFill>
              <a:srgbClr val="9FB0BF"/>
            </a:solidFill>
          </a:ln>
        </p:spPr>
        <p:txBody>
          <a:bodyPr rtlCol="0" anchor="ctr"/>
          <a:lstStyle/>
          <a:p>
            <a:pPr algn="ctr"/>
          </a:p>
        </p:txBody>
      </p:sp>
      <p:sp>
        <p:nvSpPr>
          <p:cNvPr id="19" name="Isosceles Triangle 18"/>
          <p:cNvSpPr/>
          <p:nvPr/>
        </p:nvSpPr>
        <p:spPr>
          <a:xfrm>
            <a:off x="3223260" y="3054096"/>
            <a:ext cx="146304" cy="128016"/>
          </a:xfrm>
          <a:prstGeom prst="triangle">
            <a:avLst/>
          </a:prstGeom>
          <a:solidFill>
            <a:srgbClr val="9FB0BF"/>
          </a:solidFill>
          <a:ln>
            <a:noFill/>
          </a:ln>
        </p:spPr>
        <p:txBody>
          <a:bodyPr rtlCol="0" anchor="ctr"/>
          <a:lstStyle/>
          <a:p>
            <a:pPr algn="ctr"/>
          </a:p>
        </p:txBody>
      </p:sp>
      <p:sp>
        <p:nvSpPr>
          <p:cNvPr id="20" name="Isosceles Triangle 19"/>
          <p:cNvSpPr/>
          <p:nvPr/>
        </p:nvSpPr>
        <p:spPr>
          <a:xfrm>
            <a:off x="3387852" y="2999232"/>
            <a:ext cx="182880" cy="164592"/>
          </a:xfrm>
          <a:prstGeom prst="triangle">
            <a:avLst/>
          </a:prstGeom>
          <a:solidFill>
            <a:srgbClr val="9FB0BF"/>
          </a:solidFill>
          <a:ln>
            <a:noFill/>
          </a:ln>
        </p:spPr>
        <p:txBody>
          <a:bodyPr rtlCol="0" anchor="ctr"/>
          <a:lstStyle/>
          <a:p>
            <a:pPr algn="ctr"/>
          </a:p>
        </p:txBody>
      </p:sp>
      <p:sp>
        <p:nvSpPr>
          <p:cNvPr id="21" name="Oval 20"/>
          <p:cNvSpPr/>
          <p:nvPr/>
        </p:nvSpPr>
        <p:spPr>
          <a:xfrm>
            <a:off x="3515868" y="2962656"/>
            <a:ext cx="91440" cy="91440"/>
          </a:xfrm>
          <a:prstGeom prst="ellipse">
            <a:avLst/>
          </a:prstGeom>
          <a:solidFill>
            <a:srgbClr val="9FB0BF"/>
          </a:solidFill>
          <a:ln>
            <a:noFill/>
          </a:ln>
        </p:spPr>
        <p:txBody>
          <a:bodyPr rtlCol="0" anchor="ctr"/>
          <a:lstStyle/>
          <a:p>
            <a:pPr algn="ctr"/>
          </a:p>
        </p:txBody>
      </p:sp>
      <p:sp>
        <p:nvSpPr>
          <p:cNvPr id="22" name="TextBox 21"/>
          <p:cNvSpPr txBox="1"/>
          <p:nvPr/>
        </p:nvSpPr>
        <p:spPr>
          <a:xfrm>
            <a:off x="950976" y="3456432"/>
            <a:ext cx="4910328" cy="237744"/>
          </a:xfrm>
          <a:prstGeom prst="rect">
            <a:avLst/>
          </a:prstGeom>
          <a:noFill/>
        </p:spPr>
        <p:txBody>
          <a:bodyPr wrap="square">
            <a:spAutoFit/>
          </a:bodyPr>
          <a:lstStyle/>
          <a:p>
            <a:pPr algn="ctr"/>
            <a:r>
              <a:rPr sz="1050" b="0">
                <a:solidFill>
                  <a:srgbClr val="23384C"/>
                </a:solidFill>
                <a:latin typeface="Noto Sans SC" panose="020B0200000000000000" charset="-122"/>
                <a:ea typeface="Noto Sans SC" panose="020B0200000000000000" charset="-122"/>
                <a:cs typeface="Noto Sans SC" panose="020B0200000000000000" charset="-122"/>
              </a:rPr>
              <a:t>画一半 → 镜像结果 对比截图</a:t>
            </a:r>
            <a:endParaRPr sz="10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3" name="TextBox 22"/>
          <p:cNvSpPr txBox="1"/>
          <p:nvPr/>
        </p:nvSpPr>
        <p:spPr>
          <a:xfrm>
            <a:off x="950976" y="3675888"/>
            <a:ext cx="4910328" cy="237744"/>
          </a:xfrm>
          <a:prstGeom prst="rect">
            <a:avLst/>
          </a:prstGeom>
          <a:noFill/>
        </p:spPr>
        <p:txBody>
          <a:bodyPr wrap="square">
            <a:spAutoFit/>
          </a:bodyPr>
          <a:lstStyle/>
          <a:p>
            <a:pPr algn="ctr"/>
            <a:r>
              <a:rPr sz="950" b="0">
                <a:solidFill>
                  <a:srgbClr val="6B7B8A"/>
                </a:solidFill>
                <a:latin typeface="Noto Sans SC" panose="020B0200000000000000" charset="-122"/>
                <a:ea typeface="Noto Sans SC" panose="020B0200000000000000" charset="-122"/>
                <a:cs typeface="Noto Sans SC" panose="020B0200000000000000" charset="-122"/>
              </a:rPr>
              <a:t>左右立板 / 上下夹板最典型</a:t>
            </a:r>
            <a:endParaRPr sz="9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25" name="Rectangle 24"/>
          <p:cNvSpPr/>
          <p:nvPr/>
        </p:nvSpPr>
        <p:spPr>
          <a:xfrm>
            <a:off x="6355080" y="2011680"/>
            <a:ext cx="5239385" cy="3477895"/>
          </a:xfrm>
          <a:prstGeom prst="rect">
            <a:avLst/>
          </a:prstGeom>
          <a:solidFill>
            <a:srgbClr val="FFFFFF"/>
          </a:solidFill>
          <a:ln w="12700">
            <a:solidFill>
              <a:srgbClr val="C9D3DC"/>
            </a:solidFill>
          </a:ln>
        </p:spPr>
        <p:txBody>
          <a:bodyPr rtlCol="0" anchor="ctr"/>
          <a:lstStyle/>
          <a:p>
            <a:pPr algn="ctr"/>
          </a:p>
        </p:txBody>
      </p:sp>
      <p:sp>
        <p:nvSpPr>
          <p:cNvPr id="26" name="Rectangle 25"/>
          <p:cNvSpPr/>
          <p:nvPr/>
        </p:nvSpPr>
        <p:spPr>
          <a:xfrm>
            <a:off x="6355080" y="2011680"/>
            <a:ext cx="5239512" cy="41148"/>
          </a:xfrm>
          <a:prstGeom prst="rect">
            <a:avLst/>
          </a:prstGeom>
          <a:solidFill>
            <a:srgbClr val="C2571A"/>
          </a:solidFill>
          <a:ln>
            <a:noFill/>
          </a:ln>
        </p:spPr>
        <p:txBody>
          <a:bodyPr rtlCol="0" anchor="ctr"/>
          <a:lstStyle/>
          <a:p>
            <a:pPr algn="ctr"/>
          </a:p>
        </p:txBody>
      </p:sp>
      <p:sp>
        <p:nvSpPr>
          <p:cNvPr id="28" name="TextBox 27"/>
          <p:cNvSpPr txBox="1"/>
          <p:nvPr/>
        </p:nvSpPr>
        <p:spPr>
          <a:xfrm>
            <a:off x="6519672" y="2468880"/>
            <a:ext cx="4910328" cy="2039112"/>
          </a:xfrm>
          <a:prstGeom prst="rect">
            <a:avLst/>
          </a:prstGeom>
          <a:noFill/>
        </p:spPr>
        <p:txBody>
          <a:bodyPr wrap="square">
            <a:spAutoFit/>
          </a:bodyPr>
          <a:lstStyle/>
          <a:p/>
        </p:txBody>
      </p:sp>
      <p:sp>
        <p:nvSpPr>
          <p:cNvPr id="39" name="Rounded Rectangle 38"/>
          <p:cNvSpPr/>
          <p:nvPr/>
        </p:nvSpPr>
        <p:spPr>
          <a:xfrm>
            <a:off x="591185" y="5760720"/>
            <a:ext cx="11002975" cy="420624"/>
          </a:xfrm>
          <a:prstGeom prst="roundRect">
            <a:avLst/>
          </a:prstGeom>
          <a:solidFill>
            <a:srgbClr val="FBF0E4"/>
          </a:solidFill>
          <a:ln w="12700">
            <a:solidFill>
              <a:srgbClr val="C2571A"/>
            </a:solidFill>
          </a:ln>
        </p:spPr>
        <p:txBody>
          <a:bodyPr rtlCol="0" anchor="ctr"/>
          <a:lstStyle/>
          <a:p>
            <a:pPr algn="ctr"/>
          </a:p>
        </p:txBody>
      </p:sp>
      <p:sp>
        <p:nvSpPr>
          <p:cNvPr id="40" name="Rectangle 39"/>
          <p:cNvSpPr/>
          <p:nvPr/>
        </p:nvSpPr>
        <p:spPr>
          <a:xfrm>
            <a:off x="544195" y="5760720"/>
            <a:ext cx="50292" cy="420624"/>
          </a:xfrm>
          <a:prstGeom prst="rect">
            <a:avLst/>
          </a:prstGeom>
          <a:solidFill>
            <a:srgbClr val="C2571A"/>
          </a:solidFill>
          <a:ln>
            <a:noFill/>
          </a:ln>
        </p:spPr>
        <p:txBody>
          <a:bodyPr rtlCol="0" anchor="ctr"/>
          <a:lstStyle/>
          <a:p>
            <a:pPr algn="ctr"/>
          </a:p>
        </p:txBody>
      </p:sp>
      <p:sp>
        <p:nvSpPr>
          <p:cNvPr id="41" name="TextBox 40"/>
          <p:cNvSpPr txBox="1"/>
          <p:nvPr/>
        </p:nvSpPr>
        <p:spPr>
          <a:xfrm>
            <a:off x="594233" y="5825300"/>
            <a:ext cx="10600639" cy="291465"/>
          </a:xfrm>
          <a:prstGeom prst="rect">
            <a:avLst/>
          </a:prstGeom>
          <a:noFill/>
        </p:spPr>
        <p:txBody>
          <a:bodyPr wrap="square" anchor="ctr">
            <a:spAutoFit/>
          </a:bodyPr>
          <a:lstStyle/>
          <a:p>
            <a:pPr algn="l"/>
            <a:r>
              <a:rPr lang="zh-CN" sz="1300" b="1">
                <a:solidFill>
                  <a:srgbClr val="C2571A"/>
                </a:solidFill>
                <a:latin typeface="Noto Sans SC" panose="020B0200000000000000" charset="-122"/>
                <a:ea typeface="Noto Sans SC" panose="020B0200000000000000" charset="-122"/>
                <a:cs typeface="Noto Sans SC" panose="020B0200000000000000" charset="-122"/>
              </a:rPr>
              <a:t>合理使用镜像与阵列等工具减少绘图工作量</a:t>
            </a:r>
            <a:r>
              <a:rPr sz="1300" b="1">
                <a:solidFill>
                  <a:srgbClr val="C2571A"/>
                </a:solidFill>
                <a:latin typeface="Noto Sans SC" panose="020B0200000000000000" charset="-122"/>
                <a:ea typeface="Noto Sans SC" panose="020B0200000000000000" charset="-122"/>
                <a:cs typeface="Noto Sans SC" panose="020B0200000000000000" charset="-122"/>
              </a:rPr>
              <a:t>。</a:t>
            </a:r>
            <a:endParaRPr sz="1300" b="1">
              <a:solidFill>
                <a:srgbClr val="C2571A"/>
              </a:solidFill>
              <a:latin typeface="Noto Sans SC" panose="020B0200000000000000" charset="-122"/>
              <a:ea typeface="Noto Sans SC" panose="020B0200000000000000" charset="-122"/>
              <a:cs typeface="Noto Sans SC" panose="020B0200000000000000" charset="-122"/>
            </a:endParaRPr>
          </a:p>
        </p:txBody>
      </p:sp>
      <p:sp>
        <p:nvSpPr>
          <p:cNvPr id="42" name="Rectangle 41"/>
          <p:cNvSpPr/>
          <p:nvPr/>
        </p:nvSpPr>
        <p:spPr>
          <a:xfrm>
            <a:off x="594360" y="6199632"/>
            <a:ext cx="11002975" cy="10972"/>
          </a:xfrm>
          <a:prstGeom prst="rect">
            <a:avLst/>
          </a:prstGeom>
          <a:solidFill>
            <a:srgbClr val="C9D3DC"/>
          </a:solidFill>
          <a:ln>
            <a:noFill/>
          </a:ln>
        </p:spPr>
        <p:txBody>
          <a:bodyPr rtlCol="0" anchor="ctr"/>
          <a:lstStyle/>
          <a:p>
            <a:pPr algn="ctr"/>
          </a:p>
        </p:txBody>
      </p:sp>
      <p:sp>
        <p:nvSpPr>
          <p:cNvPr id="43" name="TextBox 42"/>
          <p:cNvSpPr txBox="1"/>
          <p:nvPr/>
        </p:nvSpPr>
        <p:spPr>
          <a:xfrm>
            <a:off x="594360" y="6327648"/>
            <a:ext cx="8778240" cy="274320"/>
          </a:xfrm>
          <a:prstGeom prst="rect">
            <a:avLst/>
          </a:prstGeom>
          <a:noFill/>
        </p:spPr>
        <p:txBody>
          <a:bodyPr wrap="square">
            <a:spAutoFit/>
          </a:bodyPr>
          <a:lstStyle/>
          <a:p>
            <a:pPr algn="l"/>
            <a:r>
              <a:rPr sz="1100" b="0">
                <a:solidFill>
                  <a:srgbClr val="6B7B8A"/>
                </a:solidFill>
                <a:latin typeface="Noto Sans SC" panose="020B0200000000000000" charset="-122"/>
                <a:ea typeface="Noto Sans SC" panose="020B0200000000000000" charset="-122"/>
                <a:cs typeface="Noto Sans SC" panose="020B0200000000000000" charset="-122"/>
              </a:rPr>
              <a:t>可迁移：左右件、上下件、阵列孔位 —— 先判断对称性，再决定画几遍。</a:t>
            </a:r>
            <a:endParaRPr sz="110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45" name="TextBox 14"/>
          <p:cNvSpPr txBox="1"/>
          <p:nvPr/>
        </p:nvSpPr>
        <p:spPr>
          <a:xfrm>
            <a:off x="6519545" y="2151888"/>
            <a:ext cx="3657600" cy="299085"/>
          </a:xfrm>
          <a:prstGeom prst="rect">
            <a:avLst/>
          </a:prstGeom>
          <a:noFill/>
        </p:spPr>
        <p:txBody>
          <a:bodyPr wrap="square">
            <a:spAutoFit/>
          </a:bodyPr>
          <a:lstStyle/>
          <a:p>
            <a:pPr algn="l"/>
            <a:r>
              <a:rPr lang="zh-CN" sz="1350" b="1">
                <a:solidFill>
                  <a:srgbClr val="12304F"/>
                </a:solidFill>
                <a:latin typeface="Noto Sans SC" panose="020B0200000000000000" charset="-122"/>
                <a:ea typeface="Noto Sans SC" panose="020B0200000000000000" charset="-122"/>
                <a:cs typeface="Noto Sans SC" panose="020B0200000000000000" charset="-122"/>
              </a:rPr>
              <a:t>减重设计</a:t>
            </a:r>
            <a:endParaRPr lang="zh-CN" sz="135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17" name="Rounded Rectangle 3"/>
          <p:cNvSpPr/>
          <p:nvPr/>
        </p:nvSpPr>
        <p:spPr>
          <a:xfrm>
            <a:off x="594360" y="310896"/>
            <a:ext cx="1517904" cy="329184"/>
          </a:xfrm>
          <a:prstGeom prst="roundRect">
            <a:avLst/>
          </a:prstGeom>
          <a:solidFill>
            <a:srgbClr val="0E7C74"/>
          </a:solidFill>
          <a:ln>
            <a:noFill/>
          </a:ln>
        </p:spPr>
        <p:txBody>
          <a:bodyPr rtlCol="0" anchor="ctr"/>
          <a:lstStyle/>
          <a:p>
            <a:pPr algn="ctr"/>
          </a:p>
        </p:txBody>
      </p:sp>
      <p:sp>
        <p:nvSpPr>
          <p:cNvPr id="16" name="TextBox 4"/>
          <p:cNvSpPr txBox="1"/>
          <p:nvPr/>
        </p:nvSpPr>
        <p:spPr>
          <a:xfrm>
            <a:off x="649224" y="310896"/>
            <a:ext cx="1408176" cy="329184"/>
          </a:xfrm>
          <a:prstGeom prst="rect">
            <a:avLst/>
          </a:prstGeom>
          <a:noFill/>
        </p:spPr>
        <p:txBody>
          <a:bodyPr wrap="square" anchor="ctr">
            <a:spAutoFit/>
          </a:bodyPr>
          <a:lstStyle/>
          <a:p>
            <a:pPr algn="ctr"/>
            <a:r>
              <a:rPr sz="1300" b="1">
                <a:solidFill>
                  <a:srgbClr val="FFFFFF"/>
                </a:solidFill>
                <a:latin typeface="Noto Sans SC" panose="020B0200000000000000" charset="-122"/>
                <a:ea typeface="Noto Sans SC" panose="020B0200000000000000" charset="-122"/>
                <a:cs typeface="Noto Sans SC" panose="020B0200000000000000" charset="-122"/>
              </a:rPr>
              <a:t>02  结构设计</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27" name="Rectangle 2"/>
          <p:cNvSpPr/>
          <p:nvPr/>
        </p:nvSpPr>
        <p:spPr>
          <a:xfrm>
            <a:off x="0" y="0"/>
            <a:ext cx="12191695" cy="68580"/>
          </a:xfrm>
          <a:prstGeom prst="rect">
            <a:avLst/>
          </a:prstGeom>
          <a:solidFill>
            <a:srgbClr val="0E7C74"/>
          </a:solidFill>
          <a:ln>
            <a:noFill/>
          </a:ln>
        </p:spPr>
        <p:txBody>
          <a:bodyPr rtlCol="0" anchor="ctr"/>
          <a:lstStyle/>
          <a:p>
            <a:pPr algn="ctr"/>
          </a:p>
        </p:txBody>
      </p:sp>
      <p:pic>
        <p:nvPicPr>
          <p:cNvPr id="4" name="图片 3"/>
          <p:cNvPicPr>
            <a:picLocks noChangeAspect="1"/>
          </p:cNvPicPr>
          <p:nvPr/>
        </p:nvPicPr>
        <p:blipFill>
          <a:blip r:embed="rId2"/>
          <a:stretch>
            <a:fillRect/>
          </a:stretch>
        </p:blipFill>
        <p:spPr>
          <a:xfrm>
            <a:off x="870616" y="2426970"/>
            <a:ext cx="4990688" cy="2904109"/>
          </a:xfrm>
          <a:prstGeom prst="rect">
            <a:avLst/>
          </a:prstGeom>
        </p:spPr>
      </p:pic>
      <p:pic>
        <p:nvPicPr>
          <p:cNvPr id="24" name="图片 23"/>
          <p:cNvPicPr>
            <a:picLocks noChangeAspect="1"/>
          </p:cNvPicPr>
          <p:nvPr/>
        </p:nvPicPr>
        <p:blipFill>
          <a:blip r:embed="rId3"/>
          <a:stretch>
            <a:fillRect/>
          </a:stretch>
        </p:blipFill>
        <p:spPr>
          <a:xfrm>
            <a:off x="6663139" y="2468880"/>
            <a:ext cx="4623266" cy="271973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pic>
        <p:nvPicPr>
          <p:cNvPr id="2" name="Picture 1" descr="447916673a97bd1f0e53b186d485eed5.png"/>
          <p:cNvPicPr>
            <a:picLocks noChangeAspect="1"/>
          </p:cNvPicPr>
          <p:nvPr/>
        </p:nvPicPr>
        <p:blipFill>
          <a:blip r:embed="rId1"/>
          <a:stretch>
            <a:fillRect/>
          </a:stretch>
        </p:blipFill>
        <p:spPr>
          <a:xfrm>
            <a:off x="0" y="0"/>
            <a:ext cx="12191695" cy="6858000"/>
          </a:xfrm>
          <a:prstGeom prst="rect">
            <a:avLst/>
          </a:prstGeom>
        </p:spPr>
      </p:pic>
      <p:sp>
        <p:nvSpPr>
          <p:cNvPr id="3" name="Rectangle 2"/>
          <p:cNvSpPr/>
          <p:nvPr/>
        </p:nvSpPr>
        <p:spPr>
          <a:xfrm>
            <a:off x="0" y="0"/>
            <a:ext cx="12191695" cy="68580"/>
          </a:xfrm>
          <a:prstGeom prst="rect">
            <a:avLst/>
          </a:prstGeom>
          <a:solidFill>
            <a:srgbClr val="1D5FA8"/>
          </a:solidFill>
          <a:ln>
            <a:noFill/>
          </a:ln>
        </p:spPr>
        <p:txBody>
          <a:bodyPr rtlCol="0" anchor="ctr"/>
          <a:lstStyle/>
          <a:p>
            <a:pPr algn="ctr"/>
          </a:p>
        </p:txBody>
      </p:sp>
      <p:sp>
        <p:nvSpPr>
          <p:cNvPr id="4" name="TextBox 3"/>
          <p:cNvSpPr txBox="1"/>
          <p:nvPr/>
        </p:nvSpPr>
        <p:spPr>
          <a:xfrm>
            <a:off x="448056" y="1115568"/>
            <a:ext cx="4626864" cy="3118104"/>
          </a:xfrm>
          <a:prstGeom prst="rect">
            <a:avLst/>
          </a:prstGeom>
          <a:noFill/>
        </p:spPr>
        <p:txBody>
          <a:bodyPr wrap="square">
            <a:spAutoFit/>
          </a:bodyPr>
          <a:lstStyle/>
          <a:p>
            <a:pPr algn="l"/>
            <a:r>
              <a:rPr sz="17000" b="1">
                <a:solidFill>
                  <a:srgbClr val="1D5FA8"/>
                </a:solidFill>
              </a:rPr>
              <a:t>03</a:t>
            </a:r>
            <a:endParaRPr sz="17000" b="1">
              <a:solidFill>
                <a:srgbClr val="1D5FA8"/>
              </a:solidFill>
            </a:endParaRPr>
          </a:p>
        </p:txBody>
      </p:sp>
      <p:sp>
        <p:nvSpPr>
          <p:cNvPr id="5" name="TextBox 4"/>
          <p:cNvSpPr txBox="1"/>
          <p:nvPr/>
        </p:nvSpPr>
        <p:spPr>
          <a:xfrm>
            <a:off x="475488" y="1143000"/>
            <a:ext cx="4572000" cy="3063240"/>
          </a:xfrm>
          <a:prstGeom prst="rect">
            <a:avLst/>
          </a:prstGeom>
          <a:noFill/>
        </p:spPr>
        <p:txBody>
          <a:bodyPr wrap="square">
            <a:spAutoFit/>
          </a:bodyPr>
          <a:lstStyle/>
          <a:p>
            <a:pPr algn="l"/>
            <a:r>
              <a:rPr sz="17000" b="1">
                <a:solidFill>
                  <a:srgbClr val="FFFFFF"/>
                </a:solidFill>
              </a:rPr>
              <a:t>03</a:t>
            </a:r>
            <a:endParaRPr sz="17000" b="1">
              <a:solidFill>
                <a:srgbClr val="FFFFFF"/>
              </a:solidFill>
            </a:endParaRPr>
          </a:p>
        </p:txBody>
      </p:sp>
      <p:sp>
        <p:nvSpPr>
          <p:cNvPr id="6" name="TextBox 5"/>
          <p:cNvSpPr txBox="1"/>
          <p:nvPr/>
        </p:nvSpPr>
        <p:spPr>
          <a:xfrm>
            <a:off x="713232" y="3913632"/>
            <a:ext cx="4023360" cy="685800"/>
          </a:xfrm>
          <a:prstGeom prst="rect">
            <a:avLst/>
          </a:prstGeom>
          <a:noFill/>
        </p:spPr>
        <p:txBody>
          <a:bodyPr wrap="square">
            <a:spAutoFit/>
          </a:bodyPr>
          <a:lstStyle/>
          <a:p>
            <a:pPr algn="l"/>
            <a:r>
              <a:rPr sz="4400" b="1">
                <a:solidFill>
                  <a:srgbClr val="12304F"/>
                </a:solidFill>
                <a:latin typeface="Noto Sans SC" panose="020B0200000000000000" charset="-122"/>
                <a:ea typeface="Noto Sans SC" panose="020B0200000000000000" charset="-122"/>
                <a:cs typeface="Noto Sans SC" panose="020B0200000000000000" charset="-122"/>
              </a:rPr>
              <a:t>装配</a:t>
            </a:r>
            <a:endParaRPr sz="440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7" name="TextBox 6"/>
          <p:cNvSpPr txBox="1"/>
          <p:nvPr/>
        </p:nvSpPr>
        <p:spPr>
          <a:xfrm>
            <a:off x="749808" y="4626864"/>
            <a:ext cx="4206240" cy="256032"/>
          </a:xfrm>
          <a:prstGeom prst="rect">
            <a:avLst/>
          </a:prstGeom>
          <a:noFill/>
        </p:spPr>
        <p:txBody>
          <a:bodyPr wrap="square">
            <a:spAutoFit/>
          </a:bodyPr>
          <a:lstStyle/>
          <a:p>
            <a:pPr algn="l"/>
            <a:r>
              <a:rPr sz="1300" b="0">
                <a:solidFill>
                  <a:srgbClr val="6B7B8A"/>
                </a:solidFill>
                <a:latin typeface="Consolas" panose="020B0609020204030204"/>
                <a:ea typeface="Noto Sans SC" panose="020B0200000000000000" charset="-122"/>
                <a:cs typeface="Noto Sans SC" panose="020B0200000000000000" charset="-122"/>
              </a:rPr>
              <a:t>ASSEMBLY　MODULE 03</a:t>
            </a:r>
            <a:endParaRPr sz="1300" b="0">
              <a:solidFill>
                <a:srgbClr val="6B7B8A"/>
              </a:solidFill>
              <a:latin typeface="Consolas" panose="020B0609020204030204"/>
              <a:ea typeface="Noto Sans SC" panose="020B0200000000000000" charset="-122"/>
              <a:cs typeface="Noto Sans SC" panose="020B0200000000000000" charset="-122"/>
            </a:endParaRPr>
          </a:p>
        </p:txBody>
      </p:sp>
      <p:sp>
        <p:nvSpPr>
          <p:cNvPr id="8" name="Rectangle 7"/>
          <p:cNvSpPr/>
          <p:nvPr/>
        </p:nvSpPr>
        <p:spPr>
          <a:xfrm>
            <a:off x="749808" y="4956048"/>
            <a:ext cx="1005840" cy="41148"/>
          </a:xfrm>
          <a:prstGeom prst="rect">
            <a:avLst/>
          </a:prstGeom>
          <a:solidFill>
            <a:srgbClr val="1D5FA8"/>
          </a:solidFill>
          <a:ln>
            <a:noFill/>
          </a:ln>
        </p:spPr>
        <p:txBody>
          <a:bodyPr rtlCol="0" anchor="ctr"/>
          <a:lstStyle/>
          <a:p>
            <a:pPr algn="ctr"/>
          </a:p>
        </p:txBody>
      </p:sp>
      <p:sp>
        <p:nvSpPr>
          <p:cNvPr id="9" name="TextBox 8"/>
          <p:cNvSpPr txBox="1"/>
          <p:nvPr/>
        </p:nvSpPr>
        <p:spPr>
          <a:xfrm>
            <a:off x="749808" y="5138928"/>
            <a:ext cx="4389120" cy="256032"/>
          </a:xfrm>
          <a:prstGeom prst="rect">
            <a:avLst/>
          </a:prstGeom>
          <a:noFill/>
        </p:spPr>
        <p:txBody>
          <a:bodyPr wrap="square">
            <a:spAutoFit/>
          </a:bodyPr>
          <a:lstStyle/>
          <a:p>
            <a:pPr algn="l"/>
            <a:r>
              <a:rPr sz="1200" b="0">
                <a:solidFill>
                  <a:srgbClr val="6B7B8A"/>
                </a:solidFill>
                <a:latin typeface="Consolas" panose="020B0609020204030204"/>
                <a:ea typeface="Noto Sans SC" panose="020B0200000000000000" charset="-122"/>
                <a:cs typeface="Noto Sans SC" panose="020B0200000000000000" charset="-122"/>
              </a:rPr>
              <a:t>4 个方法  ·  建议 35 分钟</a:t>
            </a:r>
            <a:endParaRPr sz="1200" b="0">
              <a:solidFill>
                <a:srgbClr val="6B7B8A"/>
              </a:solidFill>
              <a:latin typeface="Consolas" panose="020B0609020204030204"/>
              <a:ea typeface="Noto Sans SC" panose="020B0200000000000000" charset="-122"/>
              <a:cs typeface="Noto Sans SC" panose="020B0200000000000000" charset="-122"/>
            </a:endParaRPr>
          </a:p>
        </p:txBody>
      </p:sp>
      <p:sp>
        <p:nvSpPr>
          <p:cNvPr id="10" name="Rectangle 9"/>
          <p:cNvSpPr/>
          <p:nvPr/>
        </p:nvSpPr>
        <p:spPr>
          <a:xfrm>
            <a:off x="749808" y="5431536"/>
            <a:ext cx="50292" cy="256032"/>
          </a:xfrm>
          <a:prstGeom prst="rect">
            <a:avLst/>
          </a:prstGeom>
          <a:solidFill>
            <a:srgbClr val="1D5FA8"/>
          </a:solidFill>
          <a:ln>
            <a:noFill/>
          </a:ln>
        </p:spPr>
        <p:txBody>
          <a:bodyPr rtlCol="0" anchor="ctr"/>
          <a:lstStyle/>
          <a:p>
            <a:pPr algn="ctr"/>
          </a:p>
        </p:txBody>
      </p:sp>
      <p:sp>
        <p:nvSpPr>
          <p:cNvPr id="11" name="TextBox 10"/>
          <p:cNvSpPr txBox="1"/>
          <p:nvPr/>
        </p:nvSpPr>
        <p:spPr>
          <a:xfrm>
            <a:off x="914400" y="5431536"/>
            <a:ext cx="4023360" cy="256032"/>
          </a:xfrm>
          <a:prstGeom prst="rect">
            <a:avLst/>
          </a:prstGeom>
          <a:noFill/>
        </p:spPr>
        <p:txBody>
          <a:bodyPr wrap="square">
            <a:spAutoFit/>
          </a:bodyPr>
          <a:lstStyle/>
          <a:p>
            <a:pPr algn="l"/>
            <a:r>
              <a:rPr sz="1200" b="1">
                <a:solidFill>
                  <a:srgbClr val="1D5FA8"/>
                </a:solidFill>
                <a:latin typeface="Noto Sans SC" panose="020B0200000000000000" charset="-122"/>
                <a:ea typeface="Noto Sans SC" panose="020B0200000000000000" charset="-122"/>
                <a:cs typeface="Noto Sans SC" panose="020B0200000000000000" charset="-122"/>
              </a:rPr>
              <a:t>案例：机械臂</a:t>
            </a:r>
            <a:endParaRPr sz="1200" b="1">
              <a:solidFill>
                <a:srgbClr val="1D5FA8"/>
              </a:solidFill>
              <a:latin typeface="Noto Sans SC" panose="020B0200000000000000" charset="-122"/>
              <a:ea typeface="Noto Sans SC" panose="020B0200000000000000" charset="-122"/>
              <a:cs typeface="Noto Sans SC" panose="020B0200000000000000" charset="-122"/>
            </a:endParaRPr>
          </a:p>
        </p:txBody>
      </p:sp>
      <p:sp>
        <p:nvSpPr>
          <p:cNvPr id="12" name="Rectangle 11"/>
          <p:cNvSpPr/>
          <p:nvPr/>
        </p:nvSpPr>
        <p:spPr>
          <a:xfrm>
            <a:off x="5870448" y="1298448"/>
            <a:ext cx="10972" cy="4480560"/>
          </a:xfrm>
          <a:prstGeom prst="rect">
            <a:avLst/>
          </a:prstGeom>
          <a:solidFill>
            <a:srgbClr val="C9D3DC"/>
          </a:solidFill>
          <a:ln>
            <a:noFill/>
          </a:ln>
        </p:spPr>
        <p:txBody>
          <a:bodyPr rtlCol="0" anchor="ctr"/>
          <a:lstStyle/>
          <a:p>
            <a:pPr algn="ctr"/>
          </a:p>
        </p:txBody>
      </p:sp>
      <p:sp>
        <p:nvSpPr>
          <p:cNvPr id="13" name="Rounded Rectangle 12"/>
          <p:cNvSpPr/>
          <p:nvPr/>
        </p:nvSpPr>
        <p:spPr>
          <a:xfrm>
            <a:off x="6355080" y="1371600"/>
            <a:ext cx="5239512" cy="1335024"/>
          </a:xfrm>
          <a:prstGeom prst="roundRect">
            <a:avLst/>
          </a:prstGeom>
          <a:solidFill>
            <a:srgbClr val="FFFFFF"/>
          </a:solidFill>
          <a:ln w="12700">
            <a:solidFill>
              <a:srgbClr val="C9D3DC"/>
            </a:solidFill>
          </a:ln>
        </p:spPr>
        <p:txBody>
          <a:bodyPr rtlCol="0" anchor="ctr"/>
          <a:lstStyle/>
          <a:p>
            <a:pPr algn="ctr"/>
          </a:p>
        </p:txBody>
      </p:sp>
      <p:sp>
        <p:nvSpPr>
          <p:cNvPr id="14" name="Rectangle 13"/>
          <p:cNvSpPr/>
          <p:nvPr/>
        </p:nvSpPr>
        <p:spPr>
          <a:xfrm>
            <a:off x="6359525" y="1371600"/>
            <a:ext cx="50292" cy="1335024"/>
          </a:xfrm>
          <a:prstGeom prst="rect">
            <a:avLst/>
          </a:prstGeom>
          <a:solidFill>
            <a:srgbClr val="1D5FA8"/>
          </a:solidFill>
          <a:ln>
            <a:noFill/>
          </a:ln>
        </p:spPr>
        <p:txBody>
          <a:bodyPr rtlCol="0" anchor="ctr"/>
          <a:lstStyle/>
          <a:p>
            <a:pPr algn="ctr"/>
          </a:p>
        </p:txBody>
      </p:sp>
      <p:sp>
        <p:nvSpPr>
          <p:cNvPr id="15" name="TextBox 14"/>
          <p:cNvSpPr txBox="1"/>
          <p:nvPr/>
        </p:nvSpPr>
        <p:spPr>
          <a:xfrm>
            <a:off x="6620256" y="1536192"/>
            <a:ext cx="4892040" cy="1060704"/>
          </a:xfrm>
          <a:prstGeom prst="rect">
            <a:avLst/>
          </a:prstGeom>
          <a:noFill/>
        </p:spPr>
        <p:txBody>
          <a:bodyPr wrap="square">
            <a:spAutoFit/>
          </a:bodyPr>
          <a:lstStyle/>
          <a:p>
            <a:pPr algn="l">
              <a:spcBef>
                <a:spcPts val="600"/>
              </a:spcBef>
              <a:spcAft>
                <a:spcPts val="600"/>
              </a:spcAft>
            </a:pPr>
            <a:r>
              <a:rPr sz="1650" b="0">
                <a:solidFill>
                  <a:srgbClr val="12304F"/>
                </a:solidFill>
                <a:latin typeface="Noto Sans SC" panose="020B0200000000000000" charset="-122"/>
                <a:ea typeface="Noto Sans SC" panose="020B0200000000000000" charset="-122"/>
                <a:cs typeface="Noto Sans SC" panose="020B0200000000000000" charset="-122"/>
              </a:rPr>
              <a:t>零件怎么组织成一台能动的机器，</a:t>
            </a:r>
            <a:endParaRPr sz="1650" b="0">
              <a:solidFill>
                <a:srgbClr val="12304F"/>
              </a:solidFill>
              <a:latin typeface="Noto Sans SC" panose="020B0200000000000000" charset="-122"/>
              <a:ea typeface="Noto Sans SC" panose="020B0200000000000000" charset="-122"/>
              <a:cs typeface="Noto Sans SC" panose="020B0200000000000000" charset="-122"/>
            </a:endParaRPr>
          </a:p>
          <a:p>
            <a:pPr algn="l">
              <a:spcBef>
                <a:spcPts val="600"/>
              </a:spcBef>
              <a:spcAft>
                <a:spcPts val="600"/>
              </a:spcAft>
            </a:pPr>
            <a:r>
              <a:rPr sz="1650" b="0">
                <a:solidFill>
                  <a:srgbClr val="12304F"/>
                </a:solidFill>
                <a:latin typeface="Noto Sans SC" panose="020B0200000000000000" charset="-122"/>
                <a:ea typeface="Noto Sans SC" panose="020B0200000000000000" charset="-122"/>
                <a:cs typeface="Noto Sans SC" panose="020B0200000000000000" charset="-122"/>
              </a:rPr>
              <a:t>并且能在软件里先验证运动？</a:t>
            </a:r>
            <a:endParaRPr sz="1650" b="0">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16" name="Rounded Rectangle 15"/>
          <p:cNvSpPr/>
          <p:nvPr/>
        </p:nvSpPr>
        <p:spPr>
          <a:xfrm>
            <a:off x="6355080" y="2944368"/>
            <a:ext cx="1655064" cy="530352"/>
          </a:xfrm>
          <a:prstGeom prst="roundRect">
            <a:avLst/>
          </a:prstGeom>
          <a:solidFill>
            <a:srgbClr val="FFFFFF"/>
          </a:solidFill>
          <a:ln w="12700">
            <a:solidFill>
              <a:srgbClr val="C9D3DC"/>
            </a:solidFill>
          </a:ln>
        </p:spPr>
        <p:txBody>
          <a:bodyPr rtlCol="0" anchor="ctr"/>
          <a:lstStyle/>
          <a:p>
            <a:pPr algn="ctr"/>
          </a:p>
        </p:txBody>
      </p:sp>
      <p:sp>
        <p:nvSpPr>
          <p:cNvPr id="17" name="TextBox 16"/>
          <p:cNvSpPr txBox="1"/>
          <p:nvPr/>
        </p:nvSpPr>
        <p:spPr>
          <a:xfrm>
            <a:off x="6409944" y="2944368"/>
            <a:ext cx="1545336" cy="530352"/>
          </a:xfrm>
          <a:prstGeom prst="rect">
            <a:avLst/>
          </a:prstGeom>
          <a:noFill/>
        </p:spPr>
        <p:txBody>
          <a:bodyPr wrap="square" anchor="ctr">
            <a:spAutoFit/>
          </a:bodyPr>
          <a:lstStyle/>
          <a:p>
            <a:pPr algn="ctr"/>
            <a:r>
              <a:rPr sz="1250" b="0">
                <a:solidFill>
                  <a:srgbClr val="23384C"/>
                </a:solidFill>
                <a:latin typeface="Noto Sans SC" panose="020B0200000000000000" charset="-122"/>
                <a:ea typeface="Noto Sans SC" panose="020B0200000000000000" charset="-122"/>
                <a:cs typeface="Noto Sans SC" panose="020B0200000000000000" charset="-122"/>
              </a:rPr>
              <a:t>组件与 Joint</a:t>
            </a:r>
            <a:endParaRPr sz="12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18" name="Rounded Rectangle 17"/>
          <p:cNvSpPr/>
          <p:nvPr/>
        </p:nvSpPr>
        <p:spPr>
          <a:xfrm>
            <a:off x="8147304" y="2944368"/>
            <a:ext cx="1655064" cy="530352"/>
          </a:xfrm>
          <a:prstGeom prst="roundRect">
            <a:avLst/>
          </a:prstGeom>
          <a:solidFill>
            <a:srgbClr val="FFFFFF"/>
          </a:solidFill>
          <a:ln w="12700">
            <a:solidFill>
              <a:srgbClr val="C9D3DC"/>
            </a:solidFill>
          </a:ln>
        </p:spPr>
        <p:txBody>
          <a:bodyPr rtlCol="0" anchor="ctr"/>
          <a:lstStyle/>
          <a:p>
            <a:pPr algn="ctr"/>
          </a:p>
        </p:txBody>
      </p:sp>
      <p:sp>
        <p:nvSpPr>
          <p:cNvPr id="19" name="TextBox 18"/>
          <p:cNvSpPr txBox="1"/>
          <p:nvPr/>
        </p:nvSpPr>
        <p:spPr>
          <a:xfrm>
            <a:off x="8202168" y="2944368"/>
            <a:ext cx="1545336" cy="530352"/>
          </a:xfrm>
          <a:prstGeom prst="rect">
            <a:avLst/>
          </a:prstGeom>
          <a:noFill/>
        </p:spPr>
        <p:txBody>
          <a:bodyPr wrap="square" anchor="ctr">
            <a:spAutoFit/>
          </a:bodyPr>
          <a:lstStyle/>
          <a:p>
            <a:pPr algn="ctr"/>
            <a:r>
              <a:rPr sz="1250" b="0">
                <a:solidFill>
                  <a:srgbClr val="23384C"/>
                </a:solidFill>
                <a:latin typeface="Noto Sans SC" panose="020B0200000000000000" charset="-122"/>
                <a:ea typeface="Noto Sans SC" panose="020B0200000000000000" charset="-122"/>
                <a:cs typeface="Noto Sans SC" panose="020B0200000000000000" charset="-122"/>
              </a:rPr>
              <a:t>外部参考管理</a:t>
            </a:r>
            <a:endParaRPr sz="12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0" name="Rounded Rectangle 19"/>
          <p:cNvSpPr/>
          <p:nvPr/>
        </p:nvSpPr>
        <p:spPr>
          <a:xfrm>
            <a:off x="9939528" y="2944368"/>
            <a:ext cx="1655064" cy="530352"/>
          </a:xfrm>
          <a:prstGeom prst="roundRect">
            <a:avLst/>
          </a:prstGeom>
          <a:solidFill>
            <a:srgbClr val="FFFFFF"/>
          </a:solidFill>
          <a:ln w="12700">
            <a:solidFill>
              <a:srgbClr val="C9D3DC"/>
            </a:solidFill>
          </a:ln>
        </p:spPr>
        <p:txBody>
          <a:bodyPr rtlCol="0" anchor="ctr"/>
          <a:lstStyle/>
          <a:p>
            <a:pPr algn="ctr"/>
          </a:p>
        </p:txBody>
      </p:sp>
      <p:sp>
        <p:nvSpPr>
          <p:cNvPr id="21" name="TextBox 20"/>
          <p:cNvSpPr txBox="1"/>
          <p:nvPr/>
        </p:nvSpPr>
        <p:spPr>
          <a:xfrm>
            <a:off x="9994392" y="2944368"/>
            <a:ext cx="1545336" cy="530352"/>
          </a:xfrm>
          <a:prstGeom prst="rect">
            <a:avLst/>
          </a:prstGeom>
          <a:noFill/>
        </p:spPr>
        <p:txBody>
          <a:bodyPr wrap="square" anchor="ctr">
            <a:spAutoFit/>
          </a:bodyPr>
          <a:lstStyle/>
          <a:p>
            <a:pPr algn="ctr"/>
            <a:r>
              <a:rPr sz="1250" b="0">
                <a:solidFill>
                  <a:srgbClr val="23384C"/>
                </a:solidFill>
                <a:latin typeface="Noto Sans SC" panose="020B0200000000000000" charset="-122"/>
                <a:ea typeface="Noto Sans SC" panose="020B0200000000000000" charset="-122"/>
                <a:cs typeface="Noto Sans SC" panose="020B0200000000000000" charset="-122"/>
              </a:rPr>
              <a:t>自由度计算</a:t>
            </a:r>
            <a:endParaRPr sz="12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2" name="Rounded Rectangle 21"/>
          <p:cNvSpPr/>
          <p:nvPr/>
        </p:nvSpPr>
        <p:spPr>
          <a:xfrm>
            <a:off x="6355080" y="3621024"/>
            <a:ext cx="1655064" cy="530352"/>
          </a:xfrm>
          <a:prstGeom prst="roundRect">
            <a:avLst/>
          </a:prstGeom>
          <a:solidFill>
            <a:srgbClr val="FFFFFF"/>
          </a:solidFill>
          <a:ln w="12700">
            <a:solidFill>
              <a:srgbClr val="C9D3DC"/>
            </a:solidFill>
          </a:ln>
        </p:spPr>
        <p:txBody>
          <a:bodyPr rtlCol="0" anchor="ctr"/>
          <a:lstStyle/>
          <a:p>
            <a:pPr algn="ctr"/>
          </a:p>
        </p:txBody>
      </p:sp>
      <p:sp>
        <p:nvSpPr>
          <p:cNvPr id="23" name="TextBox 22"/>
          <p:cNvSpPr txBox="1"/>
          <p:nvPr/>
        </p:nvSpPr>
        <p:spPr>
          <a:xfrm>
            <a:off x="6409944" y="3621024"/>
            <a:ext cx="1545336" cy="530352"/>
          </a:xfrm>
          <a:prstGeom prst="rect">
            <a:avLst/>
          </a:prstGeom>
          <a:noFill/>
        </p:spPr>
        <p:txBody>
          <a:bodyPr wrap="square" anchor="ctr">
            <a:spAutoFit/>
          </a:bodyPr>
          <a:lstStyle/>
          <a:p>
            <a:pPr algn="ctr"/>
            <a:r>
              <a:rPr sz="1250" b="0">
                <a:solidFill>
                  <a:srgbClr val="23384C"/>
                </a:solidFill>
                <a:latin typeface="Noto Sans SC" panose="020B0200000000000000" charset="-122"/>
                <a:ea typeface="Noto Sans SC" panose="020B0200000000000000" charset="-122"/>
                <a:cs typeface="Noto Sans SC" panose="020B0200000000000000" charset="-122"/>
              </a:rPr>
              <a:t>运动范围校核</a:t>
            </a:r>
            <a:endParaRPr sz="12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4" name="Rectangle 23"/>
          <p:cNvSpPr/>
          <p:nvPr/>
        </p:nvSpPr>
        <p:spPr>
          <a:xfrm>
            <a:off x="6355080" y="4370832"/>
            <a:ext cx="5239512" cy="932688"/>
          </a:xfrm>
          <a:prstGeom prst="rect">
            <a:avLst/>
          </a:prstGeom>
          <a:solidFill>
            <a:srgbClr val="FFFFFF"/>
          </a:solidFill>
          <a:ln w="9525">
            <a:solidFill>
              <a:srgbClr val="1D5FA8"/>
            </a:solidFill>
            <a:prstDash val="dash"/>
          </a:ln>
        </p:spPr>
        <p:txBody>
          <a:bodyPr rtlCol="0" anchor="ctr"/>
          <a:lstStyle/>
          <a:p>
            <a:pPr algn="ctr"/>
          </a:p>
        </p:txBody>
      </p:sp>
      <p:sp>
        <p:nvSpPr>
          <p:cNvPr id="25" name="TextBox 24"/>
          <p:cNvSpPr txBox="1"/>
          <p:nvPr/>
        </p:nvSpPr>
        <p:spPr>
          <a:xfrm>
            <a:off x="6492240" y="4462272"/>
            <a:ext cx="4983480" cy="237744"/>
          </a:xfrm>
          <a:prstGeom prst="rect">
            <a:avLst/>
          </a:prstGeom>
          <a:noFill/>
        </p:spPr>
        <p:txBody>
          <a:bodyPr wrap="square">
            <a:spAutoFit/>
          </a:bodyPr>
          <a:lstStyle/>
          <a:p>
            <a:pPr algn="l"/>
            <a:r>
              <a:rPr sz="1100" b="0">
                <a:solidFill>
                  <a:srgbClr val="1D5FA8"/>
                </a:solidFill>
                <a:latin typeface="Consolas" panose="020B0609020204030204"/>
                <a:ea typeface="Noto Sans SC" panose="020B0200000000000000" charset="-122"/>
                <a:cs typeface="Noto Sans SC" panose="020B0200000000000000" charset="-122"/>
              </a:rPr>
              <a:t>本模块产出（方法，不是零件）</a:t>
            </a:r>
            <a:endParaRPr sz="1100" b="0">
              <a:solidFill>
                <a:srgbClr val="1D5FA8"/>
              </a:solidFill>
              <a:latin typeface="Consolas" panose="020B0609020204030204"/>
              <a:ea typeface="Noto Sans SC" panose="020B0200000000000000" charset="-122"/>
              <a:cs typeface="Noto Sans SC" panose="020B0200000000000000" charset="-122"/>
            </a:endParaRPr>
          </a:p>
        </p:txBody>
      </p:sp>
      <p:sp>
        <p:nvSpPr>
          <p:cNvPr id="26" name="TextBox 25"/>
          <p:cNvSpPr txBox="1"/>
          <p:nvPr/>
        </p:nvSpPr>
        <p:spPr>
          <a:xfrm>
            <a:off x="6492240" y="4700016"/>
            <a:ext cx="4983480" cy="566928"/>
          </a:xfrm>
          <a:prstGeom prst="rect">
            <a:avLst/>
          </a:prstGeom>
          <a:noFill/>
        </p:spPr>
        <p:txBody>
          <a:bodyPr wrap="square">
            <a:spAutoFit/>
          </a:bodyPr>
          <a:lstStyle/>
          <a:p>
            <a:pPr algn="l">
              <a:spcBef>
                <a:spcPts val="200"/>
              </a:spcBef>
              <a:spcAft>
                <a:spcPts val="200"/>
              </a:spcAft>
            </a:pPr>
            <a:r>
              <a:rPr sz="1200" b="0">
                <a:solidFill>
                  <a:srgbClr val="23384C"/>
                </a:solidFill>
                <a:latin typeface="Noto Sans SC" panose="020B0200000000000000" charset="-122"/>
                <a:ea typeface="Noto Sans SC" panose="020B0200000000000000" charset="-122"/>
                <a:cs typeface="Noto Sans SC" panose="020B0200000000000000" charset="-122"/>
              </a:rPr>
              <a:t>一套可动装配的组织方法</a:t>
            </a:r>
            <a:endParaRPr sz="1200" b="0">
              <a:solidFill>
                <a:srgbClr val="23384C"/>
              </a:solidFill>
              <a:latin typeface="Noto Sans SC" panose="020B0200000000000000" charset="-122"/>
              <a:ea typeface="Noto Sans SC" panose="020B0200000000000000" charset="-122"/>
              <a:cs typeface="Noto Sans SC" panose="020B0200000000000000" charset="-122"/>
            </a:endParaRPr>
          </a:p>
          <a:p>
            <a:pPr algn="l">
              <a:spcBef>
                <a:spcPts val="200"/>
              </a:spcBef>
              <a:spcAft>
                <a:spcPts val="200"/>
              </a:spcAft>
            </a:pPr>
            <a:r>
              <a:rPr sz="1200" b="0">
                <a:solidFill>
                  <a:srgbClr val="23384C"/>
                </a:solidFill>
                <a:latin typeface="Noto Sans SC" panose="020B0200000000000000" charset="-122"/>
                <a:ea typeface="Noto Sans SC" panose="020B0200000000000000" charset="-122"/>
                <a:cs typeface="Noto Sans SC" panose="020B0200000000000000" charset="-122"/>
              </a:rPr>
              <a:t>＋一张运动范围 / 干涉校核的输出规范</a:t>
            </a:r>
            <a:endParaRPr sz="120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7" name="TextBox 26"/>
          <p:cNvSpPr txBox="1"/>
          <p:nvPr/>
        </p:nvSpPr>
        <p:spPr>
          <a:xfrm>
            <a:off x="6355080" y="5504688"/>
            <a:ext cx="5212080" cy="292608"/>
          </a:xfrm>
          <a:prstGeom prst="rect">
            <a:avLst/>
          </a:prstGeom>
          <a:noFill/>
        </p:spPr>
        <p:txBody>
          <a:bodyPr wrap="square">
            <a:spAutoFit/>
          </a:bodyPr>
          <a:lstStyle/>
          <a:p>
            <a:pPr algn="l"/>
            <a:r>
              <a:rPr sz="1250" b="0">
                <a:solidFill>
                  <a:srgbClr val="6B7B8A"/>
                </a:solidFill>
                <a:latin typeface="Noto Sans SC" panose="020B0200000000000000" charset="-122"/>
                <a:ea typeface="Noto Sans SC" panose="020B0200000000000000" charset="-122"/>
                <a:cs typeface="Noto Sans SC" panose="020B0200000000000000" charset="-122"/>
              </a:rPr>
              <a:t>换成任何机构（连杆、云台、升降）方法一样。</a:t>
            </a:r>
            <a:endParaRPr sz="12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28" name="TextBox 27"/>
          <p:cNvSpPr txBox="1"/>
          <p:nvPr/>
        </p:nvSpPr>
        <p:spPr>
          <a:xfrm>
            <a:off x="10515600" y="6400800"/>
            <a:ext cx="1371600" cy="274320"/>
          </a:xfrm>
          <a:prstGeom prst="rect">
            <a:avLst/>
          </a:prstGeom>
          <a:noFill/>
        </p:spPr>
        <p:txBody>
          <a:bodyPr wrap="square">
            <a:spAutoFit/>
          </a:bodyPr>
          <a:lstStyle/>
          <a:p>
            <a:pPr algn="r"/>
            <a:r>
              <a:rPr sz="1000" b="0">
                <a:solidFill>
                  <a:srgbClr val="6B7B8A"/>
                </a:solidFill>
                <a:latin typeface="Noto Sans SC" panose="020B0200000000000000" charset="-122"/>
                <a:ea typeface="Noto Sans SC" panose="020B0200000000000000" charset="-122"/>
                <a:cs typeface="Noto Sans SC" panose="020B0200000000000000" charset="-122"/>
              </a:rPr>
              <a:t>20 / 34</a:t>
            </a:r>
            <a:endParaRPr sz="100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29" name="Rectangle 28"/>
          <p:cNvSpPr/>
          <p:nvPr/>
        </p:nvSpPr>
        <p:spPr>
          <a:xfrm>
            <a:off x="594360" y="6199632"/>
            <a:ext cx="11002975" cy="10972"/>
          </a:xfrm>
          <a:prstGeom prst="rect">
            <a:avLst/>
          </a:prstGeom>
          <a:solidFill>
            <a:srgbClr val="C9D3DC"/>
          </a:solidFill>
          <a:ln>
            <a:noFill/>
          </a:ln>
        </p:spPr>
        <p:txBody>
          <a:bodyPr rtlCol="0" anchor="ctr"/>
          <a:lstStyle/>
          <a:p>
            <a:pPr algn="ctr"/>
          </a:p>
        </p:txBody>
      </p:sp>
      <p:sp>
        <p:nvSpPr>
          <p:cNvPr id="30" name="TextBox 29"/>
          <p:cNvSpPr txBox="1"/>
          <p:nvPr/>
        </p:nvSpPr>
        <p:spPr>
          <a:xfrm>
            <a:off x="594360" y="6327648"/>
            <a:ext cx="8778240" cy="274320"/>
          </a:xfrm>
          <a:prstGeom prst="rect">
            <a:avLst/>
          </a:prstGeom>
          <a:noFill/>
        </p:spPr>
        <p:txBody>
          <a:bodyPr wrap="square">
            <a:spAutoFit/>
          </a:bodyPr>
          <a:lstStyle/>
          <a:p>
            <a:pPr algn="l"/>
            <a:r>
              <a:rPr sz="1100" b="0">
                <a:solidFill>
                  <a:srgbClr val="6B7B8A"/>
                </a:solidFill>
                <a:latin typeface="Noto Sans SC" panose="020B0200000000000000" charset="-122"/>
                <a:ea typeface="Noto Sans SC" panose="020B0200000000000000" charset="-122"/>
                <a:cs typeface="Noto Sans SC" panose="020B0200000000000000" charset="-122"/>
              </a:rPr>
              <a:t>模块方法清单见上方胶囊；案例仅用于演示，方法可迁移到任何零件。</a:t>
            </a:r>
            <a:endParaRPr sz="1100" b="0">
              <a:solidFill>
                <a:srgbClr val="6B7B8A"/>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3" name="Rectangle 2"/>
          <p:cNvSpPr/>
          <p:nvPr/>
        </p:nvSpPr>
        <p:spPr>
          <a:xfrm>
            <a:off x="0" y="0"/>
            <a:ext cx="12191695" cy="68580"/>
          </a:xfrm>
          <a:prstGeom prst="rect">
            <a:avLst/>
          </a:prstGeom>
          <a:solidFill>
            <a:srgbClr val="1D5FA8"/>
          </a:solidFill>
          <a:ln>
            <a:noFill/>
          </a:ln>
        </p:spPr>
        <p:txBody>
          <a:bodyPr rtlCol="0" anchor="ctr"/>
          <a:lstStyle/>
          <a:p>
            <a:pPr algn="ctr"/>
          </a:p>
        </p:txBody>
      </p:sp>
      <p:sp>
        <p:nvSpPr>
          <p:cNvPr id="4" name="Rounded Rectangle 3"/>
          <p:cNvSpPr/>
          <p:nvPr/>
        </p:nvSpPr>
        <p:spPr>
          <a:xfrm>
            <a:off x="594360" y="310896"/>
            <a:ext cx="1517904" cy="329184"/>
          </a:xfrm>
          <a:prstGeom prst="roundRect">
            <a:avLst/>
          </a:prstGeom>
          <a:solidFill>
            <a:srgbClr val="1D5FA8"/>
          </a:solidFill>
          <a:ln>
            <a:noFill/>
          </a:ln>
        </p:spPr>
        <p:txBody>
          <a:bodyPr rtlCol="0" anchor="ctr"/>
          <a:lstStyle/>
          <a:p>
            <a:pPr algn="ctr"/>
          </a:p>
        </p:txBody>
      </p:sp>
      <p:sp>
        <p:nvSpPr>
          <p:cNvPr id="5" name="TextBox 4"/>
          <p:cNvSpPr txBox="1"/>
          <p:nvPr/>
        </p:nvSpPr>
        <p:spPr>
          <a:xfrm>
            <a:off x="649224" y="310896"/>
            <a:ext cx="1408176" cy="329184"/>
          </a:xfrm>
          <a:prstGeom prst="rect">
            <a:avLst/>
          </a:prstGeom>
          <a:noFill/>
        </p:spPr>
        <p:txBody>
          <a:bodyPr wrap="square" anchor="ctr">
            <a:spAutoFit/>
          </a:bodyPr>
          <a:lstStyle/>
          <a:p>
            <a:pPr algn="ctr"/>
            <a:r>
              <a:rPr sz="1300" b="1">
                <a:solidFill>
                  <a:srgbClr val="FFFFFF"/>
                </a:solidFill>
                <a:latin typeface="Noto Sans SC" panose="020B0200000000000000" charset="-122"/>
                <a:ea typeface="Noto Sans SC" panose="020B0200000000000000" charset="-122"/>
                <a:cs typeface="Noto Sans SC" panose="020B0200000000000000" charset="-122"/>
              </a:rPr>
              <a:t>03  装配</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6" name="TextBox 5"/>
          <p:cNvSpPr txBox="1"/>
          <p:nvPr/>
        </p:nvSpPr>
        <p:spPr>
          <a:xfrm>
            <a:off x="2295144" y="338328"/>
            <a:ext cx="3840480" cy="274320"/>
          </a:xfrm>
          <a:prstGeom prst="rect">
            <a:avLst/>
          </a:prstGeom>
          <a:noFill/>
        </p:spPr>
        <p:txBody>
          <a:bodyPr wrap="square">
            <a:spAutoFit/>
          </a:bodyPr>
          <a:lstStyle/>
          <a:p>
            <a:pPr algn="l"/>
            <a:r>
              <a:rPr sz="1150" b="0">
                <a:solidFill>
                  <a:srgbClr val="6B7B8A"/>
                </a:solidFill>
                <a:latin typeface="Consolas" panose="020B0609020204030204"/>
                <a:ea typeface="Noto Sans SC" panose="020B0200000000000000" charset="-122"/>
                <a:cs typeface="Noto Sans SC" panose="020B0200000000000000" charset="-122"/>
              </a:rPr>
              <a:t>方法 18 · 校核到结构</a:t>
            </a:r>
            <a:endParaRPr sz="1150" b="0">
              <a:solidFill>
                <a:srgbClr val="6B7B8A"/>
              </a:solidFill>
              <a:latin typeface="Consolas" panose="020B0609020204030204"/>
              <a:ea typeface="Noto Sans SC" panose="020B0200000000000000" charset="-122"/>
              <a:cs typeface="Noto Sans SC" panose="020B0200000000000000" charset="-122"/>
            </a:endParaRPr>
          </a:p>
        </p:txBody>
      </p:sp>
      <p:sp>
        <p:nvSpPr>
          <p:cNvPr id="7" name="Rounded Rectangle 6"/>
          <p:cNvSpPr/>
          <p:nvPr/>
        </p:nvSpPr>
        <p:spPr>
          <a:xfrm>
            <a:off x="10262311" y="329184"/>
            <a:ext cx="1335024" cy="292608"/>
          </a:xfrm>
          <a:prstGeom prst="roundRect">
            <a:avLst/>
          </a:prstGeom>
          <a:solidFill>
            <a:srgbClr val="FFFFFF"/>
          </a:solidFill>
          <a:ln w="12700">
            <a:solidFill>
              <a:srgbClr val="C9D3DC"/>
            </a:solidFill>
          </a:ln>
        </p:spPr>
        <p:txBody>
          <a:bodyPr rtlCol="0" anchor="ctr"/>
          <a:lstStyle/>
          <a:p>
            <a:pPr algn="ctr"/>
          </a:p>
        </p:txBody>
      </p:sp>
      <p:sp>
        <p:nvSpPr>
          <p:cNvPr id="8" name="Rectangle 7"/>
          <p:cNvSpPr/>
          <p:nvPr/>
        </p:nvSpPr>
        <p:spPr>
          <a:xfrm>
            <a:off x="10381183" y="443484"/>
            <a:ext cx="68580" cy="68580"/>
          </a:xfrm>
          <a:prstGeom prst="rect">
            <a:avLst/>
          </a:prstGeom>
          <a:solidFill>
            <a:srgbClr val="C2571A"/>
          </a:solidFill>
          <a:ln>
            <a:noFill/>
          </a:ln>
        </p:spPr>
        <p:txBody>
          <a:bodyPr rtlCol="0" anchor="ctr"/>
          <a:lstStyle/>
          <a:p>
            <a:pPr algn="ctr"/>
          </a:p>
        </p:txBody>
      </p:sp>
      <p:sp>
        <p:nvSpPr>
          <p:cNvPr id="9" name="TextBox 8"/>
          <p:cNvSpPr txBox="1"/>
          <p:nvPr/>
        </p:nvSpPr>
        <p:spPr>
          <a:xfrm>
            <a:off x="10509199" y="329184"/>
            <a:ext cx="1042415" cy="292608"/>
          </a:xfrm>
          <a:prstGeom prst="rect">
            <a:avLst/>
          </a:prstGeom>
          <a:noFill/>
        </p:spPr>
        <p:txBody>
          <a:bodyPr wrap="square" anchor="ctr">
            <a:spAutoFit/>
          </a:bodyPr>
          <a:lstStyle/>
          <a:p>
            <a:pPr algn="l"/>
            <a:r>
              <a:rPr sz="1150" b="0">
                <a:solidFill>
                  <a:srgbClr val="23384C"/>
                </a:solidFill>
                <a:latin typeface="Consolas" panose="020B0609020204030204"/>
                <a:ea typeface="Noto Sans SC" panose="020B0200000000000000" charset="-122"/>
                <a:cs typeface="Noto Sans SC" panose="020B0200000000000000" charset="-122"/>
              </a:rPr>
              <a:t>Fusion 360</a:t>
            </a:r>
            <a:endParaRPr sz="1150" b="0">
              <a:solidFill>
                <a:srgbClr val="23384C"/>
              </a:solidFill>
              <a:latin typeface="Consolas" panose="020B0609020204030204"/>
              <a:ea typeface="Noto Sans SC" panose="020B0200000000000000" charset="-122"/>
              <a:cs typeface="Noto Sans SC" panose="020B0200000000000000" charset="-122"/>
            </a:endParaRPr>
          </a:p>
        </p:txBody>
      </p:sp>
      <p:sp>
        <p:nvSpPr>
          <p:cNvPr id="10" name="TextBox 9"/>
          <p:cNvSpPr txBox="1"/>
          <p:nvPr/>
        </p:nvSpPr>
        <p:spPr>
          <a:xfrm>
            <a:off x="594360" y="841248"/>
            <a:ext cx="10058400" cy="506730"/>
          </a:xfrm>
          <a:prstGeom prst="rect">
            <a:avLst/>
          </a:prstGeom>
          <a:noFill/>
        </p:spPr>
        <p:txBody>
          <a:bodyPr wrap="square">
            <a:spAutoFit/>
          </a:bodyPr>
          <a:lstStyle/>
          <a:p>
            <a:pPr algn="l"/>
            <a:r>
              <a:rPr lang="zh-CN" sz="2700" b="1">
                <a:solidFill>
                  <a:srgbClr val="12304F"/>
                </a:solidFill>
                <a:latin typeface="Noto Sans SC" panose="020B0200000000000000" charset="-122"/>
                <a:ea typeface="Noto Sans SC" panose="020B0200000000000000" charset="-122"/>
                <a:cs typeface="Noto Sans SC" panose="020B0200000000000000" charset="-122"/>
              </a:rPr>
              <a:t>联接与快速联接</a:t>
            </a:r>
            <a:endParaRPr lang="zh-CN" sz="270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11" name="TextBox 10"/>
          <p:cNvSpPr txBox="1"/>
          <p:nvPr/>
        </p:nvSpPr>
        <p:spPr>
          <a:xfrm>
            <a:off x="594360" y="1344168"/>
            <a:ext cx="10607040" cy="274320"/>
          </a:xfrm>
          <a:prstGeom prst="rect">
            <a:avLst/>
          </a:prstGeom>
          <a:noFill/>
        </p:spPr>
        <p:txBody>
          <a:bodyPr wrap="square">
            <a:spAutoFit/>
          </a:bodyPr>
          <a:lstStyle/>
          <a:p>
            <a:pPr algn="l"/>
            <a:r>
              <a:rPr sz="1350" b="0">
                <a:solidFill>
                  <a:srgbClr val="6B7B8A"/>
                </a:solidFill>
                <a:latin typeface="Noto Sans SC" panose="020B0200000000000000" charset="-122"/>
                <a:ea typeface="Noto Sans SC" panose="020B0200000000000000" charset="-122"/>
                <a:cs typeface="Noto Sans SC" panose="020B0200000000000000" charset="-122"/>
              </a:rPr>
              <a:t>最长臂展决定电机选型与结构加强</a:t>
            </a:r>
            <a:endParaRPr sz="13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12" name="Rectangle 11"/>
          <p:cNvSpPr/>
          <p:nvPr/>
        </p:nvSpPr>
        <p:spPr>
          <a:xfrm>
            <a:off x="594360" y="1700784"/>
            <a:ext cx="11002975" cy="12801"/>
          </a:xfrm>
          <a:prstGeom prst="rect">
            <a:avLst/>
          </a:prstGeom>
          <a:solidFill>
            <a:srgbClr val="C9D3DC"/>
          </a:solidFill>
          <a:ln>
            <a:noFill/>
          </a:ln>
        </p:spPr>
        <p:txBody>
          <a:bodyPr rtlCol="0" anchor="ctr"/>
          <a:lstStyle/>
          <a:p>
            <a:pPr algn="ctr"/>
          </a:p>
        </p:txBody>
      </p:sp>
      <p:sp>
        <p:nvSpPr>
          <p:cNvPr id="13" name="TextBox 12"/>
          <p:cNvSpPr txBox="1"/>
          <p:nvPr/>
        </p:nvSpPr>
        <p:spPr>
          <a:xfrm>
            <a:off x="10515600" y="6400800"/>
            <a:ext cx="1371600" cy="274320"/>
          </a:xfrm>
          <a:prstGeom prst="rect">
            <a:avLst/>
          </a:prstGeom>
          <a:noFill/>
        </p:spPr>
        <p:txBody>
          <a:bodyPr wrap="square">
            <a:spAutoFit/>
          </a:bodyPr>
          <a:lstStyle/>
          <a:p>
            <a:pPr algn="r"/>
            <a:r>
              <a:rPr sz="1000" b="0">
                <a:solidFill>
                  <a:srgbClr val="6B7B8A"/>
                </a:solidFill>
                <a:latin typeface="Noto Sans SC" panose="020B0200000000000000" charset="-122"/>
                <a:ea typeface="Noto Sans SC" panose="020B0200000000000000" charset="-122"/>
                <a:cs typeface="Noto Sans SC" panose="020B0200000000000000" charset="-122"/>
              </a:rPr>
              <a:t>24 / 34</a:t>
            </a:r>
            <a:endParaRPr sz="100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14" name="Rectangle 13"/>
          <p:cNvSpPr/>
          <p:nvPr/>
        </p:nvSpPr>
        <p:spPr>
          <a:xfrm>
            <a:off x="594360" y="3684270"/>
            <a:ext cx="5053965" cy="2745740"/>
          </a:xfrm>
          <a:prstGeom prst="rect">
            <a:avLst/>
          </a:prstGeom>
          <a:solidFill>
            <a:srgbClr val="FFFFFF"/>
          </a:solidFill>
          <a:ln w="12700">
            <a:solidFill>
              <a:srgbClr val="C9D3DC"/>
            </a:solidFill>
          </a:ln>
        </p:spPr>
        <p:txBody>
          <a:bodyPr rtlCol="0" anchor="ctr"/>
          <a:lstStyle/>
          <a:p>
            <a:pPr algn="ctr"/>
          </a:p>
        </p:txBody>
      </p:sp>
      <p:sp>
        <p:nvSpPr>
          <p:cNvPr id="15" name="TextBox 14"/>
          <p:cNvSpPr txBox="1"/>
          <p:nvPr/>
        </p:nvSpPr>
        <p:spPr>
          <a:xfrm>
            <a:off x="725170" y="3784473"/>
            <a:ext cx="4572000" cy="299085"/>
          </a:xfrm>
          <a:prstGeom prst="rect">
            <a:avLst/>
          </a:prstGeom>
          <a:noFill/>
        </p:spPr>
        <p:txBody>
          <a:bodyPr wrap="square">
            <a:spAutoFit/>
          </a:bodyPr>
          <a:lstStyle/>
          <a:p>
            <a:pPr algn="l"/>
            <a:r>
              <a:rPr lang="zh-CN" sz="1350" b="1">
                <a:solidFill>
                  <a:srgbClr val="12304F"/>
                </a:solidFill>
                <a:latin typeface="Noto Sans SC" panose="020B0200000000000000" charset="-122"/>
                <a:ea typeface="Noto Sans SC" panose="020B0200000000000000" charset="-122"/>
                <a:cs typeface="Noto Sans SC" panose="020B0200000000000000" charset="-122"/>
              </a:rPr>
              <a:t>联接</a:t>
            </a:r>
            <a:endParaRPr lang="zh-CN" sz="135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49" name="Rectangle 13"/>
          <p:cNvSpPr/>
          <p:nvPr/>
        </p:nvSpPr>
        <p:spPr>
          <a:xfrm>
            <a:off x="5948045" y="3684270"/>
            <a:ext cx="4966335" cy="2740025"/>
          </a:xfrm>
          <a:prstGeom prst="rect">
            <a:avLst/>
          </a:prstGeom>
          <a:solidFill>
            <a:srgbClr val="FFFFFF"/>
          </a:solidFill>
          <a:ln w="12700">
            <a:solidFill>
              <a:srgbClr val="C9D3DC"/>
            </a:solidFill>
          </a:ln>
        </p:spPr>
        <p:txBody>
          <a:bodyPr rtlCol="0" anchor="ctr"/>
          <a:lstStyle/>
          <a:p>
            <a:pPr algn="ctr"/>
          </a:p>
        </p:txBody>
      </p:sp>
      <p:sp>
        <p:nvSpPr>
          <p:cNvPr id="50" name="TextBox 14"/>
          <p:cNvSpPr txBox="1"/>
          <p:nvPr/>
        </p:nvSpPr>
        <p:spPr>
          <a:xfrm>
            <a:off x="6026785" y="3746373"/>
            <a:ext cx="4572000" cy="299085"/>
          </a:xfrm>
          <a:prstGeom prst="rect">
            <a:avLst/>
          </a:prstGeom>
          <a:noFill/>
        </p:spPr>
        <p:txBody>
          <a:bodyPr wrap="square">
            <a:spAutoFit/>
          </a:bodyPr>
          <a:lstStyle/>
          <a:p>
            <a:pPr algn="l"/>
            <a:r>
              <a:rPr lang="zh-CN" sz="1350" b="1">
                <a:solidFill>
                  <a:srgbClr val="12304F"/>
                </a:solidFill>
                <a:latin typeface="Noto Sans SC" panose="020B0200000000000000" charset="-122"/>
                <a:ea typeface="Noto Sans SC" panose="020B0200000000000000" charset="-122"/>
                <a:cs typeface="Noto Sans SC" panose="020B0200000000000000" charset="-122"/>
              </a:rPr>
              <a:t>快速联接</a:t>
            </a:r>
            <a:endParaRPr lang="zh-CN" sz="135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65" name="Rounded Rectangle 12"/>
          <p:cNvSpPr/>
          <p:nvPr/>
        </p:nvSpPr>
        <p:spPr>
          <a:xfrm>
            <a:off x="644525" y="1800225"/>
            <a:ext cx="7628255" cy="1675765"/>
          </a:xfrm>
          <a:prstGeom prst="roundRect">
            <a:avLst/>
          </a:prstGeom>
          <a:solidFill>
            <a:srgbClr val="FFFFFF"/>
          </a:solidFill>
          <a:ln w="12700">
            <a:solidFill>
              <a:srgbClr val="C9D3DC"/>
            </a:solidFill>
          </a:ln>
        </p:spPr>
        <p:txBody>
          <a:bodyPr rtlCol="0" anchor="ctr"/>
          <a:lstStyle/>
          <a:p>
            <a:pPr algn="ctr"/>
          </a:p>
        </p:txBody>
      </p:sp>
      <p:sp>
        <p:nvSpPr>
          <p:cNvPr id="66" name="Rectangle 13"/>
          <p:cNvSpPr/>
          <p:nvPr/>
        </p:nvSpPr>
        <p:spPr>
          <a:xfrm>
            <a:off x="644525" y="1964690"/>
            <a:ext cx="76200" cy="1334770"/>
          </a:xfrm>
          <a:prstGeom prst="rect">
            <a:avLst/>
          </a:prstGeom>
          <a:solidFill>
            <a:srgbClr val="1D5FA8"/>
          </a:solidFill>
          <a:ln>
            <a:noFill/>
          </a:ln>
        </p:spPr>
        <p:txBody>
          <a:bodyPr rtlCol="0" anchor="ctr"/>
          <a:lstStyle/>
          <a:p>
            <a:pPr algn="ctr"/>
          </a:p>
        </p:txBody>
      </p:sp>
      <p:sp>
        <p:nvSpPr>
          <p:cNvPr id="67" name="TextBox 14"/>
          <p:cNvSpPr txBox="1"/>
          <p:nvPr/>
        </p:nvSpPr>
        <p:spPr>
          <a:xfrm>
            <a:off x="909955" y="1964690"/>
            <a:ext cx="7122160" cy="1868805"/>
          </a:xfrm>
          <a:prstGeom prst="rect">
            <a:avLst/>
          </a:prstGeom>
          <a:noFill/>
        </p:spPr>
        <p:txBody>
          <a:bodyPr wrap="square">
            <a:spAutoFit/>
          </a:bodyPr>
          <a:lstStyle/>
          <a:p>
            <a:pPr algn="l">
              <a:spcBef>
                <a:spcPts val="600"/>
              </a:spcBef>
              <a:spcAft>
                <a:spcPts val="600"/>
              </a:spcAft>
            </a:pPr>
            <a:r>
              <a:rPr lang="zh-CN" sz="1650" b="0">
                <a:solidFill>
                  <a:srgbClr val="12304F"/>
                </a:solidFill>
                <a:latin typeface="Noto Sans SC" panose="020B0200000000000000" charset="-122"/>
                <a:ea typeface="Noto Sans SC" panose="020B0200000000000000" charset="-122"/>
                <a:cs typeface="Noto Sans SC" panose="020B0200000000000000" charset="-122"/>
              </a:rPr>
              <a:t>在建模中执行</a:t>
            </a:r>
            <a:r>
              <a:rPr sz="1650" b="0">
                <a:solidFill>
                  <a:srgbClr val="12304F"/>
                </a:solidFill>
                <a:latin typeface="Noto Sans SC" panose="020B0200000000000000" charset="-122"/>
                <a:ea typeface="Noto Sans SC" panose="020B0200000000000000" charset="-122"/>
                <a:cs typeface="Noto Sans SC" panose="020B0200000000000000" charset="-122"/>
              </a:rPr>
              <a:t>联接</a:t>
            </a:r>
            <a:r>
              <a:rPr lang="zh-CN" sz="1650" b="0">
                <a:solidFill>
                  <a:srgbClr val="12304F"/>
                </a:solidFill>
                <a:latin typeface="Noto Sans SC" panose="020B0200000000000000" charset="-122"/>
                <a:ea typeface="Noto Sans SC" panose="020B0200000000000000" charset="-122"/>
                <a:cs typeface="Noto Sans SC" panose="020B0200000000000000" charset="-122"/>
              </a:rPr>
              <a:t>操作，用于实现零件尺寸的匹配设计或用于在建模软件中直接进行运动仿真演示以及干涉检查等</a:t>
            </a:r>
            <a:endParaRPr lang="zh-CN" sz="1650" b="0">
              <a:solidFill>
                <a:srgbClr val="12304F"/>
              </a:solidFill>
              <a:latin typeface="Noto Sans SC" panose="020B0200000000000000" charset="-122"/>
              <a:ea typeface="Noto Sans SC" panose="020B0200000000000000" charset="-122"/>
              <a:cs typeface="Noto Sans SC" panose="020B0200000000000000" charset="-122"/>
            </a:endParaRPr>
          </a:p>
          <a:p>
            <a:pPr algn="l">
              <a:spcBef>
                <a:spcPts val="600"/>
              </a:spcBef>
              <a:spcAft>
                <a:spcPts val="600"/>
              </a:spcAft>
            </a:pPr>
            <a:r>
              <a:rPr lang="zh-CN" b="1">
                <a:solidFill>
                  <a:srgbClr val="12304F"/>
                </a:solidFill>
                <a:latin typeface="Noto Sans SC" panose="020B0200000000000000" charset="-122"/>
                <a:ea typeface="Noto Sans SC" panose="020B0200000000000000" charset="-122"/>
                <a:cs typeface="Noto Sans SC" panose="020B0200000000000000" charset="-122"/>
              </a:rPr>
              <a:t>联接：</a:t>
            </a:r>
            <a:r>
              <a:rPr lang="zh-CN" sz="1650" b="1">
                <a:solidFill>
                  <a:srgbClr val="FF0000"/>
                </a:solidFill>
                <a:latin typeface="Noto Sans SC" panose="020B0200000000000000" charset="-122"/>
                <a:ea typeface="Noto Sans SC" panose="020B0200000000000000" charset="-122"/>
                <a:cs typeface="Noto Sans SC" panose="020B0200000000000000" charset="-122"/>
              </a:rPr>
              <a:t>快捷键</a:t>
            </a:r>
            <a:r>
              <a:rPr lang="en-US" altLang="zh-CN" sz="1650" b="1">
                <a:solidFill>
                  <a:srgbClr val="FF0000"/>
                </a:solidFill>
                <a:latin typeface="Noto Sans SC" panose="020B0200000000000000" charset="-122"/>
                <a:ea typeface="Noto Sans SC" panose="020B0200000000000000" charset="-122"/>
                <a:cs typeface="Noto Sans SC" panose="020B0200000000000000" charset="-122"/>
              </a:rPr>
              <a:t>J </a:t>
            </a:r>
            <a:r>
              <a:rPr lang="zh-CN" altLang="en-US" sz="1650" b="0">
                <a:solidFill>
                  <a:srgbClr val="12304F"/>
                </a:solidFill>
                <a:latin typeface="Noto Sans SC" panose="020B0200000000000000" charset="-122"/>
                <a:ea typeface="Noto Sans SC" panose="020B0200000000000000" charset="-122"/>
                <a:cs typeface="Noto Sans SC" panose="020B0200000000000000" charset="-122"/>
              </a:rPr>
              <a:t>分别捕捉需要联接的两个零部件的联接点后完成联接</a:t>
            </a:r>
            <a:endParaRPr lang="en-US" altLang="zh-CN" sz="1650" b="0">
              <a:solidFill>
                <a:srgbClr val="12304F"/>
              </a:solidFill>
              <a:latin typeface="Noto Sans SC" panose="020B0200000000000000" charset="-122"/>
              <a:ea typeface="Noto Sans SC" panose="020B0200000000000000" charset="-122"/>
              <a:cs typeface="Noto Sans SC" panose="020B0200000000000000" charset="-122"/>
            </a:endParaRPr>
          </a:p>
          <a:p>
            <a:pPr algn="l">
              <a:spcBef>
                <a:spcPts val="600"/>
              </a:spcBef>
              <a:spcAft>
                <a:spcPts val="600"/>
              </a:spcAft>
            </a:pPr>
            <a:r>
              <a:rPr lang="zh-CN" b="1">
                <a:solidFill>
                  <a:srgbClr val="12304F"/>
                </a:solidFill>
                <a:latin typeface="Noto Sans SC" panose="020B0200000000000000" charset="-122"/>
                <a:ea typeface="Noto Sans SC" panose="020B0200000000000000" charset="-122"/>
                <a:cs typeface="Noto Sans SC" panose="020B0200000000000000" charset="-122"/>
              </a:rPr>
              <a:t>快速联接：</a:t>
            </a:r>
            <a:r>
              <a:rPr lang="zh-CN" sz="1650" b="1">
                <a:solidFill>
                  <a:srgbClr val="FF0000"/>
                </a:solidFill>
                <a:latin typeface="Noto Sans SC" panose="020B0200000000000000" charset="-122"/>
                <a:ea typeface="Noto Sans SC" panose="020B0200000000000000" charset="-122"/>
                <a:cs typeface="Noto Sans SC" panose="020B0200000000000000" charset="-122"/>
              </a:rPr>
              <a:t>快捷键</a:t>
            </a:r>
            <a:r>
              <a:rPr lang="en-US" altLang="zh-CN" sz="1650" b="1">
                <a:solidFill>
                  <a:srgbClr val="FF0000"/>
                </a:solidFill>
                <a:latin typeface="Noto Sans SC" panose="020B0200000000000000" charset="-122"/>
                <a:ea typeface="Noto Sans SC" panose="020B0200000000000000" charset="-122"/>
                <a:cs typeface="Noto Sans SC" panose="020B0200000000000000" charset="-122"/>
              </a:rPr>
              <a:t>shift+J </a:t>
            </a:r>
            <a:r>
              <a:rPr lang="zh-CN" altLang="en-US" sz="1650" b="0">
                <a:solidFill>
                  <a:srgbClr val="12304F"/>
                </a:solidFill>
                <a:latin typeface="Noto Sans SC" panose="020B0200000000000000" charset="-122"/>
                <a:ea typeface="Noto Sans SC" panose="020B0200000000000000" charset="-122"/>
                <a:cs typeface="Noto Sans SC" panose="020B0200000000000000" charset="-122"/>
              </a:rPr>
              <a:t>用于零件位置已经摆放到位的情况下快速联接</a:t>
            </a:r>
            <a:endParaRPr lang="zh-CN" sz="1650" b="0">
              <a:solidFill>
                <a:srgbClr val="12304F"/>
              </a:solidFill>
              <a:latin typeface="Noto Sans SC" panose="020B0200000000000000" charset="-122"/>
              <a:ea typeface="Noto Sans SC" panose="020B0200000000000000" charset="-122"/>
              <a:cs typeface="Noto Sans SC" panose="020B0200000000000000" charset="-122"/>
            </a:endParaRPr>
          </a:p>
          <a:p>
            <a:pPr algn="l">
              <a:spcBef>
                <a:spcPts val="600"/>
              </a:spcBef>
              <a:spcAft>
                <a:spcPts val="600"/>
              </a:spcAft>
            </a:pPr>
            <a:endParaRPr lang="zh-CN" sz="1650" b="0">
              <a:solidFill>
                <a:srgbClr val="12304F"/>
              </a:solidFill>
              <a:latin typeface="Noto Sans SC" panose="020B0200000000000000" charset="-122"/>
              <a:ea typeface="Noto Sans SC" panose="020B0200000000000000" charset="-122"/>
              <a:cs typeface="Noto Sans SC" panose="020B0200000000000000" charset="-122"/>
            </a:endParaRPr>
          </a:p>
        </p:txBody>
      </p:sp>
      <p:pic>
        <p:nvPicPr>
          <p:cNvPr id="68" name="图片 67"/>
          <p:cNvPicPr>
            <a:picLocks noChangeAspect="1"/>
          </p:cNvPicPr>
          <p:nvPr/>
        </p:nvPicPr>
        <p:blipFill>
          <a:blip r:embed="rId1"/>
          <a:stretch>
            <a:fillRect/>
          </a:stretch>
        </p:blipFill>
        <p:spPr>
          <a:xfrm>
            <a:off x="725170" y="4056380"/>
            <a:ext cx="4320540" cy="2306955"/>
          </a:xfrm>
          <a:prstGeom prst="roundRect">
            <a:avLst/>
          </a:prstGeom>
        </p:spPr>
      </p:pic>
      <p:pic>
        <p:nvPicPr>
          <p:cNvPr id="69" name="图片 68"/>
          <p:cNvPicPr>
            <a:picLocks noChangeAspect="1"/>
          </p:cNvPicPr>
          <p:nvPr/>
        </p:nvPicPr>
        <p:blipFill>
          <a:blip r:embed="rId2"/>
          <a:stretch>
            <a:fillRect/>
          </a:stretch>
        </p:blipFill>
        <p:spPr>
          <a:xfrm>
            <a:off x="6084570" y="4036060"/>
            <a:ext cx="3917950" cy="2347595"/>
          </a:xfrm>
          <a:prstGeom prst="round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3" name="Rectangle 2"/>
          <p:cNvSpPr/>
          <p:nvPr/>
        </p:nvSpPr>
        <p:spPr>
          <a:xfrm>
            <a:off x="0" y="0"/>
            <a:ext cx="12191695" cy="68580"/>
          </a:xfrm>
          <a:prstGeom prst="rect">
            <a:avLst/>
          </a:prstGeom>
          <a:solidFill>
            <a:srgbClr val="1D5FA8"/>
          </a:solidFill>
          <a:ln>
            <a:noFill/>
          </a:ln>
        </p:spPr>
        <p:txBody>
          <a:bodyPr rtlCol="0" anchor="ctr"/>
          <a:lstStyle/>
          <a:p>
            <a:pPr algn="ctr"/>
          </a:p>
        </p:txBody>
      </p:sp>
      <p:sp>
        <p:nvSpPr>
          <p:cNvPr id="4" name="Rounded Rectangle 3"/>
          <p:cNvSpPr/>
          <p:nvPr/>
        </p:nvSpPr>
        <p:spPr>
          <a:xfrm>
            <a:off x="594360" y="310896"/>
            <a:ext cx="1517904" cy="329184"/>
          </a:xfrm>
          <a:prstGeom prst="roundRect">
            <a:avLst/>
          </a:prstGeom>
          <a:solidFill>
            <a:srgbClr val="1D5FA8"/>
          </a:solidFill>
          <a:ln>
            <a:noFill/>
          </a:ln>
        </p:spPr>
        <p:txBody>
          <a:bodyPr rtlCol="0" anchor="ctr"/>
          <a:lstStyle/>
          <a:p>
            <a:pPr algn="ctr"/>
          </a:p>
        </p:txBody>
      </p:sp>
      <p:sp>
        <p:nvSpPr>
          <p:cNvPr id="5" name="TextBox 4"/>
          <p:cNvSpPr txBox="1"/>
          <p:nvPr/>
        </p:nvSpPr>
        <p:spPr>
          <a:xfrm>
            <a:off x="649224" y="310896"/>
            <a:ext cx="1408176" cy="329184"/>
          </a:xfrm>
          <a:prstGeom prst="rect">
            <a:avLst/>
          </a:prstGeom>
          <a:noFill/>
        </p:spPr>
        <p:txBody>
          <a:bodyPr wrap="square" anchor="ctr">
            <a:spAutoFit/>
          </a:bodyPr>
          <a:lstStyle/>
          <a:p>
            <a:pPr algn="ctr"/>
            <a:r>
              <a:rPr sz="1300" b="1">
                <a:solidFill>
                  <a:srgbClr val="FFFFFF"/>
                </a:solidFill>
                <a:latin typeface="Noto Sans SC" panose="020B0200000000000000" charset="-122"/>
                <a:ea typeface="Noto Sans SC" panose="020B0200000000000000" charset="-122"/>
                <a:cs typeface="Noto Sans SC" panose="020B0200000000000000" charset="-122"/>
              </a:rPr>
              <a:t>03  装配</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6" name="TextBox 5"/>
          <p:cNvSpPr txBox="1"/>
          <p:nvPr/>
        </p:nvSpPr>
        <p:spPr>
          <a:xfrm>
            <a:off x="2295144" y="338328"/>
            <a:ext cx="3840480" cy="274320"/>
          </a:xfrm>
          <a:prstGeom prst="rect">
            <a:avLst/>
          </a:prstGeom>
          <a:noFill/>
        </p:spPr>
        <p:txBody>
          <a:bodyPr wrap="square">
            <a:spAutoFit/>
          </a:bodyPr>
          <a:lstStyle/>
          <a:p>
            <a:pPr algn="l"/>
            <a:r>
              <a:rPr sz="1150" b="0">
                <a:solidFill>
                  <a:srgbClr val="6B7B8A"/>
                </a:solidFill>
                <a:latin typeface="Consolas" panose="020B0609020204030204"/>
                <a:ea typeface="Noto Sans SC" panose="020B0200000000000000" charset="-122"/>
                <a:cs typeface="Noto Sans SC" panose="020B0200000000000000" charset="-122"/>
              </a:rPr>
              <a:t>方法 18 · 校核到结构</a:t>
            </a:r>
            <a:endParaRPr sz="1150" b="0">
              <a:solidFill>
                <a:srgbClr val="6B7B8A"/>
              </a:solidFill>
              <a:latin typeface="Consolas" panose="020B0609020204030204"/>
              <a:ea typeface="Noto Sans SC" panose="020B0200000000000000" charset="-122"/>
              <a:cs typeface="Noto Sans SC" panose="020B0200000000000000" charset="-122"/>
            </a:endParaRPr>
          </a:p>
        </p:txBody>
      </p:sp>
      <p:sp>
        <p:nvSpPr>
          <p:cNvPr id="7" name="Rounded Rectangle 6"/>
          <p:cNvSpPr/>
          <p:nvPr/>
        </p:nvSpPr>
        <p:spPr>
          <a:xfrm>
            <a:off x="10262311" y="329184"/>
            <a:ext cx="1335024" cy="292608"/>
          </a:xfrm>
          <a:prstGeom prst="roundRect">
            <a:avLst/>
          </a:prstGeom>
          <a:solidFill>
            <a:srgbClr val="FFFFFF"/>
          </a:solidFill>
          <a:ln w="12700">
            <a:solidFill>
              <a:srgbClr val="C9D3DC"/>
            </a:solidFill>
          </a:ln>
        </p:spPr>
        <p:txBody>
          <a:bodyPr rtlCol="0" anchor="ctr"/>
          <a:lstStyle/>
          <a:p>
            <a:pPr algn="ctr"/>
          </a:p>
        </p:txBody>
      </p:sp>
      <p:sp>
        <p:nvSpPr>
          <p:cNvPr id="8" name="Rectangle 7"/>
          <p:cNvSpPr/>
          <p:nvPr/>
        </p:nvSpPr>
        <p:spPr>
          <a:xfrm>
            <a:off x="10381183" y="443484"/>
            <a:ext cx="68580" cy="68580"/>
          </a:xfrm>
          <a:prstGeom prst="rect">
            <a:avLst/>
          </a:prstGeom>
          <a:solidFill>
            <a:srgbClr val="C2571A"/>
          </a:solidFill>
          <a:ln>
            <a:noFill/>
          </a:ln>
        </p:spPr>
        <p:txBody>
          <a:bodyPr rtlCol="0" anchor="ctr"/>
          <a:lstStyle/>
          <a:p>
            <a:pPr algn="ctr"/>
          </a:p>
        </p:txBody>
      </p:sp>
      <p:sp>
        <p:nvSpPr>
          <p:cNvPr id="9" name="TextBox 8"/>
          <p:cNvSpPr txBox="1"/>
          <p:nvPr/>
        </p:nvSpPr>
        <p:spPr>
          <a:xfrm>
            <a:off x="10509199" y="329184"/>
            <a:ext cx="1042415" cy="292608"/>
          </a:xfrm>
          <a:prstGeom prst="rect">
            <a:avLst/>
          </a:prstGeom>
          <a:noFill/>
        </p:spPr>
        <p:txBody>
          <a:bodyPr wrap="square" anchor="ctr">
            <a:spAutoFit/>
          </a:bodyPr>
          <a:lstStyle/>
          <a:p>
            <a:pPr algn="l"/>
            <a:r>
              <a:rPr sz="1150" b="0">
                <a:solidFill>
                  <a:srgbClr val="23384C"/>
                </a:solidFill>
                <a:latin typeface="Consolas" panose="020B0609020204030204"/>
                <a:ea typeface="Noto Sans SC" panose="020B0200000000000000" charset="-122"/>
                <a:cs typeface="Noto Sans SC" panose="020B0200000000000000" charset="-122"/>
              </a:rPr>
              <a:t>Fusion 360</a:t>
            </a:r>
            <a:endParaRPr sz="1150" b="0">
              <a:solidFill>
                <a:srgbClr val="23384C"/>
              </a:solidFill>
              <a:latin typeface="Consolas" panose="020B0609020204030204"/>
              <a:ea typeface="Noto Sans SC" panose="020B0200000000000000" charset="-122"/>
              <a:cs typeface="Noto Sans SC" panose="020B0200000000000000" charset="-122"/>
            </a:endParaRPr>
          </a:p>
        </p:txBody>
      </p:sp>
      <p:sp>
        <p:nvSpPr>
          <p:cNvPr id="10" name="TextBox 9"/>
          <p:cNvSpPr txBox="1"/>
          <p:nvPr/>
        </p:nvSpPr>
        <p:spPr>
          <a:xfrm>
            <a:off x="594360" y="813943"/>
            <a:ext cx="10058400" cy="506730"/>
          </a:xfrm>
          <a:prstGeom prst="rect">
            <a:avLst/>
          </a:prstGeom>
          <a:noFill/>
        </p:spPr>
        <p:txBody>
          <a:bodyPr wrap="square">
            <a:spAutoFit/>
          </a:bodyPr>
          <a:lstStyle/>
          <a:p>
            <a:pPr algn="l"/>
            <a:r>
              <a:rPr lang="zh-CN" sz="2700" b="1">
                <a:solidFill>
                  <a:srgbClr val="12304F"/>
                </a:solidFill>
                <a:latin typeface="Noto Sans SC" panose="020B0200000000000000" charset="-122"/>
                <a:ea typeface="Noto Sans SC" panose="020B0200000000000000" charset="-122"/>
                <a:cs typeface="Noto Sans SC" panose="020B0200000000000000" charset="-122"/>
              </a:rPr>
              <a:t>联接运动介绍</a:t>
            </a:r>
            <a:endParaRPr lang="zh-CN" sz="270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11" name="TextBox 10"/>
          <p:cNvSpPr txBox="1"/>
          <p:nvPr/>
        </p:nvSpPr>
        <p:spPr>
          <a:xfrm>
            <a:off x="594360" y="1344168"/>
            <a:ext cx="10607040" cy="274320"/>
          </a:xfrm>
          <a:prstGeom prst="rect">
            <a:avLst/>
          </a:prstGeom>
          <a:noFill/>
        </p:spPr>
        <p:txBody>
          <a:bodyPr wrap="square">
            <a:spAutoFit/>
          </a:bodyPr>
          <a:lstStyle/>
          <a:p>
            <a:pPr algn="l"/>
            <a:r>
              <a:rPr sz="1350" b="0">
                <a:solidFill>
                  <a:srgbClr val="6B7B8A"/>
                </a:solidFill>
                <a:latin typeface="Noto Sans SC" panose="020B0200000000000000" charset="-122"/>
                <a:ea typeface="Noto Sans SC" panose="020B0200000000000000" charset="-122"/>
                <a:cs typeface="Noto Sans SC" panose="020B0200000000000000" charset="-122"/>
              </a:rPr>
              <a:t>最长臂展决定电机选型与结构加强</a:t>
            </a:r>
            <a:endParaRPr sz="13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12" name="Rectangle 11"/>
          <p:cNvSpPr/>
          <p:nvPr/>
        </p:nvSpPr>
        <p:spPr>
          <a:xfrm>
            <a:off x="594360" y="1700784"/>
            <a:ext cx="11002975" cy="12801"/>
          </a:xfrm>
          <a:prstGeom prst="rect">
            <a:avLst/>
          </a:prstGeom>
          <a:solidFill>
            <a:srgbClr val="C9D3DC"/>
          </a:solidFill>
          <a:ln>
            <a:noFill/>
          </a:ln>
        </p:spPr>
        <p:txBody>
          <a:bodyPr rtlCol="0" anchor="ctr"/>
          <a:lstStyle/>
          <a:p>
            <a:pPr algn="ctr"/>
          </a:p>
        </p:txBody>
      </p:sp>
      <p:sp>
        <p:nvSpPr>
          <p:cNvPr id="13" name="TextBox 12"/>
          <p:cNvSpPr txBox="1"/>
          <p:nvPr/>
        </p:nvSpPr>
        <p:spPr>
          <a:xfrm>
            <a:off x="10515600" y="6400800"/>
            <a:ext cx="1371600" cy="274320"/>
          </a:xfrm>
          <a:prstGeom prst="rect">
            <a:avLst/>
          </a:prstGeom>
          <a:noFill/>
        </p:spPr>
        <p:txBody>
          <a:bodyPr wrap="square">
            <a:spAutoFit/>
          </a:bodyPr>
          <a:lstStyle/>
          <a:p>
            <a:pPr algn="r"/>
            <a:r>
              <a:rPr sz="1000" b="0">
                <a:solidFill>
                  <a:srgbClr val="6B7B8A"/>
                </a:solidFill>
                <a:latin typeface="Noto Sans SC" panose="020B0200000000000000" charset="-122"/>
                <a:ea typeface="Noto Sans SC" panose="020B0200000000000000" charset="-122"/>
                <a:cs typeface="Noto Sans SC" panose="020B0200000000000000" charset="-122"/>
              </a:rPr>
              <a:t>24 / 34</a:t>
            </a:r>
            <a:endParaRPr sz="100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14" name="Rectangle 13"/>
          <p:cNvSpPr/>
          <p:nvPr/>
        </p:nvSpPr>
        <p:spPr>
          <a:xfrm>
            <a:off x="594360" y="3221990"/>
            <a:ext cx="4488180" cy="3277870"/>
          </a:xfrm>
          <a:prstGeom prst="rect">
            <a:avLst/>
          </a:prstGeom>
          <a:solidFill>
            <a:srgbClr val="FFFFFF"/>
          </a:solidFill>
          <a:ln w="12700">
            <a:solidFill>
              <a:srgbClr val="C9D3DC"/>
            </a:solidFill>
          </a:ln>
        </p:spPr>
        <p:txBody>
          <a:bodyPr rtlCol="0" anchor="ctr"/>
          <a:lstStyle/>
          <a:p>
            <a:pPr algn="ctr"/>
          </a:p>
        </p:txBody>
      </p:sp>
      <p:sp>
        <p:nvSpPr>
          <p:cNvPr id="15" name="TextBox 14"/>
          <p:cNvSpPr txBox="1"/>
          <p:nvPr/>
        </p:nvSpPr>
        <p:spPr>
          <a:xfrm>
            <a:off x="777240" y="3331718"/>
            <a:ext cx="4572000" cy="299085"/>
          </a:xfrm>
          <a:prstGeom prst="rect">
            <a:avLst/>
          </a:prstGeom>
          <a:noFill/>
        </p:spPr>
        <p:txBody>
          <a:bodyPr wrap="square">
            <a:spAutoFit/>
          </a:bodyPr>
          <a:lstStyle/>
          <a:p>
            <a:pPr algn="l"/>
            <a:r>
              <a:rPr lang="zh-CN" sz="1350" b="1">
                <a:solidFill>
                  <a:srgbClr val="12304F"/>
                </a:solidFill>
                <a:latin typeface="Noto Sans SC" panose="020B0200000000000000" charset="-122"/>
                <a:ea typeface="Noto Sans SC" panose="020B0200000000000000" charset="-122"/>
                <a:cs typeface="Noto Sans SC" panose="020B0200000000000000" charset="-122"/>
              </a:rPr>
              <a:t>刚性联接</a:t>
            </a:r>
            <a:endParaRPr lang="zh-CN" sz="135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24" name="TextBox 23"/>
          <p:cNvSpPr txBox="1"/>
          <p:nvPr/>
        </p:nvSpPr>
        <p:spPr>
          <a:xfrm>
            <a:off x="725170" y="5908675"/>
            <a:ext cx="5394960" cy="267970"/>
          </a:xfrm>
          <a:prstGeom prst="rect">
            <a:avLst/>
          </a:prstGeom>
          <a:noFill/>
        </p:spPr>
        <p:txBody>
          <a:bodyPr wrap="square">
            <a:spAutoFit/>
          </a:bodyPr>
          <a:lstStyle/>
          <a:p>
            <a:pPr algn="l"/>
            <a:r>
              <a:rPr lang="zh-CN" sz="1150" b="0">
                <a:solidFill>
                  <a:srgbClr val="23384C"/>
                </a:solidFill>
                <a:latin typeface="Noto Sans SC" panose="020B0200000000000000" charset="-122"/>
                <a:ea typeface="Noto Sans SC" panose="020B0200000000000000" charset="-122"/>
                <a:cs typeface="Noto Sans SC" panose="020B0200000000000000" charset="-122"/>
              </a:rPr>
              <a:t>分别捕捉两零件上一个点，两点之间刚性进行联接</a:t>
            </a:r>
            <a:endParaRPr lang="zh-CN" sz="11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49" name="Rectangle 13"/>
          <p:cNvSpPr/>
          <p:nvPr/>
        </p:nvSpPr>
        <p:spPr>
          <a:xfrm>
            <a:off x="5250180" y="3212465"/>
            <a:ext cx="4173855" cy="3300730"/>
          </a:xfrm>
          <a:prstGeom prst="rect">
            <a:avLst/>
          </a:prstGeom>
          <a:solidFill>
            <a:srgbClr val="FFFFFF"/>
          </a:solidFill>
          <a:ln w="12700">
            <a:solidFill>
              <a:srgbClr val="C9D3DC"/>
            </a:solidFill>
          </a:ln>
        </p:spPr>
        <p:txBody>
          <a:bodyPr rtlCol="0" anchor="ctr"/>
          <a:lstStyle/>
          <a:p>
            <a:pPr algn="ctr"/>
          </a:p>
        </p:txBody>
      </p:sp>
      <p:sp>
        <p:nvSpPr>
          <p:cNvPr id="50" name="TextBox 14"/>
          <p:cNvSpPr txBox="1"/>
          <p:nvPr/>
        </p:nvSpPr>
        <p:spPr>
          <a:xfrm>
            <a:off x="5433060" y="3322193"/>
            <a:ext cx="4572000" cy="299085"/>
          </a:xfrm>
          <a:prstGeom prst="rect">
            <a:avLst/>
          </a:prstGeom>
          <a:noFill/>
        </p:spPr>
        <p:txBody>
          <a:bodyPr wrap="square">
            <a:spAutoFit/>
          </a:bodyPr>
          <a:lstStyle/>
          <a:p>
            <a:pPr algn="l"/>
            <a:r>
              <a:rPr lang="zh-CN" sz="1350" b="1">
                <a:solidFill>
                  <a:srgbClr val="12304F"/>
                </a:solidFill>
                <a:latin typeface="Noto Sans SC" panose="020B0200000000000000" charset="-122"/>
                <a:ea typeface="Noto Sans SC" panose="020B0200000000000000" charset="-122"/>
                <a:cs typeface="Noto Sans SC" panose="020B0200000000000000" charset="-122"/>
              </a:rPr>
              <a:t>旋转联接</a:t>
            </a:r>
            <a:endParaRPr lang="zh-CN" sz="135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51" name="TextBox 23"/>
          <p:cNvSpPr txBox="1"/>
          <p:nvPr/>
        </p:nvSpPr>
        <p:spPr>
          <a:xfrm>
            <a:off x="5349240" y="5908675"/>
            <a:ext cx="5394960" cy="267970"/>
          </a:xfrm>
          <a:prstGeom prst="rect">
            <a:avLst/>
          </a:prstGeom>
          <a:noFill/>
        </p:spPr>
        <p:txBody>
          <a:bodyPr wrap="square">
            <a:spAutoFit/>
          </a:bodyPr>
          <a:lstStyle/>
          <a:p>
            <a:pPr algn="l"/>
            <a:r>
              <a:rPr lang="zh-CN" sz="1150">
                <a:solidFill>
                  <a:srgbClr val="23384C"/>
                </a:solidFill>
                <a:latin typeface="Noto Sans SC" panose="020B0200000000000000" charset="-122"/>
                <a:ea typeface="Noto Sans SC" panose="020B0200000000000000" charset="-122"/>
                <a:cs typeface="Noto Sans SC" panose="020B0200000000000000" charset="-122"/>
                <a:sym typeface="+mn-ea"/>
              </a:rPr>
              <a:t>分别捕捉两零件上一个点，两零件以捕捉点为中心旋转运动</a:t>
            </a:r>
            <a:endParaRPr lang="zh-CN" sz="1150">
              <a:solidFill>
                <a:srgbClr val="23384C"/>
              </a:solidFill>
              <a:latin typeface="Noto Sans SC" panose="020B0200000000000000" charset="-122"/>
              <a:ea typeface="Noto Sans SC" panose="020B0200000000000000" charset="-122"/>
              <a:cs typeface="Noto Sans SC" panose="020B0200000000000000" charset="-122"/>
              <a:sym typeface="+mn-ea"/>
            </a:endParaRPr>
          </a:p>
        </p:txBody>
      </p:sp>
      <p:sp>
        <p:nvSpPr>
          <p:cNvPr id="65" name="Rounded Rectangle 12"/>
          <p:cNvSpPr/>
          <p:nvPr/>
        </p:nvSpPr>
        <p:spPr>
          <a:xfrm>
            <a:off x="644525" y="1800225"/>
            <a:ext cx="7628255" cy="1334770"/>
          </a:xfrm>
          <a:prstGeom prst="roundRect">
            <a:avLst/>
          </a:prstGeom>
          <a:solidFill>
            <a:srgbClr val="FFFFFF"/>
          </a:solidFill>
          <a:ln w="12700">
            <a:solidFill>
              <a:srgbClr val="C9D3DC"/>
            </a:solidFill>
          </a:ln>
        </p:spPr>
        <p:txBody>
          <a:bodyPr rtlCol="0" anchor="ctr"/>
          <a:lstStyle/>
          <a:p>
            <a:pPr algn="ctr"/>
          </a:p>
        </p:txBody>
      </p:sp>
      <p:sp>
        <p:nvSpPr>
          <p:cNvPr id="66" name="Rectangle 13"/>
          <p:cNvSpPr/>
          <p:nvPr/>
        </p:nvSpPr>
        <p:spPr>
          <a:xfrm>
            <a:off x="648970" y="1800225"/>
            <a:ext cx="76200" cy="1334770"/>
          </a:xfrm>
          <a:prstGeom prst="rect">
            <a:avLst/>
          </a:prstGeom>
          <a:solidFill>
            <a:srgbClr val="1D5FA8"/>
          </a:solidFill>
          <a:ln>
            <a:noFill/>
          </a:ln>
        </p:spPr>
        <p:txBody>
          <a:bodyPr rtlCol="0" anchor="ctr"/>
          <a:lstStyle/>
          <a:p>
            <a:pPr algn="ctr"/>
          </a:p>
        </p:txBody>
      </p:sp>
      <p:sp>
        <p:nvSpPr>
          <p:cNvPr id="67" name="TextBox 14"/>
          <p:cNvSpPr txBox="1"/>
          <p:nvPr/>
        </p:nvSpPr>
        <p:spPr>
          <a:xfrm>
            <a:off x="909955" y="1964690"/>
            <a:ext cx="7122160" cy="1006475"/>
          </a:xfrm>
          <a:prstGeom prst="rect">
            <a:avLst/>
          </a:prstGeom>
          <a:noFill/>
        </p:spPr>
        <p:txBody>
          <a:bodyPr wrap="square">
            <a:spAutoFit/>
          </a:bodyPr>
          <a:lstStyle/>
          <a:p>
            <a:pPr algn="l">
              <a:spcBef>
                <a:spcPts val="600"/>
              </a:spcBef>
              <a:spcAft>
                <a:spcPts val="600"/>
              </a:spcAft>
            </a:pPr>
            <a:r>
              <a:rPr lang="zh-CN" sz="1650" b="0">
                <a:solidFill>
                  <a:srgbClr val="12304F"/>
                </a:solidFill>
                <a:latin typeface="Noto Sans SC" panose="020B0200000000000000" charset="-122"/>
                <a:ea typeface="Noto Sans SC" panose="020B0200000000000000" charset="-122"/>
                <a:cs typeface="Noto Sans SC" panose="020B0200000000000000" charset="-122"/>
              </a:rPr>
              <a:t>在建模中执行</a:t>
            </a:r>
            <a:r>
              <a:rPr sz="1650" b="0">
                <a:solidFill>
                  <a:srgbClr val="12304F"/>
                </a:solidFill>
                <a:latin typeface="Noto Sans SC" panose="020B0200000000000000" charset="-122"/>
                <a:ea typeface="Noto Sans SC" panose="020B0200000000000000" charset="-122"/>
                <a:cs typeface="Noto Sans SC" panose="020B0200000000000000" charset="-122"/>
              </a:rPr>
              <a:t>联接</a:t>
            </a:r>
            <a:r>
              <a:rPr lang="zh-CN" sz="1650" b="0">
                <a:solidFill>
                  <a:srgbClr val="12304F"/>
                </a:solidFill>
                <a:latin typeface="Noto Sans SC" panose="020B0200000000000000" charset="-122"/>
                <a:ea typeface="Noto Sans SC" panose="020B0200000000000000" charset="-122"/>
                <a:cs typeface="Noto Sans SC" panose="020B0200000000000000" charset="-122"/>
              </a:rPr>
              <a:t>操作，用于实现零件尺寸的匹配设计或用于在建模软件中直接进行运动仿真演示以及干涉检查等</a:t>
            </a:r>
            <a:endParaRPr lang="zh-CN" sz="1650" b="0">
              <a:solidFill>
                <a:srgbClr val="12304F"/>
              </a:solidFill>
              <a:latin typeface="Noto Sans SC" panose="020B0200000000000000" charset="-122"/>
              <a:ea typeface="Noto Sans SC" panose="020B0200000000000000" charset="-122"/>
              <a:cs typeface="Noto Sans SC" panose="020B0200000000000000" charset="-122"/>
            </a:endParaRPr>
          </a:p>
          <a:p>
            <a:pPr algn="l">
              <a:spcBef>
                <a:spcPts val="600"/>
              </a:spcBef>
              <a:spcAft>
                <a:spcPts val="600"/>
              </a:spcAft>
            </a:pPr>
            <a:r>
              <a:rPr lang="zh-CN" sz="1650" b="0">
                <a:solidFill>
                  <a:srgbClr val="12304F"/>
                </a:solidFill>
                <a:latin typeface="Noto Sans SC" panose="020B0200000000000000" charset="-122"/>
                <a:ea typeface="Noto Sans SC" panose="020B0200000000000000" charset="-122"/>
                <a:cs typeface="Noto Sans SC" panose="020B0200000000000000" charset="-122"/>
              </a:rPr>
              <a:t>在这里主要先介绍联接的几种类型</a:t>
            </a:r>
            <a:endParaRPr lang="zh-CN" sz="1650" b="0">
              <a:solidFill>
                <a:srgbClr val="12304F"/>
              </a:solidFill>
              <a:latin typeface="Noto Sans SC" panose="020B0200000000000000" charset="-122"/>
              <a:ea typeface="Noto Sans SC" panose="020B0200000000000000" charset="-122"/>
              <a:cs typeface="Noto Sans SC" panose="020B0200000000000000" charset="-122"/>
            </a:endParaRPr>
          </a:p>
        </p:txBody>
      </p:sp>
      <p:pic>
        <p:nvPicPr>
          <p:cNvPr id="2" name="图片 1"/>
          <p:cNvPicPr>
            <a:picLocks noChangeAspect="1"/>
          </p:cNvPicPr>
          <p:nvPr/>
        </p:nvPicPr>
        <p:blipFill>
          <a:blip r:embed="rId1"/>
          <a:srcRect b="9153"/>
          <a:stretch>
            <a:fillRect/>
          </a:stretch>
        </p:blipFill>
        <p:spPr>
          <a:xfrm>
            <a:off x="859155" y="3615055"/>
            <a:ext cx="3223895" cy="2199640"/>
          </a:xfrm>
          <a:prstGeom prst="roundRect">
            <a:avLst/>
          </a:prstGeom>
        </p:spPr>
      </p:pic>
      <p:pic>
        <p:nvPicPr>
          <p:cNvPr id="16" name="图片 15"/>
          <p:cNvPicPr>
            <a:picLocks noChangeAspect="1"/>
          </p:cNvPicPr>
          <p:nvPr/>
        </p:nvPicPr>
        <p:blipFill>
          <a:blip r:embed="rId2"/>
          <a:stretch>
            <a:fillRect/>
          </a:stretch>
        </p:blipFill>
        <p:spPr>
          <a:xfrm>
            <a:off x="5496560" y="3570605"/>
            <a:ext cx="3431540" cy="2235200"/>
          </a:xfrm>
          <a:prstGeom prst="round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3" name="Rectangle 2"/>
          <p:cNvSpPr/>
          <p:nvPr/>
        </p:nvSpPr>
        <p:spPr>
          <a:xfrm>
            <a:off x="0" y="0"/>
            <a:ext cx="12191695" cy="68580"/>
          </a:xfrm>
          <a:prstGeom prst="rect">
            <a:avLst/>
          </a:prstGeom>
          <a:solidFill>
            <a:srgbClr val="1D5FA8"/>
          </a:solidFill>
          <a:ln>
            <a:noFill/>
          </a:ln>
        </p:spPr>
        <p:txBody>
          <a:bodyPr rtlCol="0" anchor="ctr"/>
          <a:lstStyle/>
          <a:p>
            <a:pPr algn="ctr"/>
          </a:p>
        </p:txBody>
      </p:sp>
      <p:sp>
        <p:nvSpPr>
          <p:cNvPr id="4" name="Rounded Rectangle 3"/>
          <p:cNvSpPr/>
          <p:nvPr/>
        </p:nvSpPr>
        <p:spPr>
          <a:xfrm>
            <a:off x="594360" y="310896"/>
            <a:ext cx="1517904" cy="329184"/>
          </a:xfrm>
          <a:prstGeom prst="roundRect">
            <a:avLst/>
          </a:prstGeom>
          <a:solidFill>
            <a:srgbClr val="1D5FA8"/>
          </a:solidFill>
          <a:ln>
            <a:noFill/>
          </a:ln>
        </p:spPr>
        <p:txBody>
          <a:bodyPr rtlCol="0" anchor="ctr"/>
          <a:lstStyle/>
          <a:p>
            <a:pPr algn="ctr"/>
          </a:p>
        </p:txBody>
      </p:sp>
      <p:sp>
        <p:nvSpPr>
          <p:cNvPr id="5" name="TextBox 4"/>
          <p:cNvSpPr txBox="1"/>
          <p:nvPr/>
        </p:nvSpPr>
        <p:spPr>
          <a:xfrm>
            <a:off x="649224" y="310896"/>
            <a:ext cx="1408176" cy="329184"/>
          </a:xfrm>
          <a:prstGeom prst="rect">
            <a:avLst/>
          </a:prstGeom>
          <a:noFill/>
        </p:spPr>
        <p:txBody>
          <a:bodyPr wrap="square" anchor="ctr">
            <a:spAutoFit/>
          </a:bodyPr>
          <a:lstStyle/>
          <a:p>
            <a:pPr algn="ctr"/>
            <a:r>
              <a:rPr sz="1300" b="1">
                <a:solidFill>
                  <a:srgbClr val="FFFFFF"/>
                </a:solidFill>
                <a:latin typeface="Noto Sans SC" panose="020B0200000000000000" charset="-122"/>
                <a:ea typeface="Noto Sans SC" panose="020B0200000000000000" charset="-122"/>
                <a:cs typeface="Noto Sans SC" panose="020B0200000000000000" charset="-122"/>
              </a:rPr>
              <a:t>03  装配</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6" name="TextBox 5"/>
          <p:cNvSpPr txBox="1"/>
          <p:nvPr/>
        </p:nvSpPr>
        <p:spPr>
          <a:xfrm>
            <a:off x="2295144" y="338328"/>
            <a:ext cx="3840480" cy="274320"/>
          </a:xfrm>
          <a:prstGeom prst="rect">
            <a:avLst/>
          </a:prstGeom>
          <a:noFill/>
        </p:spPr>
        <p:txBody>
          <a:bodyPr wrap="square">
            <a:spAutoFit/>
          </a:bodyPr>
          <a:lstStyle/>
          <a:p>
            <a:pPr algn="l"/>
            <a:r>
              <a:rPr sz="1150" b="0">
                <a:solidFill>
                  <a:srgbClr val="6B7B8A"/>
                </a:solidFill>
                <a:latin typeface="Consolas" panose="020B0609020204030204"/>
                <a:ea typeface="Noto Sans SC" panose="020B0200000000000000" charset="-122"/>
                <a:cs typeface="Noto Sans SC" panose="020B0200000000000000" charset="-122"/>
              </a:rPr>
              <a:t>方法 18 · 校核到结构</a:t>
            </a:r>
            <a:endParaRPr sz="1150" b="0">
              <a:solidFill>
                <a:srgbClr val="6B7B8A"/>
              </a:solidFill>
              <a:latin typeface="Consolas" panose="020B0609020204030204"/>
              <a:ea typeface="Noto Sans SC" panose="020B0200000000000000" charset="-122"/>
              <a:cs typeface="Noto Sans SC" panose="020B0200000000000000" charset="-122"/>
            </a:endParaRPr>
          </a:p>
        </p:txBody>
      </p:sp>
      <p:sp>
        <p:nvSpPr>
          <p:cNvPr id="7" name="Rounded Rectangle 6"/>
          <p:cNvSpPr/>
          <p:nvPr/>
        </p:nvSpPr>
        <p:spPr>
          <a:xfrm>
            <a:off x="10262311" y="329184"/>
            <a:ext cx="1335024" cy="292608"/>
          </a:xfrm>
          <a:prstGeom prst="roundRect">
            <a:avLst/>
          </a:prstGeom>
          <a:solidFill>
            <a:srgbClr val="FFFFFF"/>
          </a:solidFill>
          <a:ln w="12700">
            <a:solidFill>
              <a:srgbClr val="C9D3DC"/>
            </a:solidFill>
          </a:ln>
        </p:spPr>
        <p:txBody>
          <a:bodyPr rtlCol="0" anchor="ctr"/>
          <a:lstStyle/>
          <a:p>
            <a:pPr algn="ctr"/>
          </a:p>
        </p:txBody>
      </p:sp>
      <p:sp>
        <p:nvSpPr>
          <p:cNvPr id="8" name="Rectangle 7"/>
          <p:cNvSpPr/>
          <p:nvPr/>
        </p:nvSpPr>
        <p:spPr>
          <a:xfrm>
            <a:off x="10381183" y="443484"/>
            <a:ext cx="68580" cy="68580"/>
          </a:xfrm>
          <a:prstGeom prst="rect">
            <a:avLst/>
          </a:prstGeom>
          <a:solidFill>
            <a:srgbClr val="C2571A"/>
          </a:solidFill>
          <a:ln>
            <a:noFill/>
          </a:ln>
        </p:spPr>
        <p:txBody>
          <a:bodyPr rtlCol="0" anchor="ctr"/>
          <a:lstStyle/>
          <a:p>
            <a:pPr algn="ctr"/>
          </a:p>
        </p:txBody>
      </p:sp>
      <p:sp>
        <p:nvSpPr>
          <p:cNvPr id="9" name="TextBox 8"/>
          <p:cNvSpPr txBox="1"/>
          <p:nvPr/>
        </p:nvSpPr>
        <p:spPr>
          <a:xfrm>
            <a:off x="10509199" y="329184"/>
            <a:ext cx="1042415" cy="292608"/>
          </a:xfrm>
          <a:prstGeom prst="rect">
            <a:avLst/>
          </a:prstGeom>
          <a:noFill/>
        </p:spPr>
        <p:txBody>
          <a:bodyPr wrap="square" anchor="ctr">
            <a:spAutoFit/>
          </a:bodyPr>
          <a:lstStyle/>
          <a:p>
            <a:pPr algn="l"/>
            <a:r>
              <a:rPr sz="1150" b="0">
                <a:solidFill>
                  <a:srgbClr val="23384C"/>
                </a:solidFill>
                <a:latin typeface="Consolas" panose="020B0609020204030204"/>
                <a:ea typeface="Noto Sans SC" panose="020B0200000000000000" charset="-122"/>
                <a:cs typeface="Noto Sans SC" panose="020B0200000000000000" charset="-122"/>
              </a:rPr>
              <a:t>Fusion 360</a:t>
            </a:r>
            <a:endParaRPr sz="1150" b="0">
              <a:solidFill>
                <a:srgbClr val="23384C"/>
              </a:solidFill>
              <a:latin typeface="Consolas" panose="020B0609020204030204"/>
              <a:ea typeface="Noto Sans SC" panose="020B0200000000000000" charset="-122"/>
              <a:cs typeface="Noto Sans SC" panose="020B0200000000000000" charset="-122"/>
            </a:endParaRPr>
          </a:p>
        </p:txBody>
      </p:sp>
      <p:sp>
        <p:nvSpPr>
          <p:cNvPr id="10" name="TextBox 9"/>
          <p:cNvSpPr txBox="1"/>
          <p:nvPr/>
        </p:nvSpPr>
        <p:spPr>
          <a:xfrm>
            <a:off x="594360" y="841248"/>
            <a:ext cx="10058400" cy="506730"/>
          </a:xfrm>
          <a:prstGeom prst="rect">
            <a:avLst/>
          </a:prstGeom>
          <a:noFill/>
        </p:spPr>
        <p:txBody>
          <a:bodyPr wrap="square">
            <a:spAutoFit/>
          </a:bodyPr>
          <a:lstStyle/>
          <a:p>
            <a:pPr algn="l"/>
            <a:r>
              <a:rPr lang="zh-CN" sz="2700" b="1">
                <a:solidFill>
                  <a:srgbClr val="12304F"/>
                </a:solidFill>
                <a:latin typeface="Noto Sans SC" panose="020B0200000000000000" charset="-122"/>
                <a:ea typeface="Noto Sans SC" panose="020B0200000000000000" charset="-122"/>
                <a:cs typeface="Noto Sans SC" panose="020B0200000000000000" charset="-122"/>
              </a:rPr>
              <a:t>联接运动介绍</a:t>
            </a:r>
            <a:endParaRPr lang="zh-CN" sz="270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11" name="TextBox 10"/>
          <p:cNvSpPr txBox="1"/>
          <p:nvPr/>
        </p:nvSpPr>
        <p:spPr>
          <a:xfrm>
            <a:off x="594360" y="1344168"/>
            <a:ext cx="10607040" cy="274320"/>
          </a:xfrm>
          <a:prstGeom prst="rect">
            <a:avLst/>
          </a:prstGeom>
          <a:noFill/>
        </p:spPr>
        <p:txBody>
          <a:bodyPr wrap="square">
            <a:spAutoFit/>
          </a:bodyPr>
          <a:lstStyle/>
          <a:p>
            <a:pPr algn="l"/>
            <a:r>
              <a:rPr sz="1350" b="0">
                <a:solidFill>
                  <a:srgbClr val="6B7B8A"/>
                </a:solidFill>
                <a:latin typeface="Noto Sans SC" panose="020B0200000000000000" charset="-122"/>
                <a:ea typeface="Noto Sans SC" panose="020B0200000000000000" charset="-122"/>
                <a:cs typeface="Noto Sans SC" panose="020B0200000000000000" charset="-122"/>
              </a:rPr>
              <a:t>最长臂展决定电机选型与结构加强</a:t>
            </a:r>
            <a:endParaRPr sz="13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12" name="Rectangle 11"/>
          <p:cNvSpPr/>
          <p:nvPr/>
        </p:nvSpPr>
        <p:spPr>
          <a:xfrm>
            <a:off x="594360" y="1700784"/>
            <a:ext cx="11002975" cy="12801"/>
          </a:xfrm>
          <a:prstGeom prst="rect">
            <a:avLst/>
          </a:prstGeom>
          <a:solidFill>
            <a:srgbClr val="C9D3DC"/>
          </a:solidFill>
          <a:ln>
            <a:noFill/>
          </a:ln>
        </p:spPr>
        <p:txBody>
          <a:bodyPr rtlCol="0" anchor="ctr"/>
          <a:lstStyle/>
          <a:p>
            <a:pPr algn="ctr"/>
          </a:p>
        </p:txBody>
      </p:sp>
      <p:sp>
        <p:nvSpPr>
          <p:cNvPr id="13" name="TextBox 12"/>
          <p:cNvSpPr txBox="1"/>
          <p:nvPr/>
        </p:nvSpPr>
        <p:spPr>
          <a:xfrm>
            <a:off x="10515600" y="6400800"/>
            <a:ext cx="1371600" cy="274320"/>
          </a:xfrm>
          <a:prstGeom prst="rect">
            <a:avLst/>
          </a:prstGeom>
          <a:noFill/>
        </p:spPr>
        <p:txBody>
          <a:bodyPr wrap="square">
            <a:spAutoFit/>
          </a:bodyPr>
          <a:lstStyle/>
          <a:p>
            <a:pPr algn="r"/>
            <a:r>
              <a:rPr sz="1000" b="0">
                <a:solidFill>
                  <a:srgbClr val="6B7B8A"/>
                </a:solidFill>
                <a:latin typeface="Noto Sans SC" panose="020B0200000000000000" charset="-122"/>
                <a:ea typeface="Noto Sans SC" panose="020B0200000000000000" charset="-122"/>
                <a:cs typeface="Noto Sans SC" panose="020B0200000000000000" charset="-122"/>
              </a:rPr>
              <a:t>24 / 34</a:t>
            </a:r>
            <a:endParaRPr sz="100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14" name="Rectangle 13"/>
          <p:cNvSpPr/>
          <p:nvPr/>
        </p:nvSpPr>
        <p:spPr>
          <a:xfrm>
            <a:off x="594360" y="3221990"/>
            <a:ext cx="4488180" cy="3277870"/>
          </a:xfrm>
          <a:prstGeom prst="rect">
            <a:avLst/>
          </a:prstGeom>
          <a:solidFill>
            <a:srgbClr val="FFFFFF"/>
          </a:solidFill>
          <a:ln w="12700">
            <a:solidFill>
              <a:srgbClr val="C9D3DC"/>
            </a:solidFill>
          </a:ln>
        </p:spPr>
        <p:txBody>
          <a:bodyPr rtlCol="0" anchor="ctr"/>
          <a:lstStyle/>
          <a:p>
            <a:pPr algn="ctr"/>
          </a:p>
        </p:txBody>
      </p:sp>
      <p:sp>
        <p:nvSpPr>
          <p:cNvPr id="15" name="TextBox 14"/>
          <p:cNvSpPr txBox="1"/>
          <p:nvPr/>
        </p:nvSpPr>
        <p:spPr>
          <a:xfrm>
            <a:off x="777240" y="3331718"/>
            <a:ext cx="4572000" cy="299085"/>
          </a:xfrm>
          <a:prstGeom prst="rect">
            <a:avLst/>
          </a:prstGeom>
          <a:noFill/>
        </p:spPr>
        <p:txBody>
          <a:bodyPr wrap="square">
            <a:spAutoFit/>
          </a:bodyPr>
          <a:lstStyle/>
          <a:p>
            <a:pPr algn="l"/>
            <a:r>
              <a:rPr lang="zh-CN" sz="1350" b="1">
                <a:solidFill>
                  <a:srgbClr val="12304F"/>
                </a:solidFill>
                <a:latin typeface="Noto Sans SC" panose="020B0200000000000000" charset="-122"/>
                <a:ea typeface="Noto Sans SC" panose="020B0200000000000000" charset="-122"/>
                <a:cs typeface="Noto Sans SC" panose="020B0200000000000000" charset="-122"/>
              </a:rPr>
              <a:t>滑块联接</a:t>
            </a:r>
            <a:endParaRPr lang="zh-CN" sz="135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24" name="TextBox 23"/>
          <p:cNvSpPr txBox="1"/>
          <p:nvPr/>
        </p:nvSpPr>
        <p:spPr>
          <a:xfrm>
            <a:off x="725170" y="5908675"/>
            <a:ext cx="3841115" cy="558800"/>
          </a:xfrm>
          <a:prstGeom prst="rect">
            <a:avLst/>
          </a:prstGeom>
          <a:noFill/>
        </p:spPr>
        <p:txBody>
          <a:bodyPr wrap="square">
            <a:noAutofit/>
          </a:bodyPr>
          <a:lstStyle/>
          <a:p>
            <a:pPr algn="l"/>
            <a:r>
              <a:rPr lang="zh-CN" sz="1150" b="0">
                <a:solidFill>
                  <a:srgbClr val="23384C"/>
                </a:solidFill>
                <a:latin typeface="Noto Sans SC" panose="020B0200000000000000" charset="-122"/>
                <a:ea typeface="Noto Sans SC" panose="020B0200000000000000" charset="-122"/>
                <a:cs typeface="Noto Sans SC" panose="020B0200000000000000" charset="-122"/>
              </a:rPr>
              <a:t>分别捕捉两零件上一个点，以及运动方向线，零件沿运动方向线做直线运动</a:t>
            </a:r>
            <a:endParaRPr lang="zh-CN" sz="11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49" name="Rectangle 13"/>
          <p:cNvSpPr/>
          <p:nvPr/>
        </p:nvSpPr>
        <p:spPr>
          <a:xfrm>
            <a:off x="5250180" y="3212465"/>
            <a:ext cx="4218305" cy="3300730"/>
          </a:xfrm>
          <a:prstGeom prst="rect">
            <a:avLst/>
          </a:prstGeom>
          <a:solidFill>
            <a:srgbClr val="FFFFFF"/>
          </a:solidFill>
          <a:ln w="12700">
            <a:solidFill>
              <a:srgbClr val="C9D3DC"/>
            </a:solidFill>
          </a:ln>
        </p:spPr>
        <p:txBody>
          <a:bodyPr rtlCol="0" anchor="ctr"/>
          <a:lstStyle/>
          <a:p>
            <a:pPr algn="ctr"/>
          </a:p>
        </p:txBody>
      </p:sp>
      <p:sp>
        <p:nvSpPr>
          <p:cNvPr id="50" name="TextBox 14"/>
          <p:cNvSpPr txBox="1"/>
          <p:nvPr/>
        </p:nvSpPr>
        <p:spPr>
          <a:xfrm>
            <a:off x="5433060" y="3322193"/>
            <a:ext cx="4572000" cy="299085"/>
          </a:xfrm>
          <a:prstGeom prst="rect">
            <a:avLst/>
          </a:prstGeom>
          <a:noFill/>
        </p:spPr>
        <p:txBody>
          <a:bodyPr wrap="square">
            <a:spAutoFit/>
          </a:bodyPr>
          <a:lstStyle/>
          <a:p>
            <a:pPr algn="l"/>
            <a:r>
              <a:rPr lang="zh-CN" sz="1350" b="1">
                <a:solidFill>
                  <a:srgbClr val="12304F"/>
                </a:solidFill>
                <a:latin typeface="Noto Sans SC" panose="020B0200000000000000" charset="-122"/>
                <a:ea typeface="Noto Sans SC" panose="020B0200000000000000" charset="-122"/>
                <a:cs typeface="Noto Sans SC" panose="020B0200000000000000" charset="-122"/>
              </a:rPr>
              <a:t>圆柱联接</a:t>
            </a:r>
            <a:endParaRPr lang="zh-CN" sz="135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51" name="TextBox 23"/>
          <p:cNvSpPr txBox="1"/>
          <p:nvPr/>
        </p:nvSpPr>
        <p:spPr>
          <a:xfrm>
            <a:off x="5349240" y="5959475"/>
            <a:ext cx="4090670" cy="441960"/>
          </a:xfrm>
          <a:prstGeom prst="rect">
            <a:avLst/>
          </a:prstGeom>
          <a:noFill/>
        </p:spPr>
        <p:txBody>
          <a:bodyPr wrap="square">
            <a:noAutofit/>
          </a:bodyPr>
          <a:lstStyle/>
          <a:p>
            <a:pPr algn="l"/>
            <a:r>
              <a:rPr lang="zh-CN" sz="1150">
                <a:solidFill>
                  <a:srgbClr val="23384C"/>
                </a:solidFill>
                <a:latin typeface="Noto Sans SC" panose="020B0200000000000000" charset="-122"/>
                <a:ea typeface="Noto Sans SC" panose="020B0200000000000000" charset="-122"/>
                <a:cs typeface="Noto Sans SC" panose="020B0200000000000000" charset="-122"/>
                <a:sym typeface="+mn-ea"/>
              </a:rPr>
              <a:t>分别捕捉两零件上一个点，两零件以捕捉点圆心，在捕捉平面垂直方向做类似拧螺丝的上下旋转运动</a:t>
            </a:r>
            <a:endParaRPr lang="zh-CN" sz="1150">
              <a:solidFill>
                <a:srgbClr val="23384C"/>
              </a:solidFill>
              <a:latin typeface="Noto Sans SC" panose="020B0200000000000000" charset="-122"/>
              <a:ea typeface="Noto Sans SC" panose="020B0200000000000000" charset="-122"/>
              <a:cs typeface="Noto Sans SC" panose="020B0200000000000000" charset="-122"/>
              <a:sym typeface="+mn-ea"/>
            </a:endParaRPr>
          </a:p>
        </p:txBody>
      </p:sp>
      <p:sp>
        <p:nvSpPr>
          <p:cNvPr id="65" name="Rounded Rectangle 12"/>
          <p:cNvSpPr/>
          <p:nvPr/>
        </p:nvSpPr>
        <p:spPr>
          <a:xfrm>
            <a:off x="644525" y="1800225"/>
            <a:ext cx="7628255" cy="1334770"/>
          </a:xfrm>
          <a:prstGeom prst="roundRect">
            <a:avLst/>
          </a:prstGeom>
          <a:solidFill>
            <a:srgbClr val="FFFFFF"/>
          </a:solidFill>
          <a:ln w="12700">
            <a:solidFill>
              <a:srgbClr val="C9D3DC"/>
            </a:solidFill>
          </a:ln>
        </p:spPr>
        <p:txBody>
          <a:bodyPr rtlCol="0" anchor="ctr"/>
          <a:lstStyle/>
          <a:p>
            <a:pPr algn="ctr"/>
          </a:p>
        </p:txBody>
      </p:sp>
      <p:sp>
        <p:nvSpPr>
          <p:cNvPr id="66" name="Rectangle 13"/>
          <p:cNvSpPr/>
          <p:nvPr/>
        </p:nvSpPr>
        <p:spPr>
          <a:xfrm>
            <a:off x="648970" y="1800225"/>
            <a:ext cx="76200" cy="1334770"/>
          </a:xfrm>
          <a:prstGeom prst="rect">
            <a:avLst/>
          </a:prstGeom>
          <a:solidFill>
            <a:srgbClr val="1D5FA8"/>
          </a:solidFill>
          <a:ln>
            <a:noFill/>
          </a:ln>
        </p:spPr>
        <p:txBody>
          <a:bodyPr rtlCol="0" anchor="ctr"/>
          <a:lstStyle/>
          <a:p>
            <a:pPr algn="ctr"/>
          </a:p>
        </p:txBody>
      </p:sp>
      <p:sp>
        <p:nvSpPr>
          <p:cNvPr id="67" name="TextBox 14"/>
          <p:cNvSpPr txBox="1"/>
          <p:nvPr/>
        </p:nvSpPr>
        <p:spPr>
          <a:xfrm>
            <a:off x="909955" y="1964690"/>
            <a:ext cx="7122160" cy="1006475"/>
          </a:xfrm>
          <a:prstGeom prst="rect">
            <a:avLst/>
          </a:prstGeom>
          <a:noFill/>
        </p:spPr>
        <p:txBody>
          <a:bodyPr wrap="square">
            <a:spAutoFit/>
          </a:bodyPr>
          <a:lstStyle/>
          <a:p>
            <a:pPr algn="l">
              <a:spcBef>
                <a:spcPts val="600"/>
              </a:spcBef>
              <a:spcAft>
                <a:spcPts val="600"/>
              </a:spcAft>
            </a:pPr>
            <a:r>
              <a:rPr lang="zh-CN" sz="1650" b="0">
                <a:solidFill>
                  <a:srgbClr val="12304F"/>
                </a:solidFill>
                <a:latin typeface="Noto Sans SC" panose="020B0200000000000000" charset="-122"/>
                <a:ea typeface="Noto Sans SC" panose="020B0200000000000000" charset="-122"/>
                <a:cs typeface="Noto Sans SC" panose="020B0200000000000000" charset="-122"/>
              </a:rPr>
              <a:t>在建模中执行</a:t>
            </a:r>
            <a:r>
              <a:rPr sz="1650" b="0">
                <a:solidFill>
                  <a:srgbClr val="12304F"/>
                </a:solidFill>
                <a:latin typeface="Noto Sans SC" panose="020B0200000000000000" charset="-122"/>
                <a:ea typeface="Noto Sans SC" panose="020B0200000000000000" charset="-122"/>
                <a:cs typeface="Noto Sans SC" panose="020B0200000000000000" charset="-122"/>
              </a:rPr>
              <a:t>联接</a:t>
            </a:r>
            <a:r>
              <a:rPr lang="zh-CN" sz="1650" b="0">
                <a:solidFill>
                  <a:srgbClr val="12304F"/>
                </a:solidFill>
                <a:latin typeface="Noto Sans SC" panose="020B0200000000000000" charset="-122"/>
                <a:ea typeface="Noto Sans SC" panose="020B0200000000000000" charset="-122"/>
                <a:cs typeface="Noto Sans SC" panose="020B0200000000000000" charset="-122"/>
              </a:rPr>
              <a:t>操作，用于实现零件尺寸的匹配设计或用于在建模软件中直接进行运动仿真演示以及干涉检查等</a:t>
            </a:r>
            <a:endParaRPr lang="zh-CN" sz="1650" b="0">
              <a:solidFill>
                <a:srgbClr val="12304F"/>
              </a:solidFill>
              <a:latin typeface="Noto Sans SC" panose="020B0200000000000000" charset="-122"/>
              <a:ea typeface="Noto Sans SC" panose="020B0200000000000000" charset="-122"/>
              <a:cs typeface="Noto Sans SC" panose="020B0200000000000000" charset="-122"/>
            </a:endParaRPr>
          </a:p>
          <a:p>
            <a:pPr algn="l">
              <a:spcBef>
                <a:spcPts val="600"/>
              </a:spcBef>
              <a:spcAft>
                <a:spcPts val="600"/>
              </a:spcAft>
            </a:pPr>
            <a:r>
              <a:rPr lang="zh-CN" sz="1650" b="0">
                <a:solidFill>
                  <a:srgbClr val="12304F"/>
                </a:solidFill>
                <a:latin typeface="Noto Sans SC" panose="020B0200000000000000" charset="-122"/>
                <a:ea typeface="Noto Sans SC" panose="020B0200000000000000" charset="-122"/>
                <a:cs typeface="Noto Sans SC" panose="020B0200000000000000" charset="-122"/>
              </a:rPr>
              <a:t>在这里主要先介绍联接的几种类型</a:t>
            </a:r>
            <a:endParaRPr lang="zh-CN" sz="1650" b="0">
              <a:solidFill>
                <a:srgbClr val="12304F"/>
              </a:solidFill>
              <a:latin typeface="Noto Sans SC" panose="020B0200000000000000" charset="-122"/>
              <a:ea typeface="Noto Sans SC" panose="020B0200000000000000" charset="-122"/>
              <a:cs typeface="Noto Sans SC" panose="020B0200000000000000" charset="-122"/>
            </a:endParaRPr>
          </a:p>
        </p:txBody>
      </p:sp>
      <p:pic>
        <p:nvPicPr>
          <p:cNvPr id="16" name="图片 15"/>
          <p:cNvPicPr>
            <a:picLocks noChangeAspect="1"/>
          </p:cNvPicPr>
          <p:nvPr/>
        </p:nvPicPr>
        <p:blipFill>
          <a:blip r:embed="rId1"/>
          <a:stretch>
            <a:fillRect/>
          </a:stretch>
        </p:blipFill>
        <p:spPr>
          <a:xfrm>
            <a:off x="866140" y="3587750"/>
            <a:ext cx="3540125" cy="2328545"/>
          </a:xfrm>
          <a:prstGeom prst="roundRect">
            <a:avLst/>
          </a:prstGeom>
        </p:spPr>
      </p:pic>
      <p:pic>
        <p:nvPicPr>
          <p:cNvPr id="17" name="图片 16"/>
          <p:cNvPicPr>
            <a:picLocks noChangeAspect="1"/>
          </p:cNvPicPr>
          <p:nvPr/>
        </p:nvPicPr>
        <p:blipFill>
          <a:blip r:embed="rId2"/>
          <a:stretch>
            <a:fillRect/>
          </a:stretch>
        </p:blipFill>
        <p:spPr>
          <a:xfrm>
            <a:off x="5433060" y="3587115"/>
            <a:ext cx="3092450" cy="2372360"/>
          </a:xfrm>
          <a:prstGeom prst="round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pic>
        <p:nvPicPr>
          <p:cNvPr id="2" name="Picture 1" descr="447916673a97bd1f0e53b186d485eed5.png"/>
          <p:cNvPicPr>
            <a:picLocks noChangeAspect="1"/>
          </p:cNvPicPr>
          <p:nvPr/>
        </p:nvPicPr>
        <p:blipFill>
          <a:blip r:embed="rId1"/>
          <a:stretch>
            <a:fillRect/>
          </a:stretch>
        </p:blipFill>
        <p:spPr>
          <a:xfrm>
            <a:off x="0" y="0"/>
            <a:ext cx="12191695" cy="6858000"/>
          </a:xfrm>
          <a:prstGeom prst="rect">
            <a:avLst/>
          </a:prstGeom>
        </p:spPr>
      </p:pic>
      <p:sp>
        <p:nvSpPr>
          <p:cNvPr id="3" name="Rectangle 2"/>
          <p:cNvSpPr/>
          <p:nvPr/>
        </p:nvSpPr>
        <p:spPr>
          <a:xfrm>
            <a:off x="0" y="0"/>
            <a:ext cx="12191695" cy="68580"/>
          </a:xfrm>
          <a:prstGeom prst="rect">
            <a:avLst/>
          </a:prstGeom>
          <a:solidFill>
            <a:srgbClr val="6A4C93"/>
          </a:solidFill>
          <a:ln>
            <a:noFill/>
          </a:ln>
        </p:spPr>
        <p:txBody>
          <a:bodyPr rtlCol="0" anchor="ctr"/>
          <a:lstStyle/>
          <a:p>
            <a:pPr algn="ctr"/>
          </a:p>
        </p:txBody>
      </p:sp>
      <p:sp>
        <p:nvSpPr>
          <p:cNvPr id="4" name="TextBox 3"/>
          <p:cNvSpPr txBox="1"/>
          <p:nvPr/>
        </p:nvSpPr>
        <p:spPr>
          <a:xfrm>
            <a:off x="448056" y="1115568"/>
            <a:ext cx="4626864" cy="3118104"/>
          </a:xfrm>
          <a:prstGeom prst="rect">
            <a:avLst/>
          </a:prstGeom>
          <a:noFill/>
        </p:spPr>
        <p:txBody>
          <a:bodyPr wrap="square">
            <a:spAutoFit/>
          </a:bodyPr>
          <a:lstStyle/>
          <a:p>
            <a:pPr algn="l"/>
            <a:r>
              <a:rPr sz="17000" b="1">
                <a:solidFill>
                  <a:srgbClr val="6A4C93"/>
                </a:solidFill>
              </a:rPr>
              <a:t>04</a:t>
            </a:r>
            <a:endParaRPr sz="17000" b="1">
              <a:solidFill>
                <a:srgbClr val="6A4C93"/>
              </a:solidFill>
            </a:endParaRPr>
          </a:p>
        </p:txBody>
      </p:sp>
      <p:sp>
        <p:nvSpPr>
          <p:cNvPr id="5" name="TextBox 4"/>
          <p:cNvSpPr txBox="1"/>
          <p:nvPr/>
        </p:nvSpPr>
        <p:spPr>
          <a:xfrm>
            <a:off x="475488" y="1143000"/>
            <a:ext cx="4572000" cy="3063240"/>
          </a:xfrm>
          <a:prstGeom prst="rect">
            <a:avLst/>
          </a:prstGeom>
          <a:noFill/>
        </p:spPr>
        <p:txBody>
          <a:bodyPr wrap="square">
            <a:spAutoFit/>
          </a:bodyPr>
          <a:lstStyle/>
          <a:p>
            <a:pPr algn="l"/>
            <a:r>
              <a:rPr sz="17000" b="1">
                <a:solidFill>
                  <a:srgbClr val="FFFFFF"/>
                </a:solidFill>
              </a:rPr>
              <a:t>04</a:t>
            </a:r>
            <a:endParaRPr sz="17000" b="1">
              <a:solidFill>
                <a:srgbClr val="FFFFFF"/>
              </a:solidFill>
            </a:endParaRPr>
          </a:p>
        </p:txBody>
      </p:sp>
      <p:sp>
        <p:nvSpPr>
          <p:cNvPr id="6" name="TextBox 5"/>
          <p:cNvSpPr txBox="1"/>
          <p:nvPr/>
        </p:nvSpPr>
        <p:spPr>
          <a:xfrm>
            <a:off x="713232" y="3913632"/>
            <a:ext cx="4023360" cy="685800"/>
          </a:xfrm>
          <a:prstGeom prst="rect">
            <a:avLst/>
          </a:prstGeom>
          <a:noFill/>
        </p:spPr>
        <p:txBody>
          <a:bodyPr wrap="square">
            <a:spAutoFit/>
          </a:bodyPr>
          <a:lstStyle/>
          <a:p>
            <a:pPr algn="l"/>
            <a:r>
              <a:rPr sz="4400" b="1">
                <a:solidFill>
                  <a:srgbClr val="12304F"/>
                </a:solidFill>
                <a:latin typeface="Noto Sans SC" panose="020B0200000000000000" charset="-122"/>
                <a:ea typeface="Noto Sans SC" panose="020B0200000000000000" charset="-122"/>
                <a:cs typeface="Noto Sans SC" panose="020B0200000000000000" charset="-122"/>
              </a:rPr>
              <a:t>加工</a:t>
            </a:r>
            <a:endParaRPr sz="440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7" name="TextBox 6"/>
          <p:cNvSpPr txBox="1"/>
          <p:nvPr/>
        </p:nvSpPr>
        <p:spPr>
          <a:xfrm>
            <a:off x="749808" y="4626864"/>
            <a:ext cx="4206240" cy="256032"/>
          </a:xfrm>
          <a:prstGeom prst="rect">
            <a:avLst/>
          </a:prstGeom>
          <a:noFill/>
        </p:spPr>
        <p:txBody>
          <a:bodyPr wrap="square">
            <a:spAutoFit/>
          </a:bodyPr>
          <a:lstStyle/>
          <a:p>
            <a:pPr algn="l"/>
            <a:r>
              <a:rPr sz="1300" b="0">
                <a:solidFill>
                  <a:srgbClr val="6B7B8A"/>
                </a:solidFill>
                <a:latin typeface="Consolas" panose="020B0609020204030204"/>
                <a:ea typeface="Noto Sans SC" panose="020B0200000000000000" charset="-122"/>
                <a:cs typeface="Noto Sans SC" panose="020B0200000000000000" charset="-122"/>
              </a:rPr>
              <a:t>MANUFACTURING　MODULE 04</a:t>
            </a:r>
            <a:endParaRPr sz="1300" b="0">
              <a:solidFill>
                <a:srgbClr val="6B7B8A"/>
              </a:solidFill>
              <a:latin typeface="Consolas" panose="020B0609020204030204"/>
              <a:ea typeface="Noto Sans SC" panose="020B0200000000000000" charset="-122"/>
              <a:cs typeface="Noto Sans SC" panose="020B0200000000000000" charset="-122"/>
            </a:endParaRPr>
          </a:p>
        </p:txBody>
      </p:sp>
      <p:sp>
        <p:nvSpPr>
          <p:cNvPr id="8" name="Rectangle 7"/>
          <p:cNvSpPr/>
          <p:nvPr/>
        </p:nvSpPr>
        <p:spPr>
          <a:xfrm>
            <a:off x="749808" y="4956048"/>
            <a:ext cx="1005840" cy="41148"/>
          </a:xfrm>
          <a:prstGeom prst="rect">
            <a:avLst/>
          </a:prstGeom>
          <a:solidFill>
            <a:srgbClr val="6A4C93"/>
          </a:solidFill>
          <a:ln>
            <a:noFill/>
          </a:ln>
        </p:spPr>
        <p:txBody>
          <a:bodyPr rtlCol="0" anchor="ctr"/>
          <a:lstStyle/>
          <a:p>
            <a:pPr algn="ctr"/>
          </a:p>
        </p:txBody>
      </p:sp>
      <p:sp>
        <p:nvSpPr>
          <p:cNvPr id="9" name="TextBox 8"/>
          <p:cNvSpPr txBox="1"/>
          <p:nvPr/>
        </p:nvSpPr>
        <p:spPr>
          <a:xfrm>
            <a:off x="749808" y="5138928"/>
            <a:ext cx="4389120" cy="256032"/>
          </a:xfrm>
          <a:prstGeom prst="rect">
            <a:avLst/>
          </a:prstGeom>
          <a:noFill/>
        </p:spPr>
        <p:txBody>
          <a:bodyPr wrap="square">
            <a:spAutoFit/>
          </a:bodyPr>
          <a:lstStyle/>
          <a:p>
            <a:pPr algn="l"/>
            <a:r>
              <a:rPr sz="1200" b="0">
                <a:solidFill>
                  <a:srgbClr val="6B7B8A"/>
                </a:solidFill>
                <a:latin typeface="Consolas" panose="020B0609020204030204"/>
                <a:ea typeface="Noto Sans SC" panose="020B0200000000000000" charset="-122"/>
                <a:cs typeface="Noto Sans SC" panose="020B0200000000000000" charset="-122"/>
              </a:rPr>
              <a:t>6 个方法  ·  建议 45 分钟</a:t>
            </a:r>
            <a:endParaRPr sz="1200" b="0">
              <a:solidFill>
                <a:srgbClr val="6B7B8A"/>
              </a:solidFill>
              <a:latin typeface="Consolas" panose="020B0609020204030204"/>
              <a:ea typeface="Noto Sans SC" panose="020B0200000000000000" charset="-122"/>
              <a:cs typeface="Noto Sans SC" panose="020B0200000000000000" charset="-122"/>
            </a:endParaRPr>
          </a:p>
        </p:txBody>
      </p:sp>
      <p:sp>
        <p:nvSpPr>
          <p:cNvPr id="10" name="Rectangle 9"/>
          <p:cNvSpPr/>
          <p:nvPr/>
        </p:nvSpPr>
        <p:spPr>
          <a:xfrm>
            <a:off x="749808" y="5431536"/>
            <a:ext cx="50292" cy="256032"/>
          </a:xfrm>
          <a:prstGeom prst="rect">
            <a:avLst/>
          </a:prstGeom>
          <a:solidFill>
            <a:srgbClr val="6A4C93"/>
          </a:solidFill>
          <a:ln>
            <a:noFill/>
          </a:ln>
        </p:spPr>
        <p:txBody>
          <a:bodyPr rtlCol="0" anchor="ctr"/>
          <a:lstStyle/>
          <a:p>
            <a:pPr algn="ctr"/>
          </a:p>
        </p:txBody>
      </p:sp>
      <p:sp>
        <p:nvSpPr>
          <p:cNvPr id="11" name="TextBox 10"/>
          <p:cNvSpPr txBox="1"/>
          <p:nvPr/>
        </p:nvSpPr>
        <p:spPr>
          <a:xfrm>
            <a:off x="914400" y="5431536"/>
            <a:ext cx="4023360" cy="256032"/>
          </a:xfrm>
          <a:prstGeom prst="rect">
            <a:avLst/>
          </a:prstGeom>
          <a:noFill/>
        </p:spPr>
        <p:txBody>
          <a:bodyPr wrap="square">
            <a:spAutoFit/>
          </a:bodyPr>
          <a:lstStyle/>
          <a:p>
            <a:pPr algn="l"/>
            <a:r>
              <a:rPr sz="1200" b="1">
                <a:solidFill>
                  <a:srgbClr val="6A4C93"/>
                </a:solidFill>
                <a:latin typeface="Noto Sans SC" panose="020B0200000000000000" charset="-122"/>
                <a:ea typeface="Noto Sans SC" panose="020B0200000000000000" charset="-122"/>
                <a:cs typeface="Noto Sans SC" panose="020B0200000000000000" charset="-122"/>
              </a:rPr>
              <a:t>案例：整车零件与线束</a:t>
            </a:r>
            <a:endParaRPr sz="1200" b="1">
              <a:solidFill>
                <a:srgbClr val="6A4C93"/>
              </a:solidFill>
              <a:latin typeface="Noto Sans SC" panose="020B0200000000000000" charset="-122"/>
              <a:ea typeface="Noto Sans SC" panose="020B0200000000000000" charset="-122"/>
              <a:cs typeface="Noto Sans SC" panose="020B0200000000000000" charset="-122"/>
            </a:endParaRPr>
          </a:p>
        </p:txBody>
      </p:sp>
      <p:sp>
        <p:nvSpPr>
          <p:cNvPr id="12" name="Rectangle 11"/>
          <p:cNvSpPr/>
          <p:nvPr/>
        </p:nvSpPr>
        <p:spPr>
          <a:xfrm>
            <a:off x="5870448" y="1298448"/>
            <a:ext cx="10972" cy="4480560"/>
          </a:xfrm>
          <a:prstGeom prst="rect">
            <a:avLst/>
          </a:prstGeom>
          <a:solidFill>
            <a:srgbClr val="C9D3DC"/>
          </a:solidFill>
          <a:ln>
            <a:noFill/>
          </a:ln>
        </p:spPr>
        <p:txBody>
          <a:bodyPr rtlCol="0" anchor="ctr"/>
          <a:lstStyle/>
          <a:p>
            <a:pPr algn="ctr"/>
          </a:p>
        </p:txBody>
      </p:sp>
      <p:sp>
        <p:nvSpPr>
          <p:cNvPr id="13" name="Rounded Rectangle 12"/>
          <p:cNvSpPr/>
          <p:nvPr/>
        </p:nvSpPr>
        <p:spPr>
          <a:xfrm>
            <a:off x="6355080" y="1371600"/>
            <a:ext cx="5239512" cy="1335024"/>
          </a:xfrm>
          <a:prstGeom prst="roundRect">
            <a:avLst/>
          </a:prstGeom>
          <a:solidFill>
            <a:srgbClr val="FFFFFF"/>
          </a:solidFill>
          <a:ln w="12700">
            <a:solidFill>
              <a:srgbClr val="C9D3DC"/>
            </a:solidFill>
          </a:ln>
        </p:spPr>
        <p:txBody>
          <a:bodyPr rtlCol="0" anchor="ctr"/>
          <a:lstStyle/>
          <a:p>
            <a:pPr algn="ctr"/>
          </a:p>
        </p:txBody>
      </p:sp>
      <p:sp>
        <p:nvSpPr>
          <p:cNvPr id="14" name="Rectangle 13"/>
          <p:cNvSpPr/>
          <p:nvPr/>
        </p:nvSpPr>
        <p:spPr>
          <a:xfrm>
            <a:off x="6355080" y="1371600"/>
            <a:ext cx="50292" cy="1335024"/>
          </a:xfrm>
          <a:prstGeom prst="rect">
            <a:avLst/>
          </a:prstGeom>
          <a:solidFill>
            <a:srgbClr val="6A4C93"/>
          </a:solidFill>
          <a:ln>
            <a:noFill/>
          </a:ln>
        </p:spPr>
        <p:txBody>
          <a:bodyPr rtlCol="0" anchor="ctr"/>
          <a:lstStyle/>
          <a:p>
            <a:pPr algn="ctr"/>
          </a:p>
        </p:txBody>
      </p:sp>
      <p:sp>
        <p:nvSpPr>
          <p:cNvPr id="15" name="TextBox 14"/>
          <p:cNvSpPr txBox="1"/>
          <p:nvPr/>
        </p:nvSpPr>
        <p:spPr>
          <a:xfrm>
            <a:off x="6620256" y="1536192"/>
            <a:ext cx="4892040" cy="1060704"/>
          </a:xfrm>
          <a:prstGeom prst="rect">
            <a:avLst/>
          </a:prstGeom>
          <a:noFill/>
        </p:spPr>
        <p:txBody>
          <a:bodyPr wrap="square">
            <a:spAutoFit/>
          </a:bodyPr>
          <a:lstStyle/>
          <a:p>
            <a:pPr algn="l">
              <a:spcBef>
                <a:spcPts val="600"/>
              </a:spcBef>
              <a:spcAft>
                <a:spcPts val="600"/>
              </a:spcAft>
            </a:pPr>
            <a:r>
              <a:rPr sz="1650" b="0">
                <a:solidFill>
                  <a:srgbClr val="12304F"/>
                </a:solidFill>
                <a:latin typeface="Noto Sans SC" panose="020B0200000000000000" charset="-122"/>
                <a:ea typeface="Noto Sans SC" panose="020B0200000000000000" charset="-122"/>
                <a:cs typeface="Noto Sans SC" panose="020B0200000000000000" charset="-122"/>
              </a:rPr>
              <a:t>设计完之后，怎么把模型稳定地变成零件，</a:t>
            </a:r>
            <a:endParaRPr sz="1650" b="0">
              <a:solidFill>
                <a:srgbClr val="12304F"/>
              </a:solidFill>
              <a:latin typeface="Noto Sans SC" panose="020B0200000000000000" charset="-122"/>
              <a:ea typeface="Noto Sans SC" panose="020B0200000000000000" charset="-122"/>
              <a:cs typeface="Noto Sans SC" panose="020B0200000000000000" charset="-122"/>
            </a:endParaRPr>
          </a:p>
          <a:p>
            <a:pPr algn="l">
              <a:spcBef>
                <a:spcPts val="600"/>
              </a:spcBef>
              <a:spcAft>
                <a:spcPts val="600"/>
              </a:spcAft>
            </a:pPr>
            <a:r>
              <a:rPr sz="1650" b="0">
                <a:solidFill>
                  <a:srgbClr val="12304F"/>
                </a:solidFill>
                <a:latin typeface="Noto Sans SC" panose="020B0200000000000000" charset="-122"/>
                <a:ea typeface="Noto Sans SC" panose="020B0200000000000000" charset="-122"/>
                <a:cs typeface="Noto Sans SC" panose="020B0200000000000000" charset="-122"/>
              </a:rPr>
              <a:t>并且每次都做得出来、装得上去？</a:t>
            </a:r>
            <a:endParaRPr sz="1650" b="0">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16" name="Rounded Rectangle 15"/>
          <p:cNvSpPr/>
          <p:nvPr/>
        </p:nvSpPr>
        <p:spPr>
          <a:xfrm>
            <a:off x="6355080" y="2944368"/>
            <a:ext cx="1655064" cy="530352"/>
          </a:xfrm>
          <a:prstGeom prst="roundRect">
            <a:avLst/>
          </a:prstGeom>
          <a:solidFill>
            <a:srgbClr val="FFFFFF"/>
          </a:solidFill>
          <a:ln w="12700">
            <a:solidFill>
              <a:srgbClr val="C9D3DC"/>
            </a:solidFill>
          </a:ln>
        </p:spPr>
        <p:txBody>
          <a:bodyPr rtlCol="0" anchor="ctr"/>
          <a:lstStyle/>
          <a:p>
            <a:pPr algn="ctr"/>
          </a:p>
        </p:txBody>
      </p:sp>
      <p:sp>
        <p:nvSpPr>
          <p:cNvPr id="17" name="TextBox 16"/>
          <p:cNvSpPr txBox="1"/>
          <p:nvPr/>
        </p:nvSpPr>
        <p:spPr>
          <a:xfrm>
            <a:off x="6409944" y="2944368"/>
            <a:ext cx="1545336" cy="530352"/>
          </a:xfrm>
          <a:prstGeom prst="rect">
            <a:avLst/>
          </a:prstGeom>
          <a:noFill/>
        </p:spPr>
        <p:txBody>
          <a:bodyPr wrap="square" anchor="ctr">
            <a:spAutoFit/>
          </a:bodyPr>
          <a:lstStyle/>
          <a:p>
            <a:pPr algn="ctr"/>
            <a:r>
              <a:rPr sz="1250" b="0">
                <a:solidFill>
                  <a:srgbClr val="23384C"/>
                </a:solidFill>
                <a:latin typeface="Noto Sans SC" panose="020B0200000000000000" charset="-122"/>
                <a:ea typeface="Noto Sans SC" panose="020B0200000000000000" charset="-122"/>
                <a:cs typeface="Noto Sans SC" panose="020B0200000000000000" charset="-122"/>
              </a:rPr>
              <a:t>切片与参数</a:t>
            </a:r>
            <a:endParaRPr sz="12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18" name="Rounded Rectangle 17"/>
          <p:cNvSpPr/>
          <p:nvPr/>
        </p:nvSpPr>
        <p:spPr>
          <a:xfrm>
            <a:off x="8147304" y="2944368"/>
            <a:ext cx="1655064" cy="530352"/>
          </a:xfrm>
          <a:prstGeom prst="roundRect">
            <a:avLst/>
          </a:prstGeom>
          <a:solidFill>
            <a:srgbClr val="FFFFFF"/>
          </a:solidFill>
          <a:ln w="12700">
            <a:solidFill>
              <a:srgbClr val="C9D3DC"/>
            </a:solidFill>
          </a:ln>
        </p:spPr>
        <p:txBody>
          <a:bodyPr rtlCol="0" anchor="ctr"/>
          <a:lstStyle/>
          <a:p>
            <a:pPr algn="ctr"/>
          </a:p>
        </p:txBody>
      </p:sp>
      <p:sp>
        <p:nvSpPr>
          <p:cNvPr id="19" name="TextBox 18"/>
          <p:cNvSpPr txBox="1"/>
          <p:nvPr/>
        </p:nvSpPr>
        <p:spPr>
          <a:xfrm>
            <a:off x="8202168" y="2944368"/>
            <a:ext cx="1545336" cy="530352"/>
          </a:xfrm>
          <a:prstGeom prst="rect">
            <a:avLst/>
          </a:prstGeom>
          <a:noFill/>
        </p:spPr>
        <p:txBody>
          <a:bodyPr wrap="square" anchor="ctr">
            <a:spAutoFit/>
          </a:bodyPr>
          <a:lstStyle/>
          <a:p>
            <a:pPr algn="ctr"/>
            <a:r>
              <a:rPr sz="1250" b="0">
                <a:solidFill>
                  <a:srgbClr val="23384C"/>
                </a:solidFill>
                <a:latin typeface="Noto Sans SC" panose="020B0200000000000000" charset="-122"/>
                <a:ea typeface="Noto Sans SC" panose="020B0200000000000000" charset="-122"/>
                <a:cs typeface="Noto Sans SC" panose="020B0200000000000000" charset="-122"/>
              </a:rPr>
              <a:t>材料选型</a:t>
            </a:r>
            <a:endParaRPr sz="12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0" name="Rounded Rectangle 19"/>
          <p:cNvSpPr/>
          <p:nvPr/>
        </p:nvSpPr>
        <p:spPr>
          <a:xfrm>
            <a:off x="9939528" y="2944368"/>
            <a:ext cx="1655064" cy="530352"/>
          </a:xfrm>
          <a:prstGeom prst="roundRect">
            <a:avLst/>
          </a:prstGeom>
          <a:solidFill>
            <a:srgbClr val="FFFFFF"/>
          </a:solidFill>
          <a:ln w="12700">
            <a:solidFill>
              <a:srgbClr val="C9D3DC"/>
            </a:solidFill>
          </a:ln>
        </p:spPr>
        <p:txBody>
          <a:bodyPr rtlCol="0" anchor="ctr"/>
          <a:lstStyle/>
          <a:p>
            <a:pPr algn="ctr"/>
          </a:p>
        </p:txBody>
      </p:sp>
      <p:sp>
        <p:nvSpPr>
          <p:cNvPr id="21" name="TextBox 20"/>
          <p:cNvSpPr txBox="1"/>
          <p:nvPr/>
        </p:nvSpPr>
        <p:spPr>
          <a:xfrm>
            <a:off x="9994392" y="2944368"/>
            <a:ext cx="1545336" cy="530352"/>
          </a:xfrm>
          <a:prstGeom prst="rect">
            <a:avLst/>
          </a:prstGeom>
          <a:noFill/>
        </p:spPr>
        <p:txBody>
          <a:bodyPr wrap="square" anchor="ctr">
            <a:spAutoFit/>
          </a:bodyPr>
          <a:lstStyle/>
          <a:p>
            <a:pPr algn="ctr"/>
            <a:r>
              <a:rPr sz="1250" b="0">
                <a:solidFill>
                  <a:srgbClr val="23384C"/>
                </a:solidFill>
                <a:latin typeface="Noto Sans SC" panose="020B0200000000000000" charset="-122"/>
                <a:ea typeface="Noto Sans SC" panose="020B0200000000000000" charset="-122"/>
                <a:cs typeface="Noto Sans SC" panose="020B0200000000000000" charset="-122"/>
              </a:rPr>
              <a:t>打印前检查</a:t>
            </a:r>
            <a:endParaRPr sz="12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2" name="Rounded Rectangle 21"/>
          <p:cNvSpPr/>
          <p:nvPr/>
        </p:nvSpPr>
        <p:spPr>
          <a:xfrm>
            <a:off x="6355080" y="3621024"/>
            <a:ext cx="1655064" cy="530352"/>
          </a:xfrm>
          <a:prstGeom prst="roundRect">
            <a:avLst/>
          </a:prstGeom>
          <a:solidFill>
            <a:srgbClr val="FFFFFF"/>
          </a:solidFill>
          <a:ln w="12700">
            <a:solidFill>
              <a:srgbClr val="C9D3DC"/>
            </a:solidFill>
          </a:ln>
        </p:spPr>
        <p:txBody>
          <a:bodyPr rtlCol="0" anchor="ctr"/>
          <a:lstStyle/>
          <a:p>
            <a:pPr algn="ctr"/>
          </a:p>
        </p:txBody>
      </p:sp>
      <p:sp>
        <p:nvSpPr>
          <p:cNvPr id="23" name="TextBox 22"/>
          <p:cNvSpPr txBox="1"/>
          <p:nvPr/>
        </p:nvSpPr>
        <p:spPr>
          <a:xfrm>
            <a:off x="6409944" y="3621024"/>
            <a:ext cx="1545336" cy="530352"/>
          </a:xfrm>
          <a:prstGeom prst="rect">
            <a:avLst/>
          </a:prstGeom>
          <a:noFill/>
        </p:spPr>
        <p:txBody>
          <a:bodyPr wrap="square" anchor="ctr">
            <a:spAutoFit/>
          </a:bodyPr>
          <a:lstStyle/>
          <a:p>
            <a:pPr algn="ctr"/>
            <a:r>
              <a:rPr sz="1250" b="0">
                <a:solidFill>
                  <a:srgbClr val="23384C"/>
                </a:solidFill>
                <a:latin typeface="Noto Sans SC" panose="020B0200000000000000" charset="-122"/>
                <a:ea typeface="Noto Sans SC" panose="020B0200000000000000" charset="-122"/>
                <a:cs typeface="Noto Sans SC" panose="020B0200000000000000" charset="-122"/>
              </a:rPr>
              <a:t>故障排查</a:t>
            </a:r>
            <a:endParaRPr sz="12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4" name="Rounded Rectangle 23"/>
          <p:cNvSpPr/>
          <p:nvPr/>
        </p:nvSpPr>
        <p:spPr>
          <a:xfrm>
            <a:off x="8147304" y="3621024"/>
            <a:ext cx="1655064" cy="530352"/>
          </a:xfrm>
          <a:prstGeom prst="roundRect">
            <a:avLst/>
          </a:prstGeom>
          <a:solidFill>
            <a:srgbClr val="FFFFFF"/>
          </a:solidFill>
          <a:ln w="12700">
            <a:solidFill>
              <a:srgbClr val="C9D3DC"/>
            </a:solidFill>
          </a:ln>
        </p:spPr>
        <p:txBody>
          <a:bodyPr rtlCol="0" anchor="ctr"/>
          <a:lstStyle/>
          <a:p>
            <a:pPr algn="ctr"/>
          </a:p>
        </p:txBody>
      </p:sp>
      <p:sp>
        <p:nvSpPr>
          <p:cNvPr id="25" name="TextBox 24"/>
          <p:cNvSpPr txBox="1"/>
          <p:nvPr/>
        </p:nvSpPr>
        <p:spPr>
          <a:xfrm>
            <a:off x="8202168" y="3621024"/>
            <a:ext cx="1545336" cy="530352"/>
          </a:xfrm>
          <a:prstGeom prst="rect">
            <a:avLst/>
          </a:prstGeom>
          <a:noFill/>
        </p:spPr>
        <p:txBody>
          <a:bodyPr wrap="square" anchor="ctr">
            <a:spAutoFit/>
          </a:bodyPr>
          <a:lstStyle/>
          <a:p>
            <a:pPr algn="ctr"/>
            <a:r>
              <a:rPr sz="1250" b="0">
                <a:solidFill>
                  <a:srgbClr val="23384C"/>
                </a:solidFill>
                <a:latin typeface="Noto Sans SC" panose="020B0200000000000000" charset="-122"/>
                <a:ea typeface="Noto Sans SC" panose="020B0200000000000000" charset="-122"/>
                <a:cs typeface="Noto Sans SC" panose="020B0200000000000000" charset="-122"/>
              </a:rPr>
              <a:t>紧固连接</a:t>
            </a:r>
            <a:endParaRPr sz="12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6" name="Rounded Rectangle 25"/>
          <p:cNvSpPr/>
          <p:nvPr/>
        </p:nvSpPr>
        <p:spPr>
          <a:xfrm>
            <a:off x="9939528" y="3621024"/>
            <a:ext cx="1655064" cy="530352"/>
          </a:xfrm>
          <a:prstGeom prst="roundRect">
            <a:avLst/>
          </a:prstGeom>
          <a:solidFill>
            <a:srgbClr val="FFFFFF"/>
          </a:solidFill>
          <a:ln w="12700">
            <a:solidFill>
              <a:srgbClr val="C9D3DC"/>
            </a:solidFill>
          </a:ln>
        </p:spPr>
        <p:txBody>
          <a:bodyPr rtlCol="0" anchor="ctr"/>
          <a:lstStyle/>
          <a:p>
            <a:pPr algn="ctr"/>
          </a:p>
        </p:txBody>
      </p:sp>
      <p:sp>
        <p:nvSpPr>
          <p:cNvPr id="27" name="TextBox 26"/>
          <p:cNvSpPr txBox="1"/>
          <p:nvPr/>
        </p:nvSpPr>
        <p:spPr>
          <a:xfrm>
            <a:off x="9994392" y="3621024"/>
            <a:ext cx="1545336" cy="530352"/>
          </a:xfrm>
          <a:prstGeom prst="rect">
            <a:avLst/>
          </a:prstGeom>
          <a:noFill/>
        </p:spPr>
        <p:txBody>
          <a:bodyPr wrap="square" anchor="ctr">
            <a:spAutoFit/>
          </a:bodyPr>
          <a:lstStyle/>
          <a:p>
            <a:pPr algn="ctr"/>
            <a:r>
              <a:rPr sz="1250" b="0">
                <a:solidFill>
                  <a:srgbClr val="23384C"/>
                </a:solidFill>
                <a:latin typeface="Noto Sans SC" panose="020B0200000000000000" charset="-122"/>
                <a:ea typeface="Noto Sans SC" panose="020B0200000000000000" charset="-122"/>
                <a:cs typeface="Noto Sans SC" panose="020B0200000000000000" charset="-122"/>
              </a:rPr>
              <a:t>线缆布线</a:t>
            </a:r>
            <a:endParaRPr sz="12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8" name="Rectangle 27"/>
          <p:cNvSpPr/>
          <p:nvPr/>
        </p:nvSpPr>
        <p:spPr>
          <a:xfrm>
            <a:off x="6355080" y="4370832"/>
            <a:ext cx="5239512" cy="932688"/>
          </a:xfrm>
          <a:prstGeom prst="rect">
            <a:avLst/>
          </a:prstGeom>
          <a:solidFill>
            <a:srgbClr val="FFFFFF"/>
          </a:solidFill>
          <a:ln w="9525">
            <a:solidFill>
              <a:srgbClr val="6A4C93"/>
            </a:solidFill>
            <a:prstDash val="dash"/>
          </a:ln>
        </p:spPr>
        <p:txBody>
          <a:bodyPr rtlCol="0" anchor="ctr"/>
          <a:lstStyle/>
          <a:p>
            <a:pPr algn="ctr"/>
          </a:p>
        </p:txBody>
      </p:sp>
      <p:sp>
        <p:nvSpPr>
          <p:cNvPr id="29" name="TextBox 28"/>
          <p:cNvSpPr txBox="1"/>
          <p:nvPr/>
        </p:nvSpPr>
        <p:spPr>
          <a:xfrm>
            <a:off x="6492240" y="4462272"/>
            <a:ext cx="4983480" cy="237744"/>
          </a:xfrm>
          <a:prstGeom prst="rect">
            <a:avLst/>
          </a:prstGeom>
          <a:noFill/>
        </p:spPr>
        <p:txBody>
          <a:bodyPr wrap="square">
            <a:spAutoFit/>
          </a:bodyPr>
          <a:lstStyle/>
          <a:p>
            <a:pPr algn="l"/>
            <a:r>
              <a:rPr sz="1100" b="0">
                <a:solidFill>
                  <a:srgbClr val="6A4C93"/>
                </a:solidFill>
                <a:latin typeface="Consolas" panose="020B0609020204030204"/>
                <a:ea typeface="Noto Sans SC" panose="020B0200000000000000" charset="-122"/>
                <a:cs typeface="Noto Sans SC" panose="020B0200000000000000" charset="-122"/>
              </a:rPr>
              <a:t>本模块产出（方法，不是零件）</a:t>
            </a:r>
            <a:endParaRPr sz="1100" b="0">
              <a:solidFill>
                <a:srgbClr val="6A4C93"/>
              </a:solidFill>
              <a:latin typeface="Consolas" panose="020B0609020204030204"/>
              <a:ea typeface="Noto Sans SC" panose="020B0200000000000000" charset="-122"/>
              <a:cs typeface="Noto Sans SC" panose="020B0200000000000000" charset="-122"/>
            </a:endParaRPr>
          </a:p>
        </p:txBody>
      </p:sp>
      <p:sp>
        <p:nvSpPr>
          <p:cNvPr id="30" name="TextBox 29"/>
          <p:cNvSpPr txBox="1"/>
          <p:nvPr/>
        </p:nvSpPr>
        <p:spPr>
          <a:xfrm>
            <a:off x="6492240" y="4700016"/>
            <a:ext cx="4983480" cy="566928"/>
          </a:xfrm>
          <a:prstGeom prst="rect">
            <a:avLst/>
          </a:prstGeom>
          <a:noFill/>
        </p:spPr>
        <p:txBody>
          <a:bodyPr wrap="square">
            <a:spAutoFit/>
          </a:bodyPr>
          <a:lstStyle/>
          <a:p>
            <a:pPr algn="l">
              <a:spcBef>
                <a:spcPts val="200"/>
              </a:spcBef>
              <a:spcAft>
                <a:spcPts val="200"/>
              </a:spcAft>
            </a:pPr>
            <a:r>
              <a:rPr sz="1200" b="0">
                <a:solidFill>
                  <a:srgbClr val="23384C"/>
                </a:solidFill>
                <a:latin typeface="Noto Sans SC" panose="020B0200000000000000" charset="-122"/>
                <a:ea typeface="Noto Sans SC" panose="020B0200000000000000" charset="-122"/>
                <a:cs typeface="Noto Sans SC" panose="020B0200000000000000" charset="-122"/>
              </a:rPr>
              <a:t>一套可复现的打印与装配工艺方法</a:t>
            </a:r>
            <a:endParaRPr sz="1200" b="0">
              <a:solidFill>
                <a:srgbClr val="23384C"/>
              </a:solidFill>
              <a:latin typeface="Noto Sans SC" panose="020B0200000000000000" charset="-122"/>
              <a:ea typeface="Noto Sans SC" panose="020B0200000000000000" charset="-122"/>
              <a:cs typeface="Noto Sans SC" panose="020B0200000000000000" charset="-122"/>
            </a:endParaRPr>
          </a:p>
          <a:p>
            <a:pPr algn="l">
              <a:spcBef>
                <a:spcPts val="200"/>
              </a:spcBef>
              <a:spcAft>
                <a:spcPts val="200"/>
              </a:spcAft>
            </a:pPr>
            <a:r>
              <a:rPr sz="1200" b="0">
                <a:solidFill>
                  <a:srgbClr val="23384C"/>
                </a:solidFill>
                <a:latin typeface="Noto Sans SC" panose="020B0200000000000000" charset="-122"/>
                <a:ea typeface="Noto Sans SC" panose="020B0200000000000000" charset="-122"/>
                <a:cs typeface="Noto Sans SC" panose="020B0200000000000000" charset="-122"/>
              </a:rPr>
              <a:t>＋检查清单与排障表</a:t>
            </a:r>
            <a:endParaRPr sz="120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31" name="TextBox 30"/>
          <p:cNvSpPr txBox="1"/>
          <p:nvPr/>
        </p:nvSpPr>
        <p:spPr>
          <a:xfrm>
            <a:off x="6355080" y="5504688"/>
            <a:ext cx="5212080" cy="292608"/>
          </a:xfrm>
          <a:prstGeom prst="rect">
            <a:avLst/>
          </a:prstGeom>
          <a:noFill/>
        </p:spPr>
        <p:txBody>
          <a:bodyPr wrap="square">
            <a:spAutoFit/>
          </a:bodyPr>
          <a:lstStyle/>
          <a:p>
            <a:pPr algn="l"/>
            <a:r>
              <a:rPr sz="1250" b="0">
                <a:solidFill>
                  <a:srgbClr val="6B7B8A"/>
                </a:solidFill>
                <a:latin typeface="Noto Sans SC" panose="020B0200000000000000" charset="-122"/>
                <a:ea typeface="Noto Sans SC" panose="020B0200000000000000" charset="-122"/>
                <a:cs typeface="Noto Sans SC" panose="020B0200000000000000" charset="-122"/>
              </a:rPr>
              <a:t>工艺方法不依赖具体零件。</a:t>
            </a:r>
            <a:endParaRPr sz="12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32" name="TextBox 31"/>
          <p:cNvSpPr txBox="1"/>
          <p:nvPr/>
        </p:nvSpPr>
        <p:spPr>
          <a:xfrm>
            <a:off x="10515600" y="6400800"/>
            <a:ext cx="1371600" cy="274320"/>
          </a:xfrm>
          <a:prstGeom prst="rect">
            <a:avLst/>
          </a:prstGeom>
          <a:noFill/>
        </p:spPr>
        <p:txBody>
          <a:bodyPr wrap="square">
            <a:spAutoFit/>
          </a:bodyPr>
          <a:lstStyle/>
          <a:p>
            <a:pPr algn="r"/>
            <a:r>
              <a:rPr sz="1000" b="0">
                <a:solidFill>
                  <a:srgbClr val="6B7B8A"/>
                </a:solidFill>
                <a:latin typeface="Noto Sans SC" panose="020B0200000000000000" charset="-122"/>
                <a:ea typeface="Noto Sans SC" panose="020B0200000000000000" charset="-122"/>
                <a:cs typeface="Noto Sans SC" panose="020B0200000000000000" charset="-122"/>
              </a:rPr>
              <a:t>25 / 34</a:t>
            </a:r>
            <a:endParaRPr sz="100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33" name="Rectangle 32"/>
          <p:cNvSpPr/>
          <p:nvPr/>
        </p:nvSpPr>
        <p:spPr>
          <a:xfrm>
            <a:off x="594360" y="6199632"/>
            <a:ext cx="11002975" cy="10972"/>
          </a:xfrm>
          <a:prstGeom prst="rect">
            <a:avLst/>
          </a:prstGeom>
          <a:solidFill>
            <a:srgbClr val="C9D3DC"/>
          </a:solidFill>
          <a:ln>
            <a:noFill/>
          </a:ln>
        </p:spPr>
        <p:txBody>
          <a:bodyPr rtlCol="0" anchor="ctr"/>
          <a:lstStyle/>
          <a:p>
            <a:pPr algn="ctr"/>
          </a:p>
        </p:txBody>
      </p:sp>
      <p:sp>
        <p:nvSpPr>
          <p:cNvPr id="34" name="TextBox 33"/>
          <p:cNvSpPr txBox="1"/>
          <p:nvPr/>
        </p:nvSpPr>
        <p:spPr>
          <a:xfrm>
            <a:off x="594360" y="6327648"/>
            <a:ext cx="8778240" cy="274320"/>
          </a:xfrm>
          <a:prstGeom prst="rect">
            <a:avLst/>
          </a:prstGeom>
          <a:noFill/>
        </p:spPr>
        <p:txBody>
          <a:bodyPr wrap="square">
            <a:spAutoFit/>
          </a:bodyPr>
          <a:lstStyle/>
          <a:p>
            <a:pPr algn="l"/>
            <a:r>
              <a:rPr sz="1100" b="0">
                <a:solidFill>
                  <a:srgbClr val="6B7B8A"/>
                </a:solidFill>
                <a:latin typeface="Noto Sans SC" panose="020B0200000000000000" charset="-122"/>
                <a:ea typeface="Noto Sans SC" panose="020B0200000000000000" charset="-122"/>
                <a:cs typeface="Noto Sans SC" panose="020B0200000000000000" charset="-122"/>
              </a:rPr>
              <a:t>模块方法清单见上方胶囊；案例仅用于演示，方法可迁移到任何零件。</a:t>
            </a:r>
            <a:endParaRPr sz="1100" b="0">
              <a:solidFill>
                <a:srgbClr val="6B7B8A"/>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pic>
        <p:nvPicPr>
          <p:cNvPr id="2" name="Picture 1" descr="447916673a97bd1f0e53b186d485eed5.png"/>
          <p:cNvPicPr>
            <a:picLocks noChangeAspect="1"/>
          </p:cNvPicPr>
          <p:nvPr/>
        </p:nvPicPr>
        <p:blipFill>
          <a:blip r:embed="rId1"/>
          <a:stretch>
            <a:fillRect/>
          </a:stretch>
        </p:blipFill>
        <p:spPr>
          <a:xfrm>
            <a:off x="0" y="0"/>
            <a:ext cx="12191695" cy="6858000"/>
          </a:xfrm>
          <a:prstGeom prst="rect">
            <a:avLst/>
          </a:prstGeom>
        </p:spPr>
      </p:pic>
      <p:sp>
        <p:nvSpPr>
          <p:cNvPr id="3" name="Rectangle 2"/>
          <p:cNvSpPr/>
          <p:nvPr/>
        </p:nvSpPr>
        <p:spPr>
          <a:xfrm>
            <a:off x="0" y="0"/>
            <a:ext cx="12191695" cy="68580"/>
          </a:xfrm>
          <a:prstGeom prst="rect">
            <a:avLst/>
          </a:prstGeom>
          <a:solidFill>
            <a:srgbClr val="6A4C93"/>
          </a:solidFill>
          <a:ln>
            <a:noFill/>
          </a:ln>
        </p:spPr>
        <p:txBody>
          <a:bodyPr rtlCol="0" anchor="ctr"/>
          <a:lstStyle/>
          <a:p>
            <a:pPr algn="ctr"/>
          </a:p>
        </p:txBody>
      </p:sp>
      <p:sp>
        <p:nvSpPr>
          <p:cNvPr id="4" name="Rounded Rectangle 3"/>
          <p:cNvSpPr/>
          <p:nvPr/>
        </p:nvSpPr>
        <p:spPr>
          <a:xfrm>
            <a:off x="594360" y="310896"/>
            <a:ext cx="1517904" cy="329184"/>
          </a:xfrm>
          <a:prstGeom prst="roundRect">
            <a:avLst/>
          </a:prstGeom>
          <a:solidFill>
            <a:srgbClr val="6A4C93"/>
          </a:solidFill>
          <a:ln>
            <a:noFill/>
          </a:ln>
        </p:spPr>
        <p:txBody>
          <a:bodyPr rtlCol="0" anchor="ctr"/>
          <a:lstStyle/>
          <a:p>
            <a:pPr algn="ctr"/>
          </a:p>
        </p:txBody>
      </p:sp>
      <p:sp>
        <p:nvSpPr>
          <p:cNvPr id="5" name="TextBox 4"/>
          <p:cNvSpPr txBox="1"/>
          <p:nvPr/>
        </p:nvSpPr>
        <p:spPr>
          <a:xfrm>
            <a:off x="649224" y="310896"/>
            <a:ext cx="1408176" cy="329184"/>
          </a:xfrm>
          <a:prstGeom prst="rect">
            <a:avLst/>
          </a:prstGeom>
          <a:noFill/>
        </p:spPr>
        <p:txBody>
          <a:bodyPr wrap="square" anchor="ctr">
            <a:spAutoFit/>
          </a:bodyPr>
          <a:lstStyle/>
          <a:p>
            <a:pPr algn="ctr"/>
            <a:r>
              <a:rPr sz="1300" b="1">
                <a:solidFill>
                  <a:srgbClr val="FFFFFF"/>
                </a:solidFill>
                <a:latin typeface="Noto Sans SC" panose="020B0200000000000000" charset="-122"/>
                <a:ea typeface="Noto Sans SC" panose="020B0200000000000000" charset="-122"/>
                <a:cs typeface="Noto Sans SC" panose="020B0200000000000000" charset="-122"/>
              </a:rPr>
              <a:t>04  加工</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6" name="TextBox 5"/>
          <p:cNvSpPr txBox="1"/>
          <p:nvPr/>
        </p:nvSpPr>
        <p:spPr>
          <a:xfrm>
            <a:off x="2295144" y="338328"/>
            <a:ext cx="3840480" cy="274320"/>
          </a:xfrm>
          <a:prstGeom prst="rect">
            <a:avLst/>
          </a:prstGeom>
          <a:noFill/>
        </p:spPr>
        <p:txBody>
          <a:bodyPr wrap="square">
            <a:spAutoFit/>
          </a:bodyPr>
          <a:lstStyle/>
          <a:p>
            <a:pPr algn="l"/>
            <a:r>
              <a:rPr sz="1150" b="0">
                <a:solidFill>
                  <a:srgbClr val="6B7B8A"/>
                </a:solidFill>
                <a:latin typeface="Consolas" panose="020B0609020204030204"/>
                <a:ea typeface="Noto Sans SC" panose="020B0200000000000000" charset="-122"/>
                <a:cs typeface="Noto Sans SC" panose="020B0200000000000000" charset="-122"/>
              </a:rPr>
              <a:t>方法 20 · 材料选型</a:t>
            </a:r>
            <a:endParaRPr sz="1150" b="0">
              <a:solidFill>
                <a:srgbClr val="6B7B8A"/>
              </a:solidFill>
              <a:latin typeface="Consolas" panose="020B0609020204030204"/>
              <a:ea typeface="Noto Sans SC" panose="020B0200000000000000" charset="-122"/>
              <a:cs typeface="Noto Sans SC" panose="020B0200000000000000" charset="-122"/>
            </a:endParaRPr>
          </a:p>
        </p:txBody>
      </p:sp>
      <p:sp>
        <p:nvSpPr>
          <p:cNvPr id="7" name="Rounded Rectangle 6"/>
          <p:cNvSpPr/>
          <p:nvPr/>
        </p:nvSpPr>
        <p:spPr>
          <a:xfrm>
            <a:off x="10070287" y="329184"/>
            <a:ext cx="1527048" cy="292608"/>
          </a:xfrm>
          <a:prstGeom prst="roundRect">
            <a:avLst/>
          </a:prstGeom>
          <a:solidFill>
            <a:srgbClr val="FFFFFF"/>
          </a:solidFill>
          <a:ln w="12700">
            <a:solidFill>
              <a:srgbClr val="C9D3DC"/>
            </a:solidFill>
          </a:ln>
        </p:spPr>
        <p:txBody>
          <a:bodyPr rtlCol="0" anchor="ctr"/>
          <a:lstStyle/>
          <a:p>
            <a:pPr algn="ctr"/>
          </a:p>
        </p:txBody>
      </p:sp>
      <p:sp>
        <p:nvSpPr>
          <p:cNvPr id="8" name="Rectangle 7"/>
          <p:cNvSpPr/>
          <p:nvPr/>
        </p:nvSpPr>
        <p:spPr>
          <a:xfrm>
            <a:off x="10189159" y="443484"/>
            <a:ext cx="68580" cy="68580"/>
          </a:xfrm>
          <a:prstGeom prst="rect">
            <a:avLst/>
          </a:prstGeom>
          <a:solidFill>
            <a:srgbClr val="2F7D53"/>
          </a:solidFill>
          <a:ln>
            <a:noFill/>
          </a:ln>
        </p:spPr>
        <p:txBody>
          <a:bodyPr rtlCol="0" anchor="ctr"/>
          <a:lstStyle/>
          <a:p>
            <a:pPr algn="ctr"/>
          </a:p>
        </p:txBody>
      </p:sp>
      <p:sp>
        <p:nvSpPr>
          <p:cNvPr id="9" name="TextBox 8"/>
          <p:cNvSpPr txBox="1"/>
          <p:nvPr/>
        </p:nvSpPr>
        <p:spPr>
          <a:xfrm>
            <a:off x="10317175" y="329184"/>
            <a:ext cx="1234439" cy="292608"/>
          </a:xfrm>
          <a:prstGeom prst="rect">
            <a:avLst/>
          </a:prstGeom>
          <a:noFill/>
        </p:spPr>
        <p:txBody>
          <a:bodyPr wrap="square" anchor="ctr">
            <a:spAutoFit/>
          </a:bodyPr>
          <a:lstStyle/>
          <a:p>
            <a:pPr algn="l"/>
            <a:r>
              <a:rPr sz="1150" b="0">
                <a:solidFill>
                  <a:srgbClr val="23384C"/>
                </a:solidFill>
                <a:latin typeface="Consolas" panose="020B0609020204030204"/>
                <a:ea typeface="Noto Sans SC" panose="020B0200000000000000" charset="-122"/>
                <a:cs typeface="Noto Sans SC" panose="020B0200000000000000" charset="-122"/>
              </a:rPr>
              <a:t>Bambu Studio</a:t>
            </a:r>
            <a:endParaRPr sz="1150" b="0">
              <a:solidFill>
                <a:srgbClr val="23384C"/>
              </a:solidFill>
              <a:latin typeface="Consolas" panose="020B0609020204030204"/>
              <a:ea typeface="Noto Sans SC" panose="020B0200000000000000" charset="-122"/>
              <a:cs typeface="Noto Sans SC" panose="020B0200000000000000" charset="-122"/>
            </a:endParaRPr>
          </a:p>
        </p:txBody>
      </p:sp>
      <p:sp>
        <p:nvSpPr>
          <p:cNvPr id="10" name="TextBox 9"/>
          <p:cNvSpPr txBox="1"/>
          <p:nvPr/>
        </p:nvSpPr>
        <p:spPr>
          <a:xfrm>
            <a:off x="594360" y="841248"/>
            <a:ext cx="10058400" cy="502920"/>
          </a:xfrm>
          <a:prstGeom prst="rect">
            <a:avLst/>
          </a:prstGeom>
          <a:noFill/>
        </p:spPr>
        <p:txBody>
          <a:bodyPr wrap="square">
            <a:spAutoFit/>
          </a:bodyPr>
          <a:lstStyle/>
          <a:p>
            <a:pPr algn="l"/>
            <a:r>
              <a:rPr sz="2700" b="1">
                <a:solidFill>
                  <a:srgbClr val="12304F"/>
                </a:solidFill>
                <a:latin typeface="Noto Sans SC" panose="020B0200000000000000" charset="-122"/>
                <a:ea typeface="Noto Sans SC" panose="020B0200000000000000" charset="-122"/>
                <a:cs typeface="Noto Sans SC" panose="020B0200000000000000" charset="-122"/>
              </a:rPr>
              <a:t>材料选型方法</a:t>
            </a:r>
            <a:endParaRPr sz="270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11" name="TextBox 10"/>
          <p:cNvSpPr txBox="1"/>
          <p:nvPr/>
        </p:nvSpPr>
        <p:spPr>
          <a:xfrm>
            <a:off x="594360" y="1344168"/>
            <a:ext cx="10607040" cy="274320"/>
          </a:xfrm>
          <a:prstGeom prst="rect">
            <a:avLst/>
          </a:prstGeom>
          <a:noFill/>
        </p:spPr>
        <p:txBody>
          <a:bodyPr wrap="square">
            <a:spAutoFit/>
          </a:bodyPr>
          <a:lstStyle/>
          <a:p>
            <a:pPr algn="l"/>
            <a:r>
              <a:rPr sz="1350" b="0">
                <a:solidFill>
                  <a:srgbClr val="6B7B8A"/>
                </a:solidFill>
                <a:latin typeface="Noto Sans SC" panose="020B0200000000000000" charset="-122"/>
                <a:ea typeface="Noto Sans SC" panose="020B0200000000000000" charset="-122"/>
                <a:cs typeface="Noto Sans SC" panose="020B0200000000000000" charset="-122"/>
              </a:rPr>
              <a:t>按使用场景选材料，不按手边有什么</a:t>
            </a:r>
            <a:endParaRPr sz="13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12" name="Rectangle 11"/>
          <p:cNvSpPr/>
          <p:nvPr/>
        </p:nvSpPr>
        <p:spPr>
          <a:xfrm>
            <a:off x="594360" y="1700784"/>
            <a:ext cx="11002975" cy="12801"/>
          </a:xfrm>
          <a:prstGeom prst="rect">
            <a:avLst/>
          </a:prstGeom>
          <a:solidFill>
            <a:srgbClr val="C9D3DC"/>
          </a:solidFill>
          <a:ln>
            <a:noFill/>
          </a:ln>
        </p:spPr>
        <p:txBody>
          <a:bodyPr rtlCol="0" anchor="ctr"/>
          <a:lstStyle/>
          <a:p>
            <a:pPr algn="ctr"/>
          </a:p>
        </p:txBody>
      </p:sp>
      <p:sp>
        <p:nvSpPr>
          <p:cNvPr id="13" name="TextBox 12"/>
          <p:cNvSpPr txBox="1"/>
          <p:nvPr/>
        </p:nvSpPr>
        <p:spPr>
          <a:xfrm>
            <a:off x="10515600" y="6400800"/>
            <a:ext cx="1371600" cy="274320"/>
          </a:xfrm>
          <a:prstGeom prst="rect">
            <a:avLst/>
          </a:prstGeom>
          <a:noFill/>
        </p:spPr>
        <p:txBody>
          <a:bodyPr wrap="square">
            <a:spAutoFit/>
          </a:bodyPr>
          <a:lstStyle/>
          <a:p>
            <a:pPr algn="r"/>
            <a:r>
              <a:rPr sz="1000" b="0">
                <a:solidFill>
                  <a:srgbClr val="6B7B8A"/>
                </a:solidFill>
                <a:latin typeface="Noto Sans SC" panose="020B0200000000000000" charset="-122"/>
                <a:ea typeface="Noto Sans SC" panose="020B0200000000000000" charset="-122"/>
                <a:cs typeface="Noto Sans SC" panose="020B0200000000000000" charset="-122"/>
              </a:rPr>
              <a:t>27 / 34</a:t>
            </a:r>
            <a:endParaRPr sz="100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14" name="Rectangle 13"/>
          <p:cNvSpPr/>
          <p:nvPr/>
        </p:nvSpPr>
        <p:spPr>
          <a:xfrm>
            <a:off x="594360" y="1965960"/>
            <a:ext cx="5806440" cy="2651760"/>
          </a:xfrm>
          <a:prstGeom prst="rect">
            <a:avLst/>
          </a:prstGeom>
          <a:solidFill>
            <a:srgbClr val="FFFFFF"/>
          </a:solidFill>
          <a:ln w="12700">
            <a:solidFill>
              <a:srgbClr val="C9D3DC"/>
            </a:solidFill>
          </a:ln>
        </p:spPr>
        <p:txBody>
          <a:bodyPr rtlCol="0" anchor="ctr"/>
          <a:lstStyle/>
          <a:p>
            <a:pPr algn="ctr"/>
          </a:p>
        </p:txBody>
      </p:sp>
      <p:sp>
        <p:nvSpPr>
          <p:cNvPr id="15" name="Rectangle 14"/>
          <p:cNvSpPr/>
          <p:nvPr/>
        </p:nvSpPr>
        <p:spPr>
          <a:xfrm>
            <a:off x="1097280" y="4069080"/>
            <a:ext cx="5029200" cy="10972"/>
          </a:xfrm>
          <a:prstGeom prst="rect">
            <a:avLst/>
          </a:prstGeom>
          <a:solidFill>
            <a:srgbClr val="C9D3DC"/>
          </a:solidFill>
          <a:ln>
            <a:noFill/>
          </a:ln>
        </p:spPr>
        <p:txBody>
          <a:bodyPr rtlCol="0" anchor="ctr"/>
          <a:lstStyle/>
          <a:p>
            <a:pPr algn="ctr"/>
          </a:p>
        </p:txBody>
      </p:sp>
      <p:sp>
        <p:nvSpPr>
          <p:cNvPr id="16" name="Rectangle 15"/>
          <p:cNvSpPr/>
          <p:nvPr/>
        </p:nvSpPr>
        <p:spPr>
          <a:xfrm>
            <a:off x="1097280" y="2286000"/>
            <a:ext cx="10972" cy="1783080"/>
          </a:xfrm>
          <a:prstGeom prst="rect">
            <a:avLst/>
          </a:prstGeom>
          <a:solidFill>
            <a:srgbClr val="C9D3DC"/>
          </a:solidFill>
          <a:ln>
            <a:noFill/>
          </a:ln>
        </p:spPr>
        <p:txBody>
          <a:bodyPr rtlCol="0" anchor="ctr"/>
          <a:lstStyle/>
          <a:p>
            <a:pPr algn="ctr"/>
          </a:p>
        </p:txBody>
      </p:sp>
      <p:sp>
        <p:nvSpPr>
          <p:cNvPr id="17" name="TextBox 16"/>
          <p:cNvSpPr txBox="1"/>
          <p:nvPr/>
        </p:nvSpPr>
        <p:spPr>
          <a:xfrm>
            <a:off x="4389120" y="4160520"/>
            <a:ext cx="1828800" cy="219456"/>
          </a:xfrm>
          <a:prstGeom prst="rect">
            <a:avLst/>
          </a:prstGeom>
          <a:noFill/>
        </p:spPr>
        <p:txBody>
          <a:bodyPr wrap="square">
            <a:spAutoFit/>
          </a:bodyPr>
          <a:lstStyle/>
          <a:p>
            <a:pPr algn="r"/>
            <a:r>
              <a:rPr sz="1050" b="0">
                <a:solidFill>
                  <a:srgbClr val="6B7B8A"/>
                </a:solidFill>
                <a:latin typeface="Noto Sans SC" panose="020B0200000000000000" charset="-122"/>
                <a:ea typeface="Noto Sans SC" panose="020B0200000000000000" charset="-122"/>
                <a:cs typeface="Noto Sans SC" panose="020B0200000000000000" charset="-122"/>
              </a:rPr>
              <a:t>打印难度 →</a:t>
            </a:r>
            <a:endParaRPr sz="10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18" name="TextBox 17"/>
          <p:cNvSpPr txBox="1"/>
          <p:nvPr/>
        </p:nvSpPr>
        <p:spPr>
          <a:xfrm>
            <a:off x="740664" y="2240279"/>
            <a:ext cx="310896" cy="219456"/>
          </a:xfrm>
          <a:prstGeom prst="rect">
            <a:avLst/>
          </a:prstGeom>
          <a:noFill/>
        </p:spPr>
        <p:txBody>
          <a:bodyPr wrap="square">
            <a:spAutoFit/>
          </a:bodyPr>
          <a:lstStyle/>
          <a:p>
            <a:pPr algn="l"/>
            <a:r>
              <a:rPr sz="1050" b="0">
                <a:solidFill>
                  <a:srgbClr val="6B7B8A"/>
                </a:solidFill>
                <a:latin typeface="Noto Sans SC" panose="020B0200000000000000" charset="-122"/>
                <a:ea typeface="Noto Sans SC" panose="020B0200000000000000" charset="-122"/>
                <a:cs typeface="Noto Sans SC" panose="020B0200000000000000" charset="-122"/>
              </a:rPr>
              <a:t>强</a:t>
            </a:r>
            <a:endParaRPr sz="10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19" name="TextBox 18"/>
          <p:cNvSpPr txBox="1"/>
          <p:nvPr/>
        </p:nvSpPr>
        <p:spPr>
          <a:xfrm>
            <a:off x="740664" y="2441448"/>
            <a:ext cx="310896" cy="219456"/>
          </a:xfrm>
          <a:prstGeom prst="rect">
            <a:avLst/>
          </a:prstGeom>
          <a:noFill/>
        </p:spPr>
        <p:txBody>
          <a:bodyPr wrap="square">
            <a:spAutoFit/>
          </a:bodyPr>
          <a:lstStyle/>
          <a:p>
            <a:pPr algn="l"/>
            <a:r>
              <a:rPr sz="1050" b="0">
                <a:solidFill>
                  <a:srgbClr val="6B7B8A"/>
                </a:solidFill>
                <a:latin typeface="Noto Sans SC" panose="020B0200000000000000" charset="-122"/>
                <a:ea typeface="Noto Sans SC" panose="020B0200000000000000" charset="-122"/>
                <a:cs typeface="Noto Sans SC" panose="020B0200000000000000" charset="-122"/>
              </a:rPr>
              <a:t>度</a:t>
            </a:r>
            <a:endParaRPr sz="10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20" name="TextBox 19"/>
          <p:cNvSpPr txBox="1"/>
          <p:nvPr/>
        </p:nvSpPr>
        <p:spPr>
          <a:xfrm>
            <a:off x="740664" y="2642615"/>
            <a:ext cx="310896" cy="219456"/>
          </a:xfrm>
          <a:prstGeom prst="rect">
            <a:avLst/>
          </a:prstGeom>
          <a:noFill/>
        </p:spPr>
        <p:txBody>
          <a:bodyPr wrap="square">
            <a:spAutoFit/>
          </a:bodyPr>
          <a:lstStyle/>
          <a:p>
            <a:pPr algn="l"/>
            <a:r>
              <a:rPr sz="1050" b="0">
                <a:solidFill>
                  <a:srgbClr val="6B7B8A"/>
                </a:solidFill>
                <a:latin typeface="Noto Sans SC" panose="020B0200000000000000" charset="-122"/>
                <a:ea typeface="Noto Sans SC" panose="020B0200000000000000" charset="-122"/>
                <a:cs typeface="Noto Sans SC" panose="020B0200000000000000" charset="-122"/>
              </a:rPr>
              <a:t>耐</a:t>
            </a:r>
            <a:endParaRPr sz="10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21" name="TextBox 20"/>
          <p:cNvSpPr txBox="1"/>
          <p:nvPr/>
        </p:nvSpPr>
        <p:spPr>
          <a:xfrm>
            <a:off x="740664" y="2843784"/>
            <a:ext cx="310896" cy="219456"/>
          </a:xfrm>
          <a:prstGeom prst="rect">
            <a:avLst/>
          </a:prstGeom>
          <a:noFill/>
        </p:spPr>
        <p:txBody>
          <a:bodyPr wrap="square">
            <a:spAutoFit/>
          </a:bodyPr>
          <a:lstStyle/>
          <a:p>
            <a:pPr algn="l"/>
            <a:r>
              <a:rPr sz="1050" b="0">
                <a:solidFill>
                  <a:srgbClr val="6B7B8A"/>
                </a:solidFill>
                <a:latin typeface="Noto Sans SC" panose="020B0200000000000000" charset="-122"/>
                <a:ea typeface="Noto Sans SC" panose="020B0200000000000000" charset="-122"/>
                <a:cs typeface="Noto Sans SC" panose="020B0200000000000000" charset="-122"/>
              </a:rPr>
              <a:t>温</a:t>
            </a:r>
            <a:endParaRPr sz="10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22" name="Oval 21"/>
          <p:cNvSpPr/>
          <p:nvPr/>
        </p:nvSpPr>
        <p:spPr>
          <a:xfrm>
            <a:off x="2107691" y="3305556"/>
            <a:ext cx="137160" cy="137160"/>
          </a:xfrm>
          <a:prstGeom prst="ellipse">
            <a:avLst/>
          </a:prstGeom>
          <a:solidFill>
            <a:srgbClr val="1D5FA8"/>
          </a:solidFill>
          <a:ln>
            <a:noFill/>
          </a:ln>
        </p:spPr>
        <p:txBody>
          <a:bodyPr rtlCol="0" anchor="ctr"/>
          <a:lstStyle/>
          <a:p>
            <a:pPr algn="ctr"/>
          </a:p>
        </p:txBody>
      </p:sp>
      <p:sp>
        <p:nvSpPr>
          <p:cNvPr id="23" name="TextBox 22"/>
          <p:cNvSpPr txBox="1"/>
          <p:nvPr/>
        </p:nvSpPr>
        <p:spPr>
          <a:xfrm>
            <a:off x="1316736" y="3236976"/>
            <a:ext cx="786384" cy="256032"/>
          </a:xfrm>
          <a:prstGeom prst="rect">
            <a:avLst/>
          </a:prstGeom>
          <a:noFill/>
        </p:spPr>
        <p:txBody>
          <a:bodyPr wrap="square" anchor="ctr">
            <a:spAutoFit/>
          </a:bodyPr>
          <a:lstStyle/>
          <a:p>
            <a:pPr algn="r"/>
            <a:r>
              <a:rPr sz="1100" b="0">
                <a:solidFill>
                  <a:srgbClr val="12304F"/>
                </a:solidFill>
                <a:latin typeface="Consolas" panose="020B0609020204030204"/>
                <a:ea typeface="Noto Sans SC" panose="020B0200000000000000" charset="-122"/>
                <a:cs typeface="Noto Sans SC" panose="020B0200000000000000" charset="-122"/>
              </a:rPr>
              <a:t>PLA</a:t>
            </a:r>
            <a:endParaRPr sz="1100" b="0">
              <a:solidFill>
                <a:srgbClr val="12304F"/>
              </a:solidFill>
              <a:latin typeface="Consolas" panose="020B0609020204030204"/>
              <a:ea typeface="Noto Sans SC" panose="020B0200000000000000" charset="-122"/>
              <a:cs typeface="Noto Sans SC" panose="020B0200000000000000" charset="-122"/>
            </a:endParaRPr>
          </a:p>
        </p:txBody>
      </p:sp>
      <p:sp>
        <p:nvSpPr>
          <p:cNvPr id="24" name="Oval 23"/>
          <p:cNvSpPr/>
          <p:nvPr/>
        </p:nvSpPr>
        <p:spPr>
          <a:xfrm>
            <a:off x="2938881" y="3049523"/>
            <a:ext cx="137160" cy="137160"/>
          </a:xfrm>
          <a:prstGeom prst="ellipse">
            <a:avLst/>
          </a:prstGeom>
          <a:solidFill>
            <a:srgbClr val="0E7C74"/>
          </a:solidFill>
          <a:ln>
            <a:noFill/>
          </a:ln>
        </p:spPr>
        <p:txBody>
          <a:bodyPr rtlCol="0" anchor="ctr"/>
          <a:lstStyle/>
          <a:p>
            <a:pPr algn="ctr"/>
          </a:p>
        </p:txBody>
      </p:sp>
      <p:sp>
        <p:nvSpPr>
          <p:cNvPr id="25" name="TextBox 24"/>
          <p:cNvSpPr txBox="1"/>
          <p:nvPr/>
        </p:nvSpPr>
        <p:spPr>
          <a:xfrm>
            <a:off x="2147925" y="2980944"/>
            <a:ext cx="786384" cy="256032"/>
          </a:xfrm>
          <a:prstGeom prst="rect">
            <a:avLst/>
          </a:prstGeom>
          <a:noFill/>
        </p:spPr>
        <p:txBody>
          <a:bodyPr wrap="square" anchor="ctr">
            <a:spAutoFit/>
          </a:bodyPr>
          <a:lstStyle/>
          <a:p>
            <a:pPr algn="r"/>
            <a:r>
              <a:rPr sz="1100" b="0">
                <a:solidFill>
                  <a:srgbClr val="12304F"/>
                </a:solidFill>
                <a:latin typeface="Consolas" panose="020B0609020204030204"/>
                <a:ea typeface="Noto Sans SC" panose="020B0200000000000000" charset="-122"/>
                <a:cs typeface="Noto Sans SC" panose="020B0200000000000000" charset="-122"/>
              </a:rPr>
              <a:t>PETG</a:t>
            </a:r>
            <a:endParaRPr sz="1100" b="0">
              <a:solidFill>
                <a:srgbClr val="12304F"/>
              </a:solidFill>
              <a:latin typeface="Consolas" panose="020B0609020204030204"/>
              <a:ea typeface="Noto Sans SC" panose="020B0200000000000000" charset="-122"/>
              <a:cs typeface="Noto Sans SC" panose="020B0200000000000000" charset="-122"/>
            </a:endParaRPr>
          </a:p>
        </p:txBody>
      </p:sp>
      <p:sp>
        <p:nvSpPr>
          <p:cNvPr id="26" name="Oval 25"/>
          <p:cNvSpPr/>
          <p:nvPr/>
        </p:nvSpPr>
        <p:spPr>
          <a:xfrm>
            <a:off x="4047134" y="2761487"/>
            <a:ext cx="137160" cy="137160"/>
          </a:xfrm>
          <a:prstGeom prst="ellipse">
            <a:avLst/>
          </a:prstGeom>
          <a:solidFill>
            <a:srgbClr val="6A4C93"/>
          </a:solidFill>
          <a:ln>
            <a:noFill/>
          </a:ln>
        </p:spPr>
        <p:txBody>
          <a:bodyPr rtlCol="0" anchor="ctr"/>
          <a:lstStyle/>
          <a:p>
            <a:pPr algn="ctr"/>
          </a:p>
        </p:txBody>
      </p:sp>
      <p:sp>
        <p:nvSpPr>
          <p:cNvPr id="27" name="TextBox 26"/>
          <p:cNvSpPr txBox="1"/>
          <p:nvPr/>
        </p:nvSpPr>
        <p:spPr>
          <a:xfrm>
            <a:off x="3256178" y="2692908"/>
            <a:ext cx="786384" cy="256032"/>
          </a:xfrm>
          <a:prstGeom prst="rect">
            <a:avLst/>
          </a:prstGeom>
          <a:noFill/>
        </p:spPr>
        <p:txBody>
          <a:bodyPr wrap="square" anchor="ctr">
            <a:spAutoFit/>
          </a:bodyPr>
          <a:lstStyle/>
          <a:p>
            <a:pPr algn="r"/>
            <a:r>
              <a:rPr sz="1100" b="0">
                <a:solidFill>
                  <a:srgbClr val="12304F"/>
                </a:solidFill>
                <a:latin typeface="Consolas" panose="020B0609020204030204"/>
                <a:ea typeface="Noto Sans SC" panose="020B0200000000000000" charset="-122"/>
                <a:cs typeface="Noto Sans SC" panose="020B0200000000000000" charset="-122"/>
              </a:rPr>
              <a:t>ABS / ASA</a:t>
            </a:r>
            <a:endParaRPr sz="1100" b="0">
              <a:solidFill>
                <a:srgbClr val="12304F"/>
              </a:solidFill>
              <a:latin typeface="Consolas" panose="020B0609020204030204"/>
              <a:ea typeface="Noto Sans SC" panose="020B0200000000000000" charset="-122"/>
              <a:cs typeface="Noto Sans SC" panose="020B0200000000000000" charset="-122"/>
            </a:endParaRPr>
          </a:p>
        </p:txBody>
      </p:sp>
      <p:sp>
        <p:nvSpPr>
          <p:cNvPr id="28" name="Oval 27"/>
          <p:cNvSpPr/>
          <p:nvPr/>
        </p:nvSpPr>
        <p:spPr>
          <a:xfrm>
            <a:off x="3862425" y="3497579"/>
            <a:ext cx="137160" cy="137160"/>
          </a:xfrm>
          <a:prstGeom prst="ellipse">
            <a:avLst/>
          </a:prstGeom>
          <a:solidFill>
            <a:srgbClr val="C2571A"/>
          </a:solidFill>
          <a:ln>
            <a:noFill/>
          </a:ln>
        </p:spPr>
        <p:txBody>
          <a:bodyPr rtlCol="0" anchor="ctr"/>
          <a:lstStyle/>
          <a:p>
            <a:pPr algn="ctr"/>
          </a:p>
        </p:txBody>
      </p:sp>
      <p:sp>
        <p:nvSpPr>
          <p:cNvPr id="29" name="TextBox 28"/>
          <p:cNvSpPr txBox="1"/>
          <p:nvPr/>
        </p:nvSpPr>
        <p:spPr>
          <a:xfrm>
            <a:off x="3071469" y="3429000"/>
            <a:ext cx="786384" cy="256032"/>
          </a:xfrm>
          <a:prstGeom prst="rect">
            <a:avLst/>
          </a:prstGeom>
          <a:noFill/>
        </p:spPr>
        <p:txBody>
          <a:bodyPr wrap="square" anchor="ctr">
            <a:spAutoFit/>
          </a:bodyPr>
          <a:lstStyle/>
          <a:p>
            <a:pPr algn="r"/>
            <a:r>
              <a:rPr sz="1100" b="0">
                <a:solidFill>
                  <a:srgbClr val="12304F"/>
                </a:solidFill>
                <a:latin typeface="Consolas" panose="020B0609020204030204"/>
                <a:ea typeface="Noto Sans SC" panose="020B0200000000000000" charset="-122"/>
                <a:cs typeface="Noto Sans SC" panose="020B0200000000000000" charset="-122"/>
              </a:rPr>
              <a:t>TPU</a:t>
            </a:r>
            <a:endParaRPr sz="1100" b="0">
              <a:solidFill>
                <a:srgbClr val="12304F"/>
              </a:solidFill>
              <a:latin typeface="Consolas" panose="020B0609020204030204"/>
              <a:ea typeface="Noto Sans SC" panose="020B0200000000000000" charset="-122"/>
              <a:cs typeface="Noto Sans SC" panose="020B0200000000000000" charset="-122"/>
            </a:endParaRPr>
          </a:p>
        </p:txBody>
      </p:sp>
      <p:sp>
        <p:nvSpPr>
          <p:cNvPr id="30" name="Oval 29"/>
          <p:cNvSpPr/>
          <p:nvPr/>
        </p:nvSpPr>
        <p:spPr>
          <a:xfrm>
            <a:off x="5155387" y="2505456"/>
            <a:ext cx="137160" cy="137160"/>
          </a:xfrm>
          <a:prstGeom prst="ellipse">
            <a:avLst/>
          </a:prstGeom>
          <a:solidFill>
            <a:srgbClr val="B03A2E"/>
          </a:solidFill>
          <a:ln>
            <a:noFill/>
          </a:ln>
        </p:spPr>
        <p:txBody>
          <a:bodyPr rtlCol="0" anchor="ctr"/>
          <a:lstStyle/>
          <a:p>
            <a:pPr algn="ctr"/>
          </a:p>
        </p:txBody>
      </p:sp>
      <p:sp>
        <p:nvSpPr>
          <p:cNvPr id="31" name="TextBox 30"/>
          <p:cNvSpPr txBox="1"/>
          <p:nvPr/>
        </p:nvSpPr>
        <p:spPr>
          <a:xfrm>
            <a:off x="4364431" y="2436876"/>
            <a:ext cx="786384" cy="256032"/>
          </a:xfrm>
          <a:prstGeom prst="rect">
            <a:avLst/>
          </a:prstGeom>
          <a:noFill/>
        </p:spPr>
        <p:txBody>
          <a:bodyPr wrap="square" anchor="ctr">
            <a:spAutoFit/>
          </a:bodyPr>
          <a:lstStyle/>
          <a:p>
            <a:pPr algn="r"/>
            <a:r>
              <a:rPr sz="1100" b="0">
                <a:solidFill>
                  <a:srgbClr val="12304F"/>
                </a:solidFill>
                <a:latin typeface="Consolas" panose="020B0609020204030204"/>
                <a:ea typeface="Noto Sans SC" panose="020B0200000000000000" charset="-122"/>
                <a:cs typeface="Noto Sans SC" panose="020B0200000000000000" charset="-122"/>
              </a:rPr>
              <a:t>PA-CF / PET-CF</a:t>
            </a:r>
            <a:endParaRPr sz="1100" b="0">
              <a:solidFill>
                <a:srgbClr val="12304F"/>
              </a:solidFill>
              <a:latin typeface="Consolas" panose="020B0609020204030204"/>
              <a:ea typeface="Noto Sans SC" panose="020B0200000000000000" charset="-122"/>
              <a:cs typeface="Noto Sans SC" panose="020B0200000000000000" charset="-122"/>
            </a:endParaRPr>
          </a:p>
        </p:txBody>
      </p:sp>
      <p:sp>
        <p:nvSpPr>
          <p:cNvPr id="32" name="TextBox 31"/>
          <p:cNvSpPr txBox="1"/>
          <p:nvPr/>
        </p:nvSpPr>
        <p:spPr>
          <a:xfrm>
            <a:off x="1143000" y="4288536"/>
            <a:ext cx="3291840" cy="219456"/>
          </a:xfrm>
          <a:prstGeom prst="rect">
            <a:avLst/>
          </a:prstGeom>
          <a:noFill/>
        </p:spPr>
        <p:txBody>
          <a:bodyPr wrap="square">
            <a:spAutoFit/>
          </a:bodyPr>
          <a:lstStyle/>
          <a:p>
            <a:pPr algn="l"/>
            <a:r>
              <a:rPr sz="1000" b="0">
                <a:solidFill>
                  <a:srgbClr val="6B7B8A"/>
                </a:solidFill>
                <a:latin typeface="Noto Sans SC" panose="020B0200000000000000" charset="-122"/>
                <a:ea typeface="Noto Sans SC" panose="020B0200000000000000" charset="-122"/>
                <a:cs typeface="Noto Sans SC" panose="020B0200000000000000" charset="-122"/>
              </a:rPr>
              <a:t>坐标仅为相对关系示意</a:t>
            </a:r>
            <a:endParaRPr sz="100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33" name="Rectangle 32"/>
          <p:cNvSpPr/>
          <p:nvPr/>
        </p:nvSpPr>
        <p:spPr>
          <a:xfrm>
            <a:off x="6675120" y="1965960"/>
            <a:ext cx="4919472" cy="1463040"/>
          </a:xfrm>
          <a:prstGeom prst="rect">
            <a:avLst/>
          </a:prstGeom>
          <a:solidFill>
            <a:srgbClr val="FFFFFF"/>
          </a:solidFill>
          <a:ln w="12700">
            <a:solidFill>
              <a:srgbClr val="C9D3DC"/>
            </a:solidFill>
          </a:ln>
        </p:spPr>
        <p:txBody>
          <a:bodyPr rtlCol="0" anchor="ctr"/>
          <a:lstStyle/>
          <a:p>
            <a:pPr algn="ctr"/>
          </a:p>
        </p:txBody>
      </p:sp>
      <p:sp>
        <p:nvSpPr>
          <p:cNvPr id="34" name="Rectangle 33"/>
          <p:cNvSpPr/>
          <p:nvPr/>
        </p:nvSpPr>
        <p:spPr>
          <a:xfrm>
            <a:off x="6675120" y="1965960"/>
            <a:ext cx="4919472" cy="41148"/>
          </a:xfrm>
          <a:prstGeom prst="rect">
            <a:avLst/>
          </a:prstGeom>
          <a:solidFill>
            <a:srgbClr val="6A4C93"/>
          </a:solidFill>
          <a:ln>
            <a:noFill/>
          </a:ln>
        </p:spPr>
        <p:txBody>
          <a:bodyPr rtlCol="0" anchor="ctr"/>
          <a:lstStyle/>
          <a:p>
            <a:pPr algn="ctr"/>
          </a:p>
        </p:txBody>
      </p:sp>
      <p:sp>
        <p:nvSpPr>
          <p:cNvPr id="35" name="TextBox 34"/>
          <p:cNvSpPr txBox="1"/>
          <p:nvPr/>
        </p:nvSpPr>
        <p:spPr>
          <a:xfrm>
            <a:off x="6839712" y="2093976"/>
            <a:ext cx="4590288" cy="256032"/>
          </a:xfrm>
          <a:prstGeom prst="rect">
            <a:avLst/>
          </a:prstGeom>
          <a:noFill/>
        </p:spPr>
        <p:txBody>
          <a:bodyPr wrap="square">
            <a:spAutoFit/>
          </a:bodyPr>
          <a:lstStyle/>
          <a:p>
            <a:pPr algn="l"/>
            <a:r>
              <a:rPr sz="1350" b="1">
                <a:solidFill>
                  <a:srgbClr val="12304F"/>
                </a:solidFill>
                <a:latin typeface="Noto Sans SC" panose="020B0200000000000000" charset="-122"/>
                <a:ea typeface="Noto Sans SC" panose="020B0200000000000000" charset="-122"/>
                <a:cs typeface="Noto Sans SC" panose="020B0200000000000000" charset="-122"/>
              </a:rPr>
              <a:t>决策维度</a:t>
            </a:r>
            <a:endParaRPr sz="135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36" name="TextBox 35"/>
          <p:cNvSpPr txBox="1"/>
          <p:nvPr/>
        </p:nvSpPr>
        <p:spPr>
          <a:xfrm>
            <a:off x="6839712" y="2423160"/>
            <a:ext cx="4590288" cy="810260"/>
          </a:xfrm>
          <a:prstGeom prst="rect">
            <a:avLst/>
          </a:prstGeom>
          <a:noFill/>
        </p:spPr>
        <p:txBody>
          <a:bodyPr wrap="square">
            <a:spAutoFit/>
          </a:bodyPr>
          <a:lstStyle/>
          <a:p>
            <a:pPr algn="l">
              <a:lnSpc>
                <a:spcPct val="130000"/>
              </a:lnSpc>
              <a:spcBef>
                <a:spcPts val="400"/>
              </a:spcBef>
              <a:spcAft>
                <a:spcPts val="400"/>
              </a:spcAft>
            </a:pPr>
            <a:r>
              <a:rPr lang="zh-CN" sz="1200" b="0">
                <a:solidFill>
                  <a:srgbClr val="23384C"/>
                </a:solidFill>
                <a:latin typeface="Noto Sans SC" panose="020B0200000000000000" charset="-122"/>
                <a:ea typeface="Noto Sans SC" panose="020B0200000000000000" charset="-122"/>
                <a:cs typeface="Noto Sans SC" panose="020B0200000000000000" charset="-122"/>
              </a:rPr>
              <a:t>一般来说使用到的耗材就</a:t>
            </a:r>
            <a:r>
              <a:rPr lang="en-US" altLang="zh-CN" sz="1200" b="0">
                <a:solidFill>
                  <a:srgbClr val="23384C"/>
                </a:solidFill>
                <a:latin typeface="Noto Sans SC" panose="020B0200000000000000" charset="-122"/>
                <a:ea typeface="Noto Sans SC" panose="020B0200000000000000" charset="-122"/>
                <a:cs typeface="Noto Sans SC" panose="020B0200000000000000" charset="-122"/>
              </a:rPr>
              <a:t>PLA</a:t>
            </a:r>
            <a:r>
              <a:rPr lang="zh-CN" altLang="en-US" sz="1200" b="0">
                <a:solidFill>
                  <a:srgbClr val="23384C"/>
                </a:solidFill>
                <a:latin typeface="Noto Sans SC" panose="020B0200000000000000" charset="-122"/>
                <a:ea typeface="Noto Sans SC" panose="020B0200000000000000" charset="-122"/>
                <a:cs typeface="Noto Sans SC" panose="020B0200000000000000" charset="-122"/>
              </a:rPr>
              <a:t>、</a:t>
            </a:r>
            <a:r>
              <a:rPr lang="en-US" altLang="zh-CN" sz="1200" b="0">
                <a:solidFill>
                  <a:srgbClr val="23384C"/>
                </a:solidFill>
                <a:latin typeface="Noto Sans SC" panose="020B0200000000000000" charset="-122"/>
                <a:ea typeface="Noto Sans SC" panose="020B0200000000000000" charset="-122"/>
                <a:cs typeface="Noto Sans SC" panose="020B0200000000000000" charset="-122"/>
              </a:rPr>
              <a:t>PETG</a:t>
            </a:r>
            <a:r>
              <a:rPr lang="zh-CN" altLang="en-US" sz="1200" b="0">
                <a:solidFill>
                  <a:srgbClr val="23384C"/>
                </a:solidFill>
                <a:latin typeface="Noto Sans SC" panose="020B0200000000000000" charset="-122"/>
                <a:ea typeface="Noto Sans SC" panose="020B0200000000000000" charset="-122"/>
                <a:cs typeface="Noto Sans SC" panose="020B0200000000000000" charset="-122"/>
              </a:rPr>
              <a:t>、</a:t>
            </a:r>
            <a:r>
              <a:rPr lang="en-US" altLang="zh-CN" sz="1200" b="0">
                <a:solidFill>
                  <a:srgbClr val="23384C"/>
                </a:solidFill>
                <a:latin typeface="Noto Sans SC" panose="020B0200000000000000" charset="-122"/>
                <a:ea typeface="Noto Sans SC" panose="020B0200000000000000" charset="-122"/>
                <a:cs typeface="Noto Sans SC" panose="020B0200000000000000" charset="-122"/>
              </a:rPr>
              <a:t>ABS</a:t>
            </a:r>
            <a:r>
              <a:rPr lang="zh-CN" altLang="en-US" sz="1200" b="0">
                <a:solidFill>
                  <a:srgbClr val="23384C"/>
                </a:solidFill>
                <a:latin typeface="Noto Sans SC" panose="020B0200000000000000" charset="-122"/>
                <a:ea typeface="Noto Sans SC" panose="020B0200000000000000" charset="-122"/>
                <a:cs typeface="Noto Sans SC" panose="020B0200000000000000" charset="-122"/>
              </a:rPr>
              <a:t>这三种，</a:t>
            </a:r>
            <a:r>
              <a:rPr lang="en-US" altLang="zh-CN" sz="1200" b="0">
                <a:solidFill>
                  <a:srgbClr val="23384C"/>
                </a:solidFill>
                <a:latin typeface="Noto Sans SC" panose="020B0200000000000000" charset="-122"/>
                <a:ea typeface="Noto Sans SC" panose="020B0200000000000000" charset="-122"/>
                <a:cs typeface="Noto Sans SC" panose="020B0200000000000000" charset="-122"/>
              </a:rPr>
              <a:t>PETG</a:t>
            </a:r>
            <a:r>
              <a:rPr lang="zh-CN" altLang="en-US" sz="1200" b="0">
                <a:solidFill>
                  <a:srgbClr val="23384C"/>
                </a:solidFill>
                <a:latin typeface="Noto Sans SC" panose="020B0200000000000000" charset="-122"/>
                <a:ea typeface="Noto Sans SC" panose="020B0200000000000000" charset="-122"/>
                <a:cs typeface="Noto Sans SC" panose="020B0200000000000000" charset="-122"/>
              </a:rPr>
              <a:t>便宜且打印难度适中，</a:t>
            </a:r>
            <a:r>
              <a:rPr lang="en-US" altLang="zh-CN" sz="1200" b="0">
                <a:solidFill>
                  <a:srgbClr val="23384C"/>
                </a:solidFill>
                <a:latin typeface="Noto Sans SC" panose="020B0200000000000000" charset="-122"/>
                <a:ea typeface="Noto Sans SC" panose="020B0200000000000000" charset="-122"/>
                <a:cs typeface="Noto Sans SC" panose="020B0200000000000000" charset="-122"/>
              </a:rPr>
              <a:t>PLA</a:t>
            </a:r>
            <a:r>
              <a:rPr lang="zh-CN" altLang="en-US" sz="1200" b="0">
                <a:solidFill>
                  <a:srgbClr val="23384C"/>
                </a:solidFill>
                <a:latin typeface="Noto Sans SC" panose="020B0200000000000000" charset="-122"/>
                <a:ea typeface="Noto Sans SC" panose="020B0200000000000000" charset="-122"/>
                <a:cs typeface="Noto Sans SC" panose="020B0200000000000000" charset="-122"/>
              </a:rPr>
              <a:t>强度高但很脆，</a:t>
            </a:r>
            <a:r>
              <a:rPr lang="en-US" altLang="zh-CN" sz="1200" b="0">
                <a:solidFill>
                  <a:srgbClr val="23384C"/>
                </a:solidFill>
                <a:latin typeface="Noto Sans SC" panose="020B0200000000000000" charset="-122"/>
                <a:ea typeface="Noto Sans SC" panose="020B0200000000000000" charset="-122"/>
                <a:cs typeface="Noto Sans SC" panose="020B0200000000000000" charset="-122"/>
              </a:rPr>
              <a:t>ABS</a:t>
            </a:r>
            <a:r>
              <a:rPr lang="zh-CN" altLang="en-US" sz="1200" b="0">
                <a:solidFill>
                  <a:srgbClr val="23384C"/>
                </a:solidFill>
                <a:latin typeface="Noto Sans SC" panose="020B0200000000000000" charset="-122"/>
                <a:ea typeface="Noto Sans SC" panose="020B0200000000000000" charset="-122"/>
                <a:cs typeface="Noto Sans SC" panose="020B0200000000000000" charset="-122"/>
              </a:rPr>
              <a:t>价格贵且极难打印，因此在日常中大多选用</a:t>
            </a:r>
            <a:r>
              <a:rPr lang="en-US" altLang="zh-CN" sz="1200" b="0">
                <a:solidFill>
                  <a:srgbClr val="23384C"/>
                </a:solidFill>
                <a:latin typeface="Noto Sans SC" panose="020B0200000000000000" charset="-122"/>
                <a:ea typeface="Noto Sans SC" panose="020B0200000000000000" charset="-122"/>
                <a:cs typeface="Noto Sans SC" panose="020B0200000000000000" charset="-122"/>
              </a:rPr>
              <a:t>PETG</a:t>
            </a:r>
            <a:r>
              <a:rPr lang="zh-CN" altLang="en-US" sz="1200" b="0">
                <a:solidFill>
                  <a:srgbClr val="23384C"/>
                </a:solidFill>
                <a:latin typeface="Noto Sans SC" panose="020B0200000000000000" charset="-122"/>
                <a:ea typeface="Noto Sans SC" panose="020B0200000000000000" charset="-122"/>
                <a:cs typeface="Noto Sans SC" panose="020B0200000000000000" charset="-122"/>
              </a:rPr>
              <a:t>作为主要使用的材料</a:t>
            </a:r>
            <a:endParaRPr lang="zh-CN" altLang="en-US" sz="120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37" name="Rectangle 36"/>
          <p:cNvSpPr/>
          <p:nvPr/>
        </p:nvSpPr>
        <p:spPr>
          <a:xfrm>
            <a:off x="6675120" y="3566160"/>
            <a:ext cx="4919472" cy="1051560"/>
          </a:xfrm>
          <a:prstGeom prst="rect">
            <a:avLst/>
          </a:prstGeom>
          <a:solidFill>
            <a:srgbClr val="FFFFFF"/>
          </a:solidFill>
          <a:ln w="12700">
            <a:solidFill>
              <a:srgbClr val="C9D3DC"/>
            </a:solidFill>
          </a:ln>
        </p:spPr>
        <p:txBody>
          <a:bodyPr rtlCol="0" anchor="ctr"/>
          <a:lstStyle/>
          <a:p>
            <a:pPr algn="ctr"/>
          </a:p>
        </p:txBody>
      </p:sp>
      <p:sp>
        <p:nvSpPr>
          <p:cNvPr id="38" name="Rectangle 37"/>
          <p:cNvSpPr/>
          <p:nvPr/>
        </p:nvSpPr>
        <p:spPr>
          <a:xfrm>
            <a:off x="6675120" y="3566160"/>
            <a:ext cx="4919472" cy="41148"/>
          </a:xfrm>
          <a:prstGeom prst="rect">
            <a:avLst/>
          </a:prstGeom>
          <a:solidFill>
            <a:srgbClr val="B03A2E"/>
          </a:solidFill>
          <a:ln>
            <a:noFill/>
          </a:ln>
        </p:spPr>
        <p:txBody>
          <a:bodyPr rtlCol="0" anchor="ctr"/>
          <a:lstStyle/>
          <a:p>
            <a:pPr algn="ctr"/>
          </a:p>
        </p:txBody>
      </p:sp>
      <p:sp>
        <p:nvSpPr>
          <p:cNvPr id="39" name="TextBox 38"/>
          <p:cNvSpPr txBox="1"/>
          <p:nvPr/>
        </p:nvSpPr>
        <p:spPr>
          <a:xfrm>
            <a:off x="6839712" y="3694176"/>
            <a:ext cx="4590288" cy="299085"/>
          </a:xfrm>
          <a:prstGeom prst="rect">
            <a:avLst/>
          </a:prstGeom>
          <a:noFill/>
        </p:spPr>
        <p:txBody>
          <a:bodyPr wrap="square">
            <a:spAutoFit/>
          </a:bodyPr>
          <a:lstStyle/>
          <a:p>
            <a:pPr algn="l"/>
            <a:r>
              <a:rPr lang="zh-CN" altLang="en-US" sz="1350" b="1">
                <a:solidFill>
                  <a:srgbClr val="12304F"/>
                </a:solidFill>
                <a:latin typeface="Noto Sans SC" panose="020B0200000000000000" charset="-122"/>
                <a:ea typeface="Noto Sans SC" panose="020B0200000000000000" charset="-122"/>
                <a:cs typeface="Noto Sans SC" panose="020B0200000000000000" charset="-122"/>
              </a:rPr>
              <a:t>补充</a:t>
            </a:r>
            <a:endParaRPr lang="zh-CN" altLang="en-US" sz="135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40" name="TextBox 39"/>
          <p:cNvSpPr txBox="1"/>
          <p:nvPr/>
        </p:nvSpPr>
        <p:spPr>
          <a:xfrm>
            <a:off x="6839712" y="4023360"/>
            <a:ext cx="4590288" cy="515620"/>
          </a:xfrm>
          <a:prstGeom prst="rect">
            <a:avLst/>
          </a:prstGeom>
          <a:noFill/>
        </p:spPr>
        <p:txBody>
          <a:bodyPr wrap="square">
            <a:spAutoFit/>
          </a:bodyPr>
          <a:lstStyle/>
          <a:p>
            <a:pPr algn="l">
              <a:lnSpc>
                <a:spcPct val="120000"/>
              </a:lnSpc>
              <a:spcBef>
                <a:spcPts val="400"/>
              </a:spcBef>
              <a:spcAft>
                <a:spcPts val="400"/>
              </a:spcAft>
            </a:pPr>
            <a:r>
              <a:rPr lang="zh-CN" sz="1150" b="0">
                <a:solidFill>
                  <a:srgbClr val="23384C"/>
                </a:solidFill>
                <a:latin typeface="Noto Sans SC" panose="020B0200000000000000" charset="-122"/>
                <a:ea typeface="Noto Sans SC" panose="020B0200000000000000" charset="-122"/>
                <a:cs typeface="Noto Sans SC" panose="020B0200000000000000" charset="-122"/>
              </a:rPr>
              <a:t>常见使用的材料中还包含</a:t>
            </a:r>
            <a:r>
              <a:rPr lang="en-US" altLang="zh-CN" sz="1150" b="0">
                <a:solidFill>
                  <a:srgbClr val="23384C"/>
                </a:solidFill>
                <a:latin typeface="Noto Sans SC" panose="020B0200000000000000" charset="-122"/>
                <a:ea typeface="Noto Sans SC" panose="020B0200000000000000" charset="-122"/>
                <a:cs typeface="Noto Sans SC" panose="020B0200000000000000" charset="-122"/>
              </a:rPr>
              <a:t>PETG-CF</a:t>
            </a:r>
            <a:r>
              <a:rPr lang="zh-CN" altLang="en-US" sz="1150" b="0">
                <a:solidFill>
                  <a:srgbClr val="23384C"/>
                </a:solidFill>
                <a:latin typeface="Noto Sans SC" panose="020B0200000000000000" charset="-122"/>
                <a:ea typeface="Noto Sans SC" panose="020B0200000000000000" charset="-122"/>
                <a:cs typeface="Noto Sans SC" panose="020B0200000000000000" charset="-122"/>
              </a:rPr>
              <a:t>、</a:t>
            </a:r>
            <a:r>
              <a:rPr lang="en-US" altLang="zh-CN" sz="1150" b="0">
                <a:solidFill>
                  <a:srgbClr val="23384C"/>
                </a:solidFill>
                <a:latin typeface="Noto Sans SC" panose="020B0200000000000000" charset="-122"/>
                <a:ea typeface="Noto Sans SC" panose="020B0200000000000000" charset="-122"/>
                <a:cs typeface="Noto Sans SC" panose="020B0200000000000000" charset="-122"/>
              </a:rPr>
              <a:t>PETG-GF</a:t>
            </a:r>
            <a:r>
              <a:rPr lang="zh-CN" altLang="en-US" sz="1150" b="0">
                <a:solidFill>
                  <a:srgbClr val="23384C"/>
                </a:solidFill>
                <a:latin typeface="Noto Sans SC" panose="020B0200000000000000" charset="-122"/>
                <a:ea typeface="Noto Sans SC" panose="020B0200000000000000" charset="-122"/>
                <a:cs typeface="Noto Sans SC" panose="020B0200000000000000" charset="-122"/>
              </a:rPr>
              <a:t>等；</a:t>
            </a:r>
            <a:r>
              <a:rPr lang="en-US" altLang="zh-CN" sz="1150" b="0">
                <a:solidFill>
                  <a:srgbClr val="23384C"/>
                </a:solidFill>
                <a:latin typeface="Noto Sans SC" panose="020B0200000000000000" charset="-122"/>
                <a:ea typeface="Noto Sans SC" panose="020B0200000000000000" charset="-122"/>
                <a:cs typeface="Noto Sans SC" panose="020B0200000000000000" charset="-122"/>
              </a:rPr>
              <a:t>CF</a:t>
            </a:r>
            <a:r>
              <a:rPr lang="zh-CN" altLang="en-US" sz="1150" b="0">
                <a:solidFill>
                  <a:srgbClr val="23384C"/>
                </a:solidFill>
                <a:latin typeface="Noto Sans SC" panose="020B0200000000000000" charset="-122"/>
                <a:ea typeface="Noto Sans SC" panose="020B0200000000000000" charset="-122"/>
                <a:cs typeface="Noto Sans SC" panose="020B0200000000000000" charset="-122"/>
              </a:rPr>
              <a:t>：参入碳纤维材料，</a:t>
            </a:r>
            <a:r>
              <a:rPr lang="en-US" altLang="zh-CN" sz="1150" b="0">
                <a:solidFill>
                  <a:srgbClr val="23384C"/>
                </a:solidFill>
                <a:latin typeface="Noto Sans SC" panose="020B0200000000000000" charset="-122"/>
                <a:ea typeface="Noto Sans SC" panose="020B0200000000000000" charset="-122"/>
                <a:cs typeface="Noto Sans SC" panose="020B0200000000000000" charset="-122"/>
              </a:rPr>
              <a:t>GF</a:t>
            </a:r>
            <a:r>
              <a:rPr lang="zh-CN" altLang="en-US" sz="1150" b="0">
                <a:solidFill>
                  <a:srgbClr val="23384C"/>
                </a:solidFill>
                <a:latin typeface="Noto Sans SC" panose="020B0200000000000000" charset="-122"/>
                <a:ea typeface="Noto Sans SC" panose="020B0200000000000000" charset="-122"/>
                <a:cs typeface="Noto Sans SC" panose="020B0200000000000000" charset="-122"/>
              </a:rPr>
              <a:t>：参入玻璃纤维材料；韧性更高但打印难度高</a:t>
            </a:r>
            <a:endParaRPr lang="zh-CN" altLang="en-US" sz="11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41" name="Rounded Rectangle 40"/>
          <p:cNvSpPr/>
          <p:nvPr/>
        </p:nvSpPr>
        <p:spPr>
          <a:xfrm>
            <a:off x="594360" y="4754880"/>
            <a:ext cx="11002975" cy="420624"/>
          </a:xfrm>
          <a:prstGeom prst="roundRect">
            <a:avLst/>
          </a:prstGeom>
          <a:solidFill>
            <a:srgbClr val="EAF3EE"/>
          </a:solidFill>
          <a:ln w="12700">
            <a:solidFill>
              <a:srgbClr val="2F7D53"/>
            </a:solidFill>
          </a:ln>
        </p:spPr>
        <p:txBody>
          <a:bodyPr rtlCol="0" anchor="ctr"/>
          <a:lstStyle/>
          <a:p>
            <a:pPr algn="ctr"/>
          </a:p>
        </p:txBody>
      </p:sp>
      <p:sp>
        <p:nvSpPr>
          <p:cNvPr id="42" name="Rectangle 41"/>
          <p:cNvSpPr/>
          <p:nvPr/>
        </p:nvSpPr>
        <p:spPr>
          <a:xfrm>
            <a:off x="594360" y="4754880"/>
            <a:ext cx="50292" cy="420624"/>
          </a:xfrm>
          <a:prstGeom prst="rect">
            <a:avLst/>
          </a:prstGeom>
          <a:solidFill>
            <a:srgbClr val="2F7D53"/>
          </a:solidFill>
          <a:ln>
            <a:noFill/>
          </a:ln>
        </p:spPr>
        <p:txBody>
          <a:bodyPr rtlCol="0" anchor="ctr"/>
          <a:lstStyle/>
          <a:p>
            <a:pPr algn="ctr"/>
          </a:p>
        </p:txBody>
      </p:sp>
      <p:sp>
        <p:nvSpPr>
          <p:cNvPr id="43" name="TextBox 42"/>
          <p:cNvSpPr txBox="1"/>
          <p:nvPr/>
        </p:nvSpPr>
        <p:spPr>
          <a:xfrm>
            <a:off x="795528" y="4819460"/>
            <a:ext cx="10600639" cy="291465"/>
          </a:xfrm>
          <a:prstGeom prst="rect">
            <a:avLst/>
          </a:prstGeom>
          <a:noFill/>
        </p:spPr>
        <p:txBody>
          <a:bodyPr wrap="square" anchor="ctr">
            <a:spAutoFit/>
          </a:bodyPr>
          <a:lstStyle/>
          <a:p>
            <a:pPr algn="l"/>
            <a:r>
              <a:rPr sz="1300" b="1">
                <a:solidFill>
                  <a:srgbClr val="2F7D53"/>
                </a:solidFill>
                <a:latin typeface="Noto Sans SC" panose="020B0200000000000000" charset="-122"/>
                <a:ea typeface="Noto Sans SC" panose="020B0200000000000000" charset="-122"/>
                <a:cs typeface="Noto Sans SC" panose="020B0200000000000000" charset="-122"/>
              </a:rPr>
              <a:t>口诀：承力件 PETG / </a:t>
            </a:r>
            <a:r>
              <a:rPr lang="en-US" sz="1300" b="1">
                <a:solidFill>
                  <a:srgbClr val="2F7D53"/>
                </a:solidFill>
                <a:latin typeface="Noto Sans SC" panose="020B0200000000000000" charset="-122"/>
                <a:ea typeface="Noto Sans SC" panose="020B0200000000000000" charset="-122"/>
                <a:cs typeface="Noto Sans SC" panose="020B0200000000000000" charset="-122"/>
              </a:rPr>
              <a:t>PETG-CF/-GF</a:t>
            </a:r>
            <a:r>
              <a:rPr sz="1300" b="1">
                <a:solidFill>
                  <a:srgbClr val="2F7D53"/>
                </a:solidFill>
                <a:latin typeface="Noto Sans SC" panose="020B0200000000000000" charset="-122"/>
                <a:ea typeface="Noto Sans SC" panose="020B0200000000000000" charset="-122"/>
                <a:cs typeface="Noto Sans SC" panose="020B0200000000000000" charset="-122"/>
              </a:rPr>
              <a:t>　·　外观轻载 PLA　·　户外高温 ASA　·　缓冲 TPU</a:t>
            </a:r>
            <a:endParaRPr sz="1300" b="1">
              <a:solidFill>
                <a:srgbClr val="2F7D53"/>
              </a:solidFill>
              <a:latin typeface="Noto Sans SC" panose="020B0200000000000000" charset="-122"/>
              <a:ea typeface="Noto Sans SC" panose="020B0200000000000000" charset="-122"/>
              <a:cs typeface="Noto Sans SC" panose="020B0200000000000000" charset="-122"/>
            </a:endParaRPr>
          </a:p>
        </p:txBody>
      </p:sp>
      <p:sp>
        <p:nvSpPr>
          <p:cNvPr id="44" name="Rectangle 43"/>
          <p:cNvSpPr/>
          <p:nvPr/>
        </p:nvSpPr>
        <p:spPr>
          <a:xfrm>
            <a:off x="594360" y="6199632"/>
            <a:ext cx="11002975" cy="10972"/>
          </a:xfrm>
          <a:prstGeom prst="rect">
            <a:avLst/>
          </a:prstGeom>
          <a:solidFill>
            <a:srgbClr val="C9D3DC"/>
          </a:solidFill>
          <a:ln>
            <a:noFill/>
          </a:ln>
        </p:spPr>
        <p:txBody>
          <a:bodyPr rtlCol="0" anchor="ctr"/>
          <a:lstStyle/>
          <a:p>
            <a:pPr algn="ctr"/>
          </a:p>
        </p:txBody>
      </p:sp>
      <p:sp>
        <p:nvSpPr>
          <p:cNvPr id="45" name="TextBox 44"/>
          <p:cNvSpPr txBox="1"/>
          <p:nvPr/>
        </p:nvSpPr>
        <p:spPr>
          <a:xfrm>
            <a:off x="594360" y="6327648"/>
            <a:ext cx="8778240" cy="274320"/>
          </a:xfrm>
          <a:prstGeom prst="rect">
            <a:avLst/>
          </a:prstGeom>
          <a:noFill/>
        </p:spPr>
        <p:txBody>
          <a:bodyPr wrap="square">
            <a:spAutoFit/>
          </a:bodyPr>
          <a:lstStyle/>
          <a:p>
            <a:pPr algn="l"/>
            <a:r>
              <a:rPr sz="1100" b="0">
                <a:solidFill>
                  <a:srgbClr val="6B7B8A"/>
                </a:solidFill>
                <a:latin typeface="Noto Sans SC" panose="020B0200000000000000" charset="-122"/>
                <a:ea typeface="Noto Sans SC" panose="020B0200000000000000" charset="-122"/>
                <a:cs typeface="Noto Sans SC" panose="020B0200000000000000" charset="-122"/>
              </a:rPr>
              <a:t>可迁移：任何零件选材都问四句 —— 多大力？多热？多晒？好不好打？</a:t>
            </a:r>
            <a:endParaRPr sz="1100" b="0">
              <a:solidFill>
                <a:srgbClr val="6B7B8A"/>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pic>
        <p:nvPicPr>
          <p:cNvPr id="2" name="Picture 1" descr="447916673a97bd1f0e53b186d485eed5.png"/>
          <p:cNvPicPr>
            <a:picLocks noChangeAspect="1"/>
          </p:cNvPicPr>
          <p:nvPr/>
        </p:nvPicPr>
        <p:blipFill>
          <a:blip r:embed="rId1"/>
          <a:stretch>
            <a:fillRect/>
          </a:stretch>
        </p:blipFill>
        <p:spPr>
          <a:xfrm>
            <a:off x="0" y="0"/>
            <a:ext cx="12191695" cy="6858000"/>
          </a:xfrm>
          <a:prstGeom prst="rect">
            <a:avLst/>
          </a:prstGeom>
        </p:spPr>
      </p:pic>
      <p:sp>
        <p:nvSpPr>
          <p:cNvPr id="3" name="Rectangle 2"/>
          <p:cNvSpPr/>
          <p:nvPr/>
        </p:nvSpPr>
        <p:spPr>
          <a:xfrm>
            <a:off x="0" y="0"/>
            <a:ext cx="12191695" cy="68580"/>
          </a:xfrm>
          <a:prstGeom prst="rect">
            <a:avLst/>
          </a:prstGeom>
          <a:solidFill>
            <a:srgbClr val="6A4C93"/>
          </a:solidFill>
          <a:ln>
            <a:noFill/>
          </a:ln>
        </p:spPr>
        <p:txBody>
          <a:bodyPr rtlCol="0" anchor="ctr"/>
          <a:lstStyle/>
          <a:p>
            <a:pPr algn="ctr"/>
          </a:p>
        </p:txBody>
      </p:sp>
      <p:sp>
        <p:nvSpPr>
          <p:cNvPr id="4" name="Rounded Rectangle 3"/>
          <p:cNvSpPr/>
          <p:nvPr/>
        </p:nvSpPr>
        <p:spPr>
          <a:xfrm>
            <a:off x="594360" y="310896"/>
            <a:ext cx="1517904" cy="329184"/>
          </a:xfrm>
          <a:prstGeom prst="roundRect">
            <a:avLst/>
          </a:prstGeom>
          <a:solidFill>
            <a:srgbClr val="6A4C93"/>
          </a:solidFill>
          <a:ln>
            <a:noFill/>
          </a:ln>
        </p:spPr>
        <p:txBody>
          <a:bodyPr rtlCol="0" anchor="ctr"/>
          <a:lstStyle/>
          <a:p>
            <a:pPr algn="ctr"/>
          </a:p>
        </p:txBody>
      </p:sp>
      <p:sp>
        <p:nvSpPr>
          <p:cNvPr id="5" name="TextBox 4"/>
          <p:cNvSpPr txBox="1"/>
          <p:nvPr/>
        </p:nvSpPr>
        <p:spPr>
          <a:xfrm>
            <a:off x="649224" y="310896"/>
            <a:ext cx="1408176" cy="329184"/>
          </a:xfrm>
          <a:prstGeom prst="rect">
            <a:avLst/>
          </a:prstGeom>
          <a:noFill/>
        </p:spPr>
        <p:txBody>
          <a:bodyPr wrap="square" anchor="ctr">
            <a:spAutoFit/>
          </a:bodyPr>
          <a:lstStyle/>
          <a:p>
            <a:pPr algn="ctr"/>
            <a:r>
              <a:rPr sz="1300" b="1">
                <a:solidFill>
                  <a:srgbClr val="FFFFFF"/>
                </a:solidFill>
                <a:latin typeface="Noto Sans SC" panose="020B0200000000000000" charset="-122"/>
                <a:ea typeface="Noto Sans SC" panose="020B0200000000000000" charset="-122"/>
                <a:cs typeface="Noto Sans SC" panose="020B0200000000000000" charset="-122"/>
              </a:rPr>
              <a:t>04  加工</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6" name="TextBox 5"/>
          <p:cNvSpPr txBox="1"/>
          <p:nvPr/>
        </p:nvSpPr>
        <p:spPr>
          <a:xfrm>
            <a:off x="2295144" y="338328"/>
            <a:ext cx="3840480" cy="274320"/>
          </a:xfrm>
          <a:prstGeom prst="rect">
            <a:avLst/>
          </a:prstGeom>
          <a:noFill/>
        </p:spPr>
        <p:txBody>
          <a:bodyPr wrap="square">
            <a:spAutoFit/>
          </a:bodyPr>
          <a:lstStyle/>
          <a:p>
            <a:pPr algn="l"/>
            <a:r>
              <a:rPr sz="1150" b="0">
                <a:solidFill>
                  <a:srgbClr val="6B7B8A"/>
                </a:solidFill>
                <a:latin typeface="Consolas" panose="020B0609020204030204"/>
                <a:ea typeface="Noto Sans SC" panose="020B0200000000000000" charset="-122"/>
                <a:cs typeface="Noto Sans SC" panose="020B0200000000000000" charset="-122"/>
              </a:rPr>
              <a:t>方法 21 · 打印前检查</a:t>
            </a:r>
            <a:endParaRPr sz="1150" b="0">
              <a:solidFill>
                <a:srgbClr val="6B7B8A"/>
              </a:solidFill>
              <a:latin typeface="Consolas" panose="020B0609020204030204"/>
              <a:ea typeface="Noto Sans SC" panose="020B0200000000000000" charset="-122"/>
              <a:cs typeface="Noto Sans SC" panose="020B0200000000000000" charset="-122"/>
            </a:endParaRPr>
          </a:p>
        </p:txBody>
      </p:sp>
      <p:sp>
        <p:nvSpPr>
          <p:cNvPr id="7" name="Rounded Rectangle 6"/>
          <p:cNvSpPr/>
          <p:nvPr/>
        </p:nvSpPr>
        <p:spPr>
          <a:xfrm>
            <a:off x="10070287" y="329184"/>
            <a:ext cx="1527048" cy="292608"/>
          </a:xfrm>
          <a:prstGeom prst="roundRect">
            <a:avLst/>
          </a:prstGeom>
          <a:solidFill>
            <a:srgbClr val="FFFFFF"/>
          </a:solidFill>
          <a:ln w="12700">
            <a:solidFill>
              <a:srgbClr val="C9D3DC"/>
            </a:solidFill>
          </a:ln>
        </p:spPr>
        <p:txBody>
          <a:bodyPr rtlCol="0" anchor="ctr"/>
          <a:lstStyle/>
          <a:p>
            <a:pPr algn="ctr"/>
          </a:p>
        </p:txBody>
      </p:sp>
      <p:sp>
        <p:nvSpPr>
          <p:cNvPr id="8" name="Rectangle 7"/>
          <p:cNvSpPr/>
          <p:nvPr/>
        </p:nvSpPr>
        <p:spPr>
          <a:xfrm>
            <a:off x="10189159" y="443484"/>
            <a:ext cx="68580" cy="68580"/>
          </a:xfrm>
          <a:prstGeom prst="rect">
            <a:avLst/>
          </a:prstGeom>
          <a:solidFill>
            <a:srgbClr val="2F7D53"/>
          </a:solidFill>
          <a:ln>
            <a:noFill/>
          </a:ln>
        </p:spPr>
        <p:txBody>
          <a:bodyPr rtlCol="0" anchor="ctr"/>
          <a:lstStyle/>
          <a:p>
            <a:pPr algn="ctr"/>
          </a:p>
        </p:txBody>
      </p:sp>
      <p:sp>
        <p:nvSpPr>
          <p:cNvPr id="9" name="TextBox 8"/>
          <p:cNvSpPr txBox="1"/>
          <p:nvPr/>
        </p:nvSpPr>
        <p:spPr>
          <a:xfrm>
            <a:off x="10317175" y="329184"/>
            <a:ext cx="1234439" cy="292608"/>
          </a:xfrm>
          <a:prstGeom prst="rect">
            <a:avLst/>
          </a:prstGeom>
          <a:noFill/>
        </p:spPr>
        <p:txBody>
          <a:bodyPr wrap="square" anchor="ctr">
            <a:spAutoFit/>
          </a:bodyPr>
          <a:lstStyle/>
          <a:p>
            <a:pPr algn="l"/>
            <a:r>
              <a:rPr sz="1150" b="0">
                <a:solidFill>
                  <a:srgbClr val="23384C"/>
                </a:solidFill>
                <a:latin typeface="Consolas" panose="020B0609020204030204"/>
                <a:ea typeface="Noto Sans SC" panose="020B0200000000000000" charset="-122"/>
                <a:cs typeface="Noto Sans SC" panose="020B0200000000000000" charset="-122"/>
              </a:rPr>
              <a:t>Bambu Studio</a:t>
            </a:r>
            <a:endParaRPr sz="1150" b="0">
              <a:solidFill>
                <a:srgbClr val="23384C"/>
              </a:solidFill>
              <a:latin typeface="Consolas" panose="020B0609020204030204"/>
              <a:ea typeface="Noto Sans SC" panose="020B0200000000000000" charset="-122"/>
              <a:cs typeface="Noto Sans SC" panose="020B0200000000000000" charset="-122"/>
            </a:endParaRPr>
          </a:p>
        </p:txBody>
      </p:sp>
      <p:sp>
        <p:nvSpPr>
          <p:cNvPr id="10" name="TextBox 9"/>
          <p:cNvSpPr txBox="1"/>
          <p:nvPr/>
        </p:nvSpPr>
        <p:spPr>
          <a:xfrm>
            <a:off x="594360" y="841248"/>
            <a:ext cx="10058400" cy="502920"/>
          </a:xfrm>
          <a:prstGeom prst="rect">
            <a:avLst/>
          </a:prstGeom>
          <a:noFill/>
        </p:spPr>
        <p:txBody>
          <a:bodyPr wrap="square">
            <a:spAutoFit/>
          </a:bodyPr>
          <a:lstStyle/>
          <a:p>
            <a:pPr algn="l"/>
            <a:r>
              <a:rPr sz="2700" b="1">
                <a:solidFill>
                  <a:srgbClr val="12304F"/>
                </a:solidFill>
                <a:latin typeface="Noto Sans SC" panose="020B0200000000000000" charset="-122"/>
                <a:ea typeface="Noto Sans SC" panose="020B0200000000000000" charset="-122"/>
                <a:cs typeface="Noto Sans SC" panose="020B0200000000000000" charset="-122"/>
              </a:rPr>
              <a:t>打印前检查与下发</a:t>
            </a:r>
            <a:endParaRPr sz="270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11" name="TextBox 10"/>
          <p:cNvSpPr txBox="1"/>
          <p:nvPr/>
        </p:nvSpPr>
        <p:spPr>
          <a:xfrm>
            <a:off x="594360" y="1344168"/>
            <a:ext cx="10607040" cy="274320"/>
          </a:xfrm>
          <a:prstGeom prst="rect">
            <a:avLst/>
          </a:prstGeom>
          <a:noFill/>
        </p:spPr>
        <p:txBody>
          <a:bodyPr wrap="square">
            <a:spAutoFit/>
          </a:bodyPr>
          <a:lstStyle/>
          <a:p>
            <a:pPr algn="l"/>
            <a:r>
              <a:rPr sz="1350" b="0">
                <a:solidFill>
                  <a:srgbClr val="6B7B8A"/>
                </a:solidFill>
                <a:latin typeface="Noto Sans SC" panose="020B0200000000000000" charset="-122"/>
                <a:ea typeface="Noto Sans SC" panose="020B0200000000000000" charset="-122"/>
                <a:cs typeface="Noto Sans SC" panose="020B0200000000000000" charset="-122"/>
              </a:rPr>
              <a:t>首层不对就停，别等打完 6 小时</a:t>
            </a:r>
            <a:endParaRPr sz="13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12" name="Rectangle 11"/>
          <p:cNvSpPr/>
          <p:nvPr/>
        </p:nvSpPr>
        <p:spPr>
          <a:xfrm>
            <a:off x="594360" y="1700784"/>
            <a:ext cx="11002975" cy="12801"/>
          </a:xfrm>
          <a:prstGeom prst="rect">
            <a:avLst/>
          </a:prstGeom>
          <a:solidFill>
            <a:srgbClr val="C9D3DC"/>
          </a:solidFill>
          <a:ln>
            <a:noFill/>
          </a:ln>
        </p:spPr>
        <p:txBody>
          <a:bodyPr rtlCol="0" anchor="ctr"/>
          <a:lstStyle/>
          <a:p>
            <a:pPr algn="ctr"/>
          </a:p>
        </p:txBody>
      </p:sp>
      <p:sp>
        <p:nvSpPr>
          <p:cNvPr id="13" name="TextBox 12"/>
          <p:cNvSpPr txBox="1"/>
          <p:nvPr/>
        </p:nvSpPr>
        <p:spPr>
          <a:xfrm>
            <a:off x="10515600" y="6400800"/>
            <a:ext cx="1371600" cy="274320"/>
          </a:xfrm>
          <a:prstGeom prst="rect">
            <a:avLst/>
          </a:prstGeom>
          <a:noFill/>
        </p:spPr>
        <p:txBody>
          <a:bodyPr wrap="square">
            <a:spAutoFit/>
          </a:bodyPr>
          <a:lstStyle/>
          <a:p>
            <a:pPr algn="r"/>
            <a:r>
              <a:rPr sz="1000" b="0">
                <a:solidFill>
                  <a:srgbClr val="6B7B8A"/>
                </a:solidFill>
                <a:latin typeface="Noto Sans SC" panose="020B0200000000000000" charset="-122"/>
                <a:ea typeface="Noto Sans SC" panose="020B0200000000000000" charset="-122"/>
                <a:cs typeface="Noto Sans SC" panose="020B0200000000000000" charset="-122"/>
              </a:rPr>
              <a:t>28 / 34</a:t>
            </a:r>
            <a:endParaRPr sz="100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14" name="Rectangle 13"/>
          <p:cNvSpPr/>
          <p:nvPr/>
        </p:nvSpPr>
        <p:spPr>
          <a:xfrm>
            <a:off x="594360" y="1965960"/>
            <a:ext cx="5532120" cy="3108960"/>
          </a:xfrm>
          <a:prstGeom prst="rect">
            <a:avLst/>
          </a:prstGeom>
          <a:solidFill>
            <a:srgbClr val="FFFFFF"/>
          </a:solidFill>
          <a:ln w="12700">
            <a:solidFill>
              <a:srgbClr val="C9D3DC"/>
            </a:solidFill>
          </a:ln>
        </p:spPr>
        <p:txBody>
          <a:bodyPr rtlCol="0" anchor="ctr"/>
          <a:lstStyle/>
          <a:p>
            <a:pPr algn="ctr"/>
          </a:p>
        </p:txBody>
      </p:sp>
      <p:sp>
        <p:nvSpPr>
          <p:cNvPr id="15" name="TextBox 14"/>
          <p:cNvSpPr txBox="1"/>
          <p:nvPr/>
        </p:nvSpPr>
        <p:spPr>
          <a:xfrm>
            <a:off x="758952" y="2057400"/>
            <a:ext cx="4572000" cy="237744"/>
          </a:xfrm>
          <a:prstGeom prst="rect">
            <a:avLst/>
          </a:prstGeom>
          <a:noFill/>
        </p:spPr>
        <p:txBody>
          <a:bodyPr wrap="square">
            <a:spAutoFit/>
          </a:bodyPr>
          <a:lstStyle/>
          <a:p>
            <a:pPr algn="l"/>
            <a:r>
              <a:rPr sz="1150" b="0">
                <a:solidFill>
                  <a:srgbClr val="6B7B8A"/>
                </a:solidFill>
                <a:latin typeface="Consolas" panose="020B0609020204030204"/>
                <a:ea typeface="Noto Sans SC" panose="020B0200000000000000" charset="-122"/>
                <a:cs typeface="Noto Sans SC" panose="020B0200000000000000" charset="-122"/>
              </a:rPr>
              <a:t>摆件姿态（三种都要看一遍）</a:t>
            </a:r>
            <a:endParaRPr sz="1150" b="0">
              <a:solidFill>
                <a:srgbClr val="6B7B8A"/>
              </a:solidFill>
              <a:latin typeface="Consolas" panose="020B0609020204030204"/>
              <a:ea typeface="Noto Sans SC" panose="020B0200000000000000" charset="-122"/>
              <a:cs typeface="Noto Sans SC" panose="020B0200000000000000" charset="-122"/>
            </a:endParaRPr>
          </a:p>
        </p:txBody>
      </p:sp>
      <p:sp>
        <p:nvSpPr>
          <p:cNvPr id="17" name="TextBox 16"/>
          <p:cNvSpPr txBox="1"/>
          <p:nvPr/>
        </p:nvSpPr>
        <p:spPr>
          <a:xfrm>
            <a:off x="905256" y="2450592"/>
            <a:ext cx="4910328" cy="219456"/>
          </a:xfrm>
          <a:prstGeom prst="rect">
            <a:avLst/>
          </a:prstGeom>
          <a:noFill/>
        </p:spPr>
        <p:txBody>
          <a:bodyPr wrap="square">
            <a:spAutoFit/>
          </a:bodyPr>
          <a:lstStyle/>
          <a:p>
            <a:pPr algn="l"/>
            <a:r>
              <a:rPr sz="950" b="0">
                <a:solidFill>
                  <a:srgbClr val="6B7B8A"/>
                </a:solidFill>
                <a:latin typeface="Consolas" panose="020B0609020204030204"/>
                <a:ea typeface="Noto Sans SC" panose="020B0200000000000000" charset="-122"/>
                <a:cs typeface="Noto Sans SC" panose="020B0200000000000000" charset="-122"/>
              </a:rPr>
              <a:t>图位 P28-1</a:t>
            </a:r>
            <a:endParaRPr sz="950" b="0">
              <a:solidFill>
                <a:srgbClr val="6B7B8A"/>
              </a:solidFill>
              <a:latin typeface="Consolas" panose="020B0609020204030204"/>
              <a:ea typeface="Noto Sans SC" panose="020B0200000000000000" charset="-122"/>
              <a:cs typeface="Noto Sans SC" panose="020B0200000000000000" charset="-122"/>
            </a:endParaRPr>
          </a:p>
        </p:txBody>
      </p:sp>
      <p:sp>
        <p:nvSpPr>
          <p:cNvPr id="19" name="Isosceles Triangle 18"/>
          <p:cNvSpPr/>
          <p:nvPr/>
        </p:nvSpPr>
        <p:spPr>
          <a:xfrm>
            <a:off x="3177540" y="3191256"/>
            <a:ext cx="146304" cy="128016"/>
          </a:xfrm>
          <a:prstGeom prst="triangle">
            <a:avLst/>
          </a:prstGeom>
          <a:solidFill>
            <a:srgbClr val="9FB0BF"/>
          </a:solidFill>
          <a:ln>
            <a:noFill/>
          </a:ln>
        </p:spPr>
        <p:txBody>
          <a:bodyPr rtlCol="0" anchor="ctr"/>
          <a:lstStyle/>
          <a:p>
            <a:pPr algn="ctr"/>
          </a:p>
        </p:txBody>
      </p:sp>
      <p:sp>
        <p:nvSpPr>
          <p:cNvPr id="20" name="Isosceles Triangle 19"/>
          <p:cNvSpPr/>
          <p:nvPr/>
        </p:nvSpPr>
        <p:spPr>
          <a:xfrm>
            <a:off x="3342132" y="3136392"/>
            <a:ext cx="182880" cy="164592"/>
          </a:xfrm>
          <a:prstGeom prst="triangle">
            <a:avLst/>
          </a:prstGeom>
          <a:solidFill>
            <a:srgbClr val="9FB0BF"/>
          </a:solidFill>
          <a:ln>
            <a:noFill/>
          </a:ln>
        </p:spPr>
        <p:txBody>
          <a:bodyPr rtlCol="0" anchor="ctr"/>
          <a:lstStyle/>
          <a:p>
            <a:pPr algn="ctr"/>
          </a:p>
        </p:txBody>
      </p:sp>
      <p:sp>
        <p:nvSpPr>
          <p:cNvPr id="21" name="Oval 20"/>
          <p:cNvSpPr/>
          <p:nvPr/>
        </p:nvSpPr>
        <p:spPr>
          <a:xfrm>
            <a:off x="3470148" y="3099816"/>
            <a:ext cx="91440" cy="91440"/>
          </a:xfrm>
          <a:prstGeom prst="ellipse">
            <a:avLst/>
          </a:prstGeom>
          <a:solidFill>
            <a:srgbClr val="9FB0BF"/>
          </a:solidFill>
          <a:ln>
            <a:noFill/>
          </a:ln>
        </p:spPr>
        <p:txBody>
          <a:bodyPr rtlCol="0" anchor="ctr"/>
          <a:lstStyle/>
          <a:p>
            <a:pPr algn="ctr"/>
          </a:p>
        </p:txBody>
      </p:sp>
      <p:sp>
        <p:nvSpPr>
          <p:cNvPr id="22" name="TextBox 21"/>
          <p:cNvSpPr txBox="1"/>
          <p:nvPr/>
        </p:nvSpPr>
        <p:spPr>
          <a:xfrm>
            <a:off x="923544" y="3822191"/>
            <a:ext cx="4873752" cy="237744"/>
          </a:xfrm>
          <a:prstGeom prst="rect">
            <a:avLst/>
          </a:prstGeom>
          <a:noFill/>
        </p:spPr>
        <p:txBody>
          <a:bodyPr wrap="square">
            <a:spAutoFit/>
          </a:bodyPr>
          <a:lstStyle/>
          <a:p>
            <a:pPr algn="ctr"/>
            <a:r>
              <a:rPr sz="1050" b="0">
                <a:solidFill>
                  <a:srgbClr val="23384C"/>
                </a:solidFill>
                <a:latin typeface="Noto Sans SC" panose="020B0200000000000000" charset="-122"/>
                <a:ea typeface="Noto Sans SC" panose="020B0200000000000000" charset="-122"/>
                <a:cs typeface="Noto Sans SC" panose="020B0200000000000000" charset="-122"/>
              </a:rPr>
              <a:t>三种摆件姿态的切片预览截图（横放 / 竖放 / 斜放）</a:t>
            </a:r>
            <a:endParaRPr sz="10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3" name="TextBox 22"/>
          <p:cNvSpPr txBox="1"/>
          <p:nvPr/>
        </p:nvSpPr>
        <p:spPr>
          <a:xfrm>
            <a:off x="923544" y="4041648"/>
            <a:ext cx="4873752" cy="237744"/>
          </a:xfrm>
          <a:prstGeom prst="rect">
            <a:avLst/>
          </a:prstGeom>
          <a:noFill/>
        </p:spPr>
        <p:txBody>
          <a:bodyPr wrap="square">
            <a:spAutoFit/>
          </a:bodyPr>
          <a:lstStyle/>
          <a:p>
            <a:pPr algn="ctr"/>
            <a:r>
              <a:rPr sz="950" b="0">
                <a:solidFill>
                  <a:srgbClr val="6B7B8A"/>
                </a:solidFill>
                <a:latin typeface="Noto Sans SC" panose="020B0200000000000000" charset="-122"/>
                <a:ea typeface="Noto Sans SC" panose="020B0200000000000000" charset="-122"/>
                <a:cs typeface="Noto Sans SC" panose="020B0200000000000000" charset="-122"/>
              </a:rPr>
              <a:t>各标注：支撑量 · 强度方向 · 预估时间</a:t>
            </a:r>
            <a:endParaRPr sz="9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24" name="TextBox 23"/>
          <p:cNvSpPr txBox="1"/>
          <p:nvPr/>
        </p:nvSpPr>
        <p:spPr>
          <a:xfrm>
            <a:off x="758952" y="4681601"/>
            <a:ext cx="5212080" cy="256032"/>
          </a:xfrm>
          <a:prstGeom prst="rect">
            <a:avLst/>
          </a:prstGeom>
          <a:noFill/>
        </p:spPr>
        <p:txBody>
          <a:bodyPr wrap="square">
            <a:spAutoFit/>
          </a:bodyPr>
          <a:lstStyle/>
          <a:p>
            <a:pPr algn="l"/>
            <a:r>
              <a:rPr sz="1150" b="0">
                <a:solidFill>
                  <a:srgbClr val="12304F"/>
                </a:solidFill>
                <a:latin typeface="Consolas" panose="020B0609020204030204"/>
                <a:ea typeface="Noto Sans SC" panose="020B0200000000000000" charset="-122"/>
                <a:cs typeface="Noto Sans SC" panose="020B0200000000000000" charset="-122"/>
              </a:rPr>
              <a:t>原则：强度方向优先，其次支撑最少，最后看时间。</a:t>
            </a:r>
            <a:endParaRPr sz="1150" b="0">
              <a:solidFill>
                <a:srgbClr val="12304F"/>
              </a:solidFill>
              <a:latin typeface="Consolas" panose="020B0609020204030204"/>
              <a:ea typeface="Noto Sans SC" panose="020B0200000000000000" charset="-122"/>
              <a:cs typeface="Noto Sans SC" panose="020B0200000000000000" charset="-122"/>
            </a:endParaRPr>
          </a:p>
        </p:txBody>
      </p:sp>
      <p:sp>
        <p:nvSpPr>
          <p:cNvPr id="25" name="TextBox 24"/>
          <p:cNvSpPr txBox="1"/>
          <p:nvPr/>
        </p:nvSpPr>
        <p:spPr>
          <a:xfrm>
            <a:off x="6355080" y="2011680"/>
            <a:ext cx="2468880" cy="237744"/>
          </a:xfrm>
          <a:prstGeom prst="rect">
            <a:avLst/>
          </a:prstGeom>
          <a:noFill/>
        </p:spPr>
        <p:txBody>
          <a:bodyPr wrap="square">
            <a:spAutoFit/>
          </a:bodyPr>
          <a:lstStyle/>
          <a:p>
            <a:pPr algn="l"/>
            <a:r>
              <a:rPr sz="1150" b="0">
                <a:solidFill>
                  <a:srgbClr val="C2571A"/>
                </a:solidFill>
                <a:latin typeface="Consolas" panose="020B0609020204030204"/>
                <a:ea typeface="Noto Sans SC" panose="020B0200000000000000" charset="-122"/>
                <a:cs typeface="Noto Sans SC" panose="020B0200000000000000" charset="-122"/>
              </a:rPr>
              <a:t>设备</a:t>
            </a:r>
            <a:endParaRPr sz="1150" b="0">
              <a:solidFill>
                <a:srgbClr val="C2571A"/>
              </a:solidFill>
              <a:latin typeface="Consolas" panose="020B0609020204030204"/>
              <a:ea typeface="Noto Sans SC" panose="020B0200000000000000" charset="-122"/>
              <a:cs typeface="Noto Sans SC" panose="020B0200000000000000" charset="-122"/>
            </a:endParaRPr>
          </a:p>
        </p:txBody>
      </p:sp>
      <p:sp>
        <p:nvSpPr>
          <p:cNvPr id="26" name="Rectangle 25"/>
          <p:cNvSpPr/>
          <p:nvPr/>
        </p:nvSpPr>
        <p:spPr>
          <a:xfrm>
            <a:off x="6355080" y="2308860"/>
            <a:ext cx="118872" cy="118872"/>
          </a:xfrm>
          <a:prstGeom prst="rect">
            <a:avLst/>
          </a:prstGeom>
          <a:solidFill>
            <a:srgbClr val="FFFFFF"/>
          </a:solidFill>
          <a:ln w="12700">
            <a:solidFill>
              <a:srgbClr val="6B7B8A"/>
            </a:solidFill>
          </a:ln>
        </p:spPr>
        <p:txBody>
          <a:bodyPr rtlCol="0" anchor="ctr"/>
          <a:lstStyle/>
          <a:p>
            <a:pPr algn="ctr"/>
          </a:p>
        </p:txBody>
      </p:sp>
      <p:sp>
        <p:nvSpPr>
          <p:cNvPr id="27" name="TextBox 26"/>
          <p:cNvSpPr txBox="1"/>
          <p:nvPr/>
        </p:nvSpPr>
        <p:spPr>
          <a:xfrm>
            <a:off x="6601968" y="2249424"/>
            <a:ext cx="2221992" cy="310896"/>
          </a:xfrm>
          <a:prstGeom prst="rect">
            <a:avLst/>
          </a:prstGeom>
          <a:noFill/>
        </p:spPr>
        <p:txBody>
          <a:bodyPr wrap="square">
            <a:spAutoFit/>
          </a:bodyPr>
          <a:lstStyle/>
          <a:p>
            <a:pPr algn="l"/>
            <a:r>
              <a:rPr sz="1100" b="0">
                <a:solidFill>
                  <a:srgbClr val="23384C"/>
                </a:solidFill>
                <a:latin typeface="Noto Sans SC" panose="020B0200000000000000" charset="-122"/>
                <a:ea typeface="Noto Sans SC" panose="020B0200000000000000" charset="-122"/>
                <a:cs typeface="Noto Sans SC" panose="020B0200000000000000" charset="-122"/>
              </a:rPr>
              <a:t>板面清洁</a:t>
            </a:r>
            <a:endParaRPr sz="110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8" name="Rectangle 27"/>
          <p:cNvSpPr/>
          <p:nvPr/>
        </p:nvSpPr>
        <p:spPr>
          <a:xfrm>
            <a:off x="6355080" y="2583180"/>
            <a:ext cx="118872" cy="118872"/>
          </a:xfrm>
          <a:prstGeom prst="rect">
            <a:avLst/>
          </a:prstGeom>
          <a:solidFill>
            <a:srgbClr val="FFFFFF"/>
          </a:solidFill>
          <a:ln w="12700">
            <a:solidFill>
              <a:srgbClr val="6B7B8A"/>
            </a:solidFill>
          </a:ln>
        </p:spPr>
        <p:txBody>
          <a:bodyPr rtlCol="0" anchor="ctr"/>
          <a:lstStyle/>
          <a:p>
            <a:pPr algn="ctr"/>
          </a:p>
        </p:txBody>
      </p:sp>
      <p:sp>
        <p:nvSpPr>
          <p:cNvPr id="29" name="TextBox 28"/>
          <p:cNvSpPr txBox="1"/>
          <p:nvPr/>
        </p:nvSpPr>
        <p:spPr>
          <a:xfrm>
            <a:off x="6601968" y="2523744"/>
            <a:ext cx="2221992" cy="310896"/>
          </a:xfrm>
          <a:prstGeom prst="rect">
            <a:avLst/>
          </a:prstGeom>
          <a:noFill/>
        </p:spPr>
        <p:txBody>
          <a:bodyPr wrap="square">
            <a:spAutoFit/>
          </a:bodyPr>
          <a:lstStyle/>
          <a:p>
            <a:pPr algn="l"/>
            <a:r>
              <a:rPr sz="1100" b="0">
                <a:solidFill>
                  <a:srgbClr val="23384C"/>
                </a:solidFill>
                <a:latin typeface="Noto Sans SC" panose="020B0200000000000000" charset="-122"/>
                <a:ea typeface="Noto Sans SC" panose="020B0200000000000000" charset="-122"/>
                <a:cs typeface="Noto Sans SC" panose="020B0200000000000000" charset="-122"/>
              </a:rPr>
              <a:t>耗材余量足够</a:t>
            </a:r>
            <a:endParaRPr sz="110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30" name="Rectangle 29"/>
          <p:cNvSpPr/>
          <p:nvPr/>
        </p:nvSpPr>
        <p:spPr>
          <a:xfrm>
            <a:off x="6355080" y="2857500"/>
            <a:ext cx="118872" cy="118872"/>
          </a:xfrm>
          <a:prstGeom prst="rect">
            <a:avLst/>
          </a:prstGeom>
          <a:solidFill>
            <a:srgbClr val="FFFFFF"/>
          </a:solidFill>
          <a:ln w="12700">
            <a:solidFill>
              <a:srgbClr val="6B7B8A"/>
            </a:solidFill>
          </a:ln>
        </p:spPr>
        <p:txBody>
          <a:bodyPr rtlCol="0" anchor="ctr"/>
          <a:lstStyle/>
          <a:p>
            <a:pPr algn="ctr"/>
          </a:p>
        </p:txBody>
      </p:sp>
      <p:sp>
        <p:nvSpPr>
          <p:cNvPr id="31" name="TextBox 30"/>
          <p:cNvSpPr txBox="1"/>
          <p:nvPr/>
        </p:nvSpPr>
        <p:spPr>
          <a:xfrm>
            <a:off x="6601968" y="2798064"/>
            <a:ext cx="2221992" cy="310896"/>
          </a:xfrm>
          <a:prstGeom prst="rect">
            <a:avLst/>
          </a:prstGeom>
          <a:noFill/>
        </p:spPr>
        <p:txBody>
          <a:bodyPr wrap="square">
            <a:spAutoFit/>
          </a:bodyPr>
          <a:lstStyle/>
          <a:p>
            <a:pPr algn="l"/>
            <a:r>
              <a:rPr sz="1100" b="0">
                <a:solidFill>
                  <a:srgbClr val="23384C"/>
                </a:solidFill>
                <a:latin typeface="Noto Sans SC" panose="020B0200000000000000" charset="-122"/>
                <a:ea typeface="Noto Sans SC" panose="020B0200000000000000" charset="-122"/>
                <a:cs typeface="Noto Sans SC" panose="020B0200000000000000" charset="-122"/>
              </a:rPr>
              <a:t>封闭腔已关门</a:t>
            </a:r>
            <a:endParaRPr sz="110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32" name="TextBox 31"/>
          <p:cNvSpPr txBox="1"/>
          <p:nvPr/>
        </p:nvSpPr>
        <p:spPr>
          <a:xfrm>
            <a:off x="6355080" y="3163824"/>
            <a:ext cx="2468880" cy="237744"/>
          </a:xfrm>
          <a:prstGeom prst="rect">
            <a:avLst/>
          </a:prstGeom>
          <a:noFill/>
        </p:spPr>
        <p:txBody>
          <a:bodyPr wrap="square">
            <a:spAutoFit/>
          </a:bodyPr>
          <a:lstStyle/>
          <a:p>
            <a:pPr algn="l"/>
            <a:r>
              <a:rPr sz="1150" b="0">
                <a:solidFill>
                  <a:srgbClr val="C2571A"/>
                </a:solidFill>
                <a:latin typeface="Consolas" panose="020B0609020204030204"/>
                <a:ea typeface="Noto Sans SC" panose="020B0200000000000000" charset="-122"/>
                <a:cs typeface="Noto Sans SC" panose="020B0200000000000000" charset="-122"/>
              </a:rPr>
              <a:t>参数</a:t>
            </a:r>
            <a:endParaRPr sz="1150" b="0">
              <a:solidFill>
                <a:srgbClr val="C2571A"/>
              </a:solidFill>
              <a:latin typeface="Consolas" panose="020B0609020204030204"/>
              <a:ea typeface="Noto Sans SC" panose="020B0200000000000000" charset="-122"/>
              <a:cs typeface="Noto Sans SC" panose="020B0200000000000000" charset="-122"/>
            </a:endParaRPr>
          </a:p>
        </p:txBody>
      </p:sp>
      <p:sp>
        <p:nvSpPr>
          <p:cNvPr id="33" name="Rectangle 32"/>
          <p:cNvSpPr/>
          <p:nvPr/>
        </p:nvSpPr>
        <p:spPr>
          <a:xfrm>
            <a:off x="6355080" y="3461004"/>
            <a:ext cx="118872" cy="118872"/>
          </a:xfrm>
          <a:prstGeom prst="rect">
            <a:avLst/>
          </a:prstGeom>
          <a:solidFill>
            <a:srgbClr val="FFFFFF"/>
          </a:solidFill>
          <a:ln w="12700">
            <a:solidFill>
              <a:srgbClr val="6B7B8A"/>
            </a:solidFill>
          </a:ln>
        </p:spPr>
        <p:txBody>
          <a:bodyPr rtlCol="0" anchor="ctr"/>
          <a:lstStyle/>
          <a:p>
            <a:pPr algn="ctr"/>
          </a:p>
        </p:txBody>
      </p:sp>
      <p:sp>
        <p:nvSpPr>
          <p:cNvPr id="34" name="TextBox 33"/>
          <p:cNvSpPr txBox="1"/>
          <p:nvPr/>
        </p:nvSpPr>
        <p:spPr>
          <a:xfrm>
            <a:off x="6601968" y="3401568"/>
            <a:ext cx="2221992" cy="310896"/>
          </a:xfrm>
          <a:prstGeom prst="rect">
            <a:avLst/>
          </a:prstGeom>
          <a:noFill/>
        </p:spPr>
        <p:txBody>
          <a:bodyPr wrap="square">
            <a:spAutoFit/>
          </a:bodyPr>
          <a:lstStyle/>
          <a:p>
            <a:pPr algn="l"/>
            <a:r>
              <a:rPr sz="1100" b="0">
                <a:solidFill>
                  <a:srgbClr val="23384C"/>
                </a:solidFill>
                <a:latin typeface="Noto Sans SC" panose="020B0200000000000000" charset="-122"/>
                <a:ea typeface="Noto Sans SC" panose="020B0200000000000000" charset="-122"/>
                <a:cs typeface="Noto Sans SC" panose="020B0200000000000000" charset="-122"/>
              </a:rPr>
              <a:t>机型 / 喷嘴一致</a:t>
            </a:r>
            <a:endParaRPr sz="110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35" name="Rectangle 34"/>
          <p:cNvSpPr/>
          <p:nvPr/>
        </p:nvSpPr>
        <p:spPr>
          <a:xfrm>
            <a:off x="6355080" y="3735324"/>
            <a:ext cx="118872" cy="118872"/>
          </a:xfrm>
          <a:prstGeom prst="rect">
            <a:avLst/>
          </a:prstGeom>
          <a:solidFill>
            <a:srgbClr val="FFFFFF"/>
          </a:solidFill>
          <a:ln w="12700">
            <a:solidFill>
              <a:srgbClr val="6B7B8A"/>
            </a:solidFill>
          </a:ln>
        </p:spPr>
        <p:txBody>
          <a:bodyPr rtlCol="0" anchor="ctr"/>
          <a:lstStyle/>
          <a:p>
            <a:pPr algn="ctr"/>
          </a:p>
        </p:txBody>
      </p:sp>
      <p:sp>
        <p:nvSpPr>
          <p:cNvPr id="36" name="TextBox 35"/>
          <p:cNvSpPr txBox="1"/>
          <p:nvPr/>
        </p:nvSpPr>
        <p:spPr>
          <a:xfrm>
            <a:off x="6601968" y="3675888"/>
            <a:ext cx="2221992" cy="310896"/>
          </a:xfrm>
          <a:prstGeom prst="rect">
            <a:avLst/>
          </a:prstGeom>
          <a:noFill/>
        </p:spPr>
        <p:txBody>
          <a:bodyPr wrap="square">
            <a:spAutoFit/>
          </a:bodyPr>
          <a:lstStyle/>
          <a:p>
            <a:pPr algn="l"/>
            <a:r>
              <a:rPr sz="1100" b="0">
                <a:solidFill>
                  <a:srgbClr val="23384C"/>
                </a:solidFill>
                <a:latin typeface="Noto Sans SC" panose="020B0200000000000000" charset="-122"/>
                <a:ea typeface="Noto Sans SC" panose="020B0200000000000000" charset="-122"/>
                <a:cs typeface="Noto Sans SC" panose="020B0200000000000000" charset="-122"/>
              </a:rPr>
              <a:t>层高与填充已确认</a:t>
            </a:r>
            <a:endParaRPr sz="110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37" name="Rectangle 36"/>
          <p:cNvSpPr/>
          <p:nvPr/>
        </p:nvSpPr>
        <p:spPr>
          <a:xfrm>
            <a:off x="6355080" y="4009644"/>
            <a:ext cx="118872" cy="118872"/>
          </a:xfrm>
          <a:prstGeom prst="rect">
            <a:avLst/>
          </a:prstGeom>
          <a:solidFill>
            <a:srgbClr val="FFFFFF"/>
          </a:solidFill>
          <a:ln w="12700">
            <a:solidFill>
              <a:srgbClr val="6B7B8A"/>
            </a:solidFill>
          </a:ln>
        </p:spPr>
        <p:txBody>
          <a:bodyPr rtlCol="0" anchor="ctr"/>
          <a:lstStyle/>
          <a:p>
            <a:pPr algn="ctr"/>
          </a:p>
        </p:txBody>
      </p:sp>
      <p:sp>
        <p:nvSpPr>
          <p:cNvPr id="38" name="TextBox 37"/>
          <p:cNvSpPr txBox="1"/>
          <p:nvPr/>
        </p:nvSpPr>
        <p:spPr>
          <a:xfrm>
            <a:off x="6601968" y="3950208"/>
            <a:ext cx="2221992" cy="310896"/>
          </a:xfrm>
          <a:prstGeom prst="rect">
            <a:avLst/>
          </a:prstGeom>
          <a:noFill/>
        </p:spPr>
        <p:txBody>
          <a:bodyPr wrap="square">
            <a:spAutoFit/>
          </a:bodyPr>
          <a:lstStyle/>
          <a:p>
            <a:pPr algn="l"/>
            <a:r>
              <a:rPr sz="1100" b="0">
                <a:solidFill>
                  <a:srgbClr val="23384C"/>
                </a:solidFill>
                <a:latin typeface="Noto Sans SC" panose="020B0200000000000000" charset="-122"/>
                <a:ea typeface="Noto Sans SC" panose="020B0200000000000000" charset="-122"/>
                <a:cs typeface="Noto Sans SC" panose="020B0200000000000000" charset="-122"/>
              </a:rPr>
              <a:t>支撑设置已确认</a:t>
            </a:r>
            <a:endParaRPr sz="110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39" name="TextBox 38"/>
          <p:cNvSpPr txBox="1"/>
          <p:nvPr/>
        </p:nvSpPr>
        <p:spPr>
          <a:xfrm>
            <a:off x="9006840" y="2011680"/>
            <a:ext cx="2560320" cy="237744"/>
          </a:xfrm>
          <a:prstGeom prst="rect">
            <a:avLst/>
          </a:prstGeom>
          <a:noFill/>
        </p:spPr>
        <p:txBody>
          <a:bodyPr wrap="square">
            <a:spAutoFit/>
          </a:bodyPr>
          <a:lstStyle/>
          <a:p>
            <a:pPr algn="l"/>
            <a:r>
              <a:rPr sz="1150" b="0">
                <a:solidFill>
                  <a:srgbClr val="C2571A"/>
                </a:solidFill>
                <a:latin typeface="Consolas" panose="020B0609020204030204"/>
                <a:ea typeface="Noto Sans SC" panose="020B0200000000000000" charset="-122"/>
                <a:cs typeface="Noto Sans SC" panose="020B0200000000000000" charset="-122"/>
              </a:rPr>
              <a:t>模型</a:t>
            </a:r>
            <a:endParaRPr sz="1150" b="0">
              <a:solidFill>
                <a:srgbClr val="C2571A"/>
              </a:solidFill>
              <a:latin typeface="Consolas" panose="020B0609020204030204"/>
              <a:ea typeface="Noto Sans SC" panose="020B0200000000000000" charset="-122"/>
              <a:cs typeface="Noto Sans SC" panose="020B0200000000000000" charset="-122"/>
            </a:endParaRPr>
          </a:p>
        </p:txBody>
      </p:sp>
      <p:sp>
        <p:nvSpPr>
          <p:cNvPr id="40" name="Rectangle 39"/>
          <p:cNvSpPr/>
          <p:nvPr/>
        </p:nvSpPr>
        <p:spPr>
          <a:xfrm>
            <a:off x="9006840" y="2308860"/>
            <a:ext cx="118872" cy="118872"/>
          </a:xfrm>
          <a:prstGeom prst="rect">
            <a:avLst/>
          </a:prstGeom>
          <a:solidFill>
            <a:srgbClr val="FFFFFF"/>
          </a:solidFill>
          <a:ln w="12700">
            <a:solidFill>
              <a:srgbClr val="6B7B8A"/>
            </a:solidFill>
          </a:ln>
        </p:spPr>
        <p:txBody>
          <a:bodyPr rtlCol="0" anchor="ctr"/>
          <a:lstStyle/>
          <a:p>
            <a:pPr algn="ctr"/>
          </a:p>
        </p:txBody>
      </p:sp>
      <p:sp>
        <p:nvSpPr>
          <p:cNvPr id="41" name="TextBox 40"/>
          <p:cNvSpPr txBox="1"/>
          <p:nvPr/>
        </p:nvSpPr>
        <p:spPr>
          <a:xfrm>
            <a:off x="9253728" y="2249424"/>
            <a:ext cx="2313432" cy="310896"/>
          </a:xfrm>
          <a:prstGeom prst="rect">
            <a:avLst/>
          </a:prstGeom>
          <a:noFill/>
        </p:spPr>
        <p:txBody>
          <a:bodyPr wrap="square">
            <a:spAutoFit/>
          </a:bodyPr>
          <a:lstStyle/>
          <a:p>
            <a:pPr algn="l"/>
            <a:r>
              <a:rPr sz="1100" b="0">
                <a:solidFill>
                  <a:srgbClr val="23384C"/>
                </a:solidFill>
                <a:latin typeface="Noto Sans SC" panose="020B0200000000000000" charset="-122"/>
                <a:ea typeface="Noto Sans SC" panose="020B0200000000000000" charset="-122"/>
                <a:cs typeface="Noto Sans SC" panose="020B0200000000000000" charset="-122"/>
              </a:rPr>
              <a:t>在板内 · 无穿模</a:t>
            </a:r>
            <a:endParaRPr sz="110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42" name="Rectangle 41"/>
          <p:cNvSpPr/>
          <p:nvPr/>
        </p:nvSpPr>
        <p:spPr>
          <a:xfrm>
            <a:off x="9006840" y="2583180"/>
            <a:ext cx="118872" cy="118872"/>
          </a:xfrm>
          <a:prstGeom prst="rect">
            <a:avLst/>
          </a:prstGeom>
          <a:solidFill>
            <a:srgbClr val="FFFFFF"/>
          </a:solidFill>
          <a:ln w="12700">
            <a:solidFill>
              <a:srgbClr val="6B7B8A"/>
            </a:solidFill>
          </a:ln>
        </p:spPr>
        <p:txBody>
          <a:bodyPr rtlCol="0" anchor="ctr"/>
          <a:lstStyle/>
          <a:p>
            <a:pPr algn="ctr"/>
          </a:p>
        </p:txBody>
      </p:sp>
      <p:sp>
        <p:nvSpPr>
          <p:cNvPr id="43" name="TextBox 42"/>
          <p:cNvSpPr txBox="1"/>
          <p:nvPr/>
        </p:nvSpPr>
        <p:spPr>
          <a:xfrm>
            <a:off x="9253728" y="2523744"/>
            <a:ext cx="2313432" cy="310896"/>
          </a:xfrm>
          <a:prstGeom prst="rect">
            <a:avLst/>
          </a:prstGeom>
          <a:noFill/>
        </p:spPr>
        <p:txBody>
          <a:bodyPr wrap="square">
            <a:spAutoFit/>
          </a:bodyPr>
          <a:lstStyle/>
          <a:p>
            <a:pPr algn="l"/>
            <a:r>
              <a:rPr sz="1100" b="0">
                <a:solidFill>
                  <a:srgbClr val="23384C"/>
                </a:solidFill>
                <a:latin typeface="Noto Sans SC" panose="020B0200000000000000" charset="-122"/>
                <a:ea typeface="Noto Sans SC" panose="020B0200000000000000" charset="-122"/>
                <a:cs typeface="Noto Sans SC" panose="020B0200000000000000" charset="-122"/>
              </a:rPr>
              <a:t>单位 mm</a:t>
            </a:r>
            <a:endParaRPr sz="110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44" name="Rectangle 43"/>
          <p:cNvSpPr/>
          <p:nvPr/>
        </p:nvSpPr>
        <p:spPr>
          <a:xfrm>
            <a:off x="9006840" y="2857500"/>
            <a:ext cx="118872" cy="118872"/>
          </a:xfrm>
          <a:prstGeom prst="rect">
            <a:avLst/>
          </a:prstGeom>
          <a:solidFill>
            <a:srgbClr val="FFFFFF"/>
          </a:solidFill>
          <a:ln w="12700">
            <a:solidFill>
              <a:srgbClr val="6B7B8A"/>
            </a:solidFill>
          </a:ln>
        </p:spPr>
        <p:txBody>
          <a:bodyPr rtlCol="0" anchor="ctr"/>
          <a:lstStyle/>
          <a:p>
            <a:pPr algn="ctr"/>
          </a:p>
        </p:txBody>
      </p:sp>
      <p:sp>
        <p:nvSpPr>
          <p:cNvPr id="45" name="TextBox 44"/>
          <p:cNvSpPr txBox="1"/>
          <p:nvPr/>
        </p:nvSpPr>
        <p:spPr>
          <a:xfrm>
            <a:off x="9253728" y="2798064"/>
            <a:ext cx="2313432" cy="310896"/>
          </a:xfrm>
          <a:prstGeom prst="rect">
            <a:avLst/>
          </a:prstGeom>
          <a:noFill/>
        </p:spPr>
        <p:txBody>
          <a:bodyPr wrap="square">
            <a:spAutoFit/>
          </a:bodyPr>
          <a:lstStyle/>
          <a:p>
            <a:pPr algn="l"/>
            <a:r>
              <a:rPr sz="1100" b="0">
                <a:solidFill>
                  <a:srgbClr val="23384C"/>
                </a:solidFill>
                <a:latin typeface="Noto Sans SC" panose="020B0200000000000000" charset="-122"/>
                <a:ea typeface="Noto Sans SC" panose="020B0200000000000000" charset="-122"/>
                <a:cs typeface="Noto Sans SC" panose="020B0200000000000000" charset="-122"/>
              </a:rPr>
              <a:t>首层接触够大</a:t>
            </a:r>
            <a:endParaRPr sz="110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46" name="Rectangle 45"/>
          <p:cNvSpPr/>
          <p:nvPr/>
        </p:nvSpPr>
        <p:spPr>
          <a:xfrm>
            <a:off x="9006840" y="3131820"/>
            <a:ext cx="118872" cy="118872"/>
          </a:xfrm>
          <a:prstGeom prst="rect">
            <a:avLst/>
          </a:prstGeom>
          <a:solidFill>
            <a:srgbClr val="FFFFFF"/>
          </a:solidFill>
          <a:ln w="12700">
            <a:solidFill>
              <a:srgbClr val="6B7B8A"/>
            </a:solidFill>
          </a:ln>
        </p:spPr>
        <p:txBody>
          <a:bodyPr rtlCol="0" anchor="ctr"/>
          <a:lstStyle/>
          <a:p>
            <a:pPr algn="ctr"/>
          </a:p>
        </p:txBody>
      </p:sp>
      <p:sp>
        <p:nvSpPr>
          <p:cNvPr id="47" name="TextBox 46"/>
          <p:cNvSpPr txBox="1"/>
          <p:nvPr/>
        </p:nvSpPr>
        <p:spPr>
          <a:xfrm>
            <a:off x="9253728" y="3072384"/>
            <a:ext cx="2313432" cy="310896"/>
          </a:xfrm>
          <a:prstGeom prst="rect">
            <a:avLst/>
          </a:prstGeom>
          <a:noFill/>
        </p:spPr>
        <p:txBody>
          <a:bodyPr wrap="square">
            <a:spAutoFit/>
          </a:bodyPr>
          <a:lstStyle/>
          <a:p>
            <a:pPr algn="l"/>
            <a:r>
              <a:rPr sz="1100" b="0">
                <a:solidFill>
                  <a:srgbClr val="23384C"/>
                </a:solidFill>
                <a:latin typeface="Noto Sans SC" panose="020B0200000000000000" charset="-122"/>
                <a:ea typeface="Noto Sans SC" panose="020B0200000000000000" charset="-122"/>
                <a:cs typeface="Noto Sans SC" panose="020B0200000000000000" charset="-122"/>
              </a:rPr>
              <a:t>命名规范</a:t>
            </a:r>
            <a:endParaRPr sz="110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48" name="TextBox 47"/>
          <p:cNvSpPr txBox="1"/>
          <p:nvPr/>
        </p:nvSpPr>
        <p:spPr>
          <a:xfrm>
            <a:off x="9006840" y="3438144"/>
            <a:ext cx="2560320" cy="237744"/>
          </a:xfrm>
          <a:prstGeom prst="rect">
            <a:avLst/>
          </a:prstGeom>
          <a:noFill/>
        </p:spPr>
        <p:txBody>
          <a:bodyPr wrap="square">
            <a:spAutoFit/>
          </a:bodyPr>
          <a:lstStyle/>
          <a:p>
            <a:pPr algn="l"/>
            <a:r>
              <a:rPr sz="1150" b="0">
                <a:solidFill>
                  <a:srgbClr val="C2571A"/>
                </a:solidFill>
                <a:latin typeface="Consolas" panose="020B0609020204030204"/>
                <a:ea typeface="Noto Sans SC" panose="020B0200000000000000" charset="-122"/>
                <a:cs typeface="Noto Sans SC" panose="020B0200000000000000" charset="-122"/>
              </a:rPr>
              <a:t>记录</a:t>
            </a:r>
            <a:endParaRPr sz="1150" b="0">
              <a:solidFill>
                <a:srgbClr val="C2571A"/>
              </a:solidFill>
              <a:latin typeface="Consolas" panose="020B0609020204030204"/>
              <a:ea typeface="Noto Sans SC" panose="020B0200000000000000" charset="-122"/>
              <a:cs typeface="Noto Sans SC" panose="020B0200000000000000" charset="-122"/>
            </a:endParaRPr>
          </a:p>
        </p:txBody>
      </p:sp>
      <p:sp>
        <p:nvSpPr>
          <p:cNvPr id="49" name="Rectangle 48"/>
          <p:cNvSpPr/>
          <p:nvPr/>
        </p:nvSpPr>
        <p:spPr>
          <a:xfrm>
            <a:off x="9006840" y="3735324"/>
            <a:ext cx="118872" cy="118872"/>
          </a:xfrm>
          <a:prstGeom prst="rect">
            <a:avLst/>
          </a:prstGeom>
          <a:solidFill>
            <a:srgbClr val="FFFFFF"/>
          </a:solidFill>
          <a:ln w="12700">
            <a:solidFill>
              <a:srgbClr val="6B7B8A"/>
            </a:solidFill>
          </a:ln>
        </p:spPr>
        <p:txBody>
          <a:bodyPr rtlCol="0" anchor="ctr"/>
          <a:lstStyle/>
          <a:p>
            <a:pPr algn="ctr"/>
          </a:p>
        </p:txBody>
      </p:sp>
      <p:sp>
        <p:nvSpPr>
          <p:cNvPr id="50" name="TextBox 49"/>
          <p:cNvSpPr txBox="1"/>
          <p:nvPr/>
        </p:nvSpPr>
        <p:spPr>
          <a:xfrm>
            <a:off x="9253728" y="3675888"/>
            <a:ext cx="2313432" cy="310896"/>
          </a:xfrm>
          <a:prstGeom prst="rect">
            <a:avLst/>
          </a:prstGeom>
          <a:noFill/>
        </p:spPr>
        <p:txBody>
          <a:bodyPr wrap="square">
            <a:spAutoFit/>
          </a:bodyPr>
          <a:lstStyle/>
          <a:p>
            <a:pPr algn="l"/>
            <a:r>
              <a:rPr sz="1100" b="0">
                <a:solidFill>
                  <a:srgbClr val="23384C"/>
                </a:solidFill>
                <a:latin typeface="Noto Sans SC" panose="020B0200000000000000" charset="-122"/>
                <a:ea typeface="Noto Sans SC" panose="020B0200000000000000" charset="-122"/>
                <a:cs typeface="Noto Sans SC" panose="020B0200000000000000" charset="-122"/>
              </a:rPr>
              <a:t>时间 / 耗材估算</a:t>
            </a:r>
            <a:endParaRPr sz="110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51" name="Rectangle 50"/>
          <p:cNvSpPr/>
          <p:nvPr/>
        </p:nvSpPr>
        <p:spPr>
          <a:xfrm>
            <a:off x="9006840" y="4009644"/>
            <a:ext cx="118872" cy="118872"/>
          </a:xfrm>
          <a:prstGeom prst="rect">
            <a:avLst/>
          </a:prstGeom>
          <a:solidFill>
            <a:srgbClr val="FFFFFF"/>
          </a:solidFill>
          <a:ln w="12700">
            <a:solidFill>
              <a:srgbClr val="6B7B8A"/>
            </a:solidFill>
          </a:ln>
        </p:spPr>
        <p:txBody>
          <a:bodyPr rtlCol="0" anchor="ctr"/>
          <a:lstStyle/>
          <a:p>
            <a:pPr algn="ctr"/>
          </a:p>
        </p:txBody>
      </p:sp>
      <p:sp>
        <p:nvSpPr>
          <p:cNvPr id="52" name="TextBox 51"/>
          <p:cNvSpPr txBox="1"/>
          <p:nvPr/>
        </p:nvSpPr>
        <p:spPr>
          <a:xfrm>
            <a:off x="9253728" y="3950208"/>
            <a:ext cx="2313432" cy="310896"/>
          </a:xfrm>
          <a:prstGeom prst="rect">
            <a:avLst/>
          </a:prstGeom>
          <a:noFill/>
        </p:spPr>
        <p:txBody>
          <a:bodyPr wrap="square">
            <a:spAutoFit/>
          </a:bodyPr>
          <a:lstStyle/>
          <a:p>
            <a:pPr algn="l"/>
            <a:r>
              <a:rPr sz="1100" b="0">
                <a:solidFill>
                  <a:srgbClr val="23384C"/>
                </a:solidFill>
                <a:latin typeface="Noto Sans SC" panose="020B0200000000000000" charset="-122"/>
                <a:ea typeface="Noto Sans SC" panose="020B0200000000000000" charset="-122"/>
                <a:cs typeface="Noto Sans SC" panose="020B0200000000000000" charset="-122"/>
              </a:rPr>
              <a:t>打印板型号</a:t>
            </a:r>
            <a:endParaRPr sz="110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53" name="Rounded Rectangle 52"/>
          <p:cNvSpPr/>
          <p:nvPr/>
        </p:nvSpPr>
        <p:spPr>
          <a:xfrm>
            <a:off x="594360" y="5230368"/>
            <a:ext cx="11002975" cy="420624"/>
          </a:xfrm>
          <a:prstGeom prst="roundRect">
            <a:avLst/>
          </a:prstGeom>
          <a:solidFill>
            <a:srgbClr val="F0EAF4"/>
          </a:solidFill>
          <a:ln w="12700">
            <a:solidFill>
              <a:srgbClr val="6A4C93"/>
            </a:solidFill>
          </a:ln>
        </p:spPr>
        <p:txBody>
          <a:bodyPr rtlCol="0" anchor="ctr"/>
          <a:lstStyle/>
          <a:p>
            <a:pPr algn="ctr"/>
          </a:p>
        </p:txBody>
      </p:sp>
      <p:sp>
        <p:nvSpPr>
          <p:cNvPr id="54" name="Rectangle 53"/>
          <p:cNvSpPr/>
          <p:nvPr/>
        </p:nvSpPr>
        <p:spPr>
          <a:xfrm>
            <a:off x="594360" y="5230368"/>
            <a:ext cx="50292" cy="420624"/>
          </a:xfrm>
          <a:prstGeom prst="rect">
            <a:avLst/>
          </a:prstGeom>
          <a:solidFill>
            <a:srgbClr val="6A4C93"/>
          </a:solidFill>
          <a:ln>
            <a:noFill/>
          </a:ln>
        </p:spPr>
        <p:txBody>
          <a:bodyPr rtlCol="0" anchor="ctr"/>
          <a:lstStyle/>
          <a:p>
            <a:pPr algn="ctr"/>
          </a:p>
        </p:txBody>
      </p:sp>
      <p:sp>
        <p:nvSpPr>
          <p:cNvPr id="55" name="TextBox 54"/>
          <p:cNvSpPr txBox="1"/>
          <p:nvPr/>
        </p:nvSpPr>
        <p:spPr>
          <a:xfrm>
            <a:off x="795528" y="5230368"/>
            <a:ext cx="10600639" cy="420624"/>
          </a:xfrm>
          <a:prstGeom prst="rect">
            <a:avLst/>
          </a:prstGeom>
          <a:noFill/>
        </p:spPr>
        <p:txBody>
          <a:bodyPr wrap="square" anchor="ctr">
            <a:spAutoFit/>
          </a:bodyPr>
          <a:lstStyle/>
          <a:p>
            <a:pPr algn="l"/>
            <a:r>
              <a:rPr sz="1250" b="1">
                <a:solidFill>
                  <a:srgbClr val="6A4C93"/>
                </a:solidFill>
                <a:latin typeface="Noto Sans SC" panose="020B0200000000000000" charset="-122"/>
                <a:ea typeface="Noto Sans SC" panose="020B0200000000000000" charset="-122"/>
                <a:cs typeface="Noto Sans SC" panose="020B0200000000000000" charset="-122"/>
              </a:rPr>
              <a:t>命名规范：项目_零件_版本_材料（例：CHASSIS_BEAM_V3_PETG）</a:t>
            </a:r>
            <a:endParaRPr sz="1250" b="1">
              <a:solidFill>
                <a:srgbClr val="6A4C93"/>
              </a:solidFill>
              <a:latin typeface="Noto Sans SC" panose="020B0200000000000000" charset="-122"/>
              <a:ea typeface="Noto Sans SC" panose="020B0200000000000000" charset="-122"/>
              <a:cs typeface="Noto Sans SC" panose="020B0200000000000000" charset="-122"/>
            </a:endParaRPr>
          </a:p>
        </p:txBody>
      </p:sp>
      <p:sp>
        <p:nvSpPr>
          <p:cNvPr id="56" name="Rectangle 55"/>
          <p:cNvSpPr/>
          <p:nvPr/>
        </p:nvSpPr>
        <p:spPr>
          <a:xfrm>
            <a:off x="594360" y="6199632"/>
            <a:ext cx="11002975" cy="10972"/>
          </a:xfrm>
          <a:prstGeom prst="rect">
            <a:avLst/>
          </a:prstGeom>
          <a:solidFill>
            <a:srgbClr val="C9D3DC"/>
          </a:solidFill>
          <a:ln>
            <a:noFill/>
          </a:ln>
        </p:spPr>
        <p:txBody>
          <a:bodyPr rtlCol="0" anchor="ctr"/>
          <a:lstStyle/>
          <a:p>
            <a:pPr algn="ctr"/>
          </a:p>
        </p:txBody>
      </p:sp>
      <p:sp>
        <p:nvSpPr>
          <p:cNvPr id="57" name="TextBox 56"/>
          <p:cNvSpPr txBox="1"/>
          <p:nvPr/>
        </p:nvSpPr>
        <p:spPr>
          <a:xfrm>
            <a:off x="594360" y="6327648"/>
            <a:ext cx="8778240" cy="274320"/>
          </a:xfrm>
          <a:prstGeom prst="rect">
            <a:avLst/>
          </a:prstGeom>
          <a:noFill/>
        </p:spPr>
        <p:txBody>
          <a:bodyPr wrap="square">
            <a:spAutoFit/>
          </a:bodyPr>
          <a:lstStyle/>
          <a:p>
            <a:pPr algn="l"/>
            <a:r>
              <a:rPr sz="1100" b="0">
                <a:solidFill>
                  <a:srgbClr val="6B7B8A"/>
                </a:solidFill>
                <a:latin typeface="Noto Sans SC" panose="020B0200000000000000" charset="-122"/>
                <a:ea typeface="Noto Sans SC" panose="020B0200000000000000" charset="-122"/>
                <a:cs typeface="Noto Sans SC" panose="020B0200000000000000" charset="-122"/>
              </a:rPr>
              <a:t>可迁移：把检查表固定下来 —— 换人打、换件打，结果都一样。</a:t>
            </a:r>
            <a:endParaRPr sz="1100" b="0">
              <a:solidFill>
                <a:srgbClr val="6B7B8A"/>
              </a:solidFill>
              <a:latin typeface="Noto Sans SC" panose="020B0200000000000000" charset="-122"/>
              <a:ea typeface="Noto Sans SC" panose="020B0200000000000000" charset="-122"/>
              <a:cs typeface="Noto Sans SC" panose="020B0200000000000000" charset="-122"/>
            </a:endParaRPr>
          </a:p>
        </p:txBody>
      </p:sp>
      <p:pic>
        <p:nvPicPr>
          <p:cNvPr id="58" name="图片 57"/>
          <p:cNvPicPr>
            <a:picLocks noChangeAspect="1"/>
          </p:cNvPicPr>
          <p:nvPr/>
        </p:nvPicPr>
        <p:blipFill>
          <a:blip r:embed="rId2"/>
          <a:stretch>
            <a:fillRect/>
          </a:stretch>
        </p:blipFill>
        <p:spPr>
          <a:xfrm>
            <a:off x="1511300" y="2371090"/>
            <a:ext cx="3339465" cy="2212975"/>
          </a:xfrm>
          <a:prstGeom prst="round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pic>
        <p:nvPicPr>
          <p:cNvPr id="2" name="Picture 1" descr="447916673a97bd1f0e53b186d485eed5.png"/>
          <p:cNvPicPr>
            <a:picLocks noChangeAspect="1"/>
          </p:cNvPicPr>
          <p:nvPr/>
        </p:nvPicPr>
        <p:blipFill>
          <a:blip r:embed="rId1"/>
          <a:stretch>
            <a:fillRect/>
          </a:stretch>
        </p:blipFill>
        <p:spPr>
          <a:xfrm>
            <a:off x="0" y="0"/>
            <a:ext cx="12191695" cy="6858000"/>
          </a:xfrm>
          <a:prstGeom prst="rect">
            <a:avLst/>
          </a:prstGeom>
        </p:spPr>
      </p:pic>
      <p:sp>
        <p:nvSpPr>
          <p:cNvPr id="3" name="Rectangle 2"/>
          <p:cNvSpPr/>
          <p:nvPr/>
        </p:nvSpPr>
        <p:spPr>
          <a:xfrm>
            <a:off x="0" y="0"/>
            <a:ext cx="12191695" cy="68580"/>
          </a:xfrm>
          <a:prstGeom prst="rect">
            <a:avLst/>
          </a:prstGeom>
          <a:solidFill>
            <a:srgbClr val="6A4C93"/>
          </a:solidFill>
          <a:ln>
            <a:noFill/>
          </a:ln>
        </p:spPr>
        <p:txBody>
          <a:bodyPr rtlCol="0" anchor="ctr"/>
          <a:lstStyle/>
          <a:p>
            <a:pPr algn="ctr"/>
          </a:p>
        </p:txBody>
      </p:sp>
      <p:sp>
        <p:nvSpPr>
          <p:cNvPr id="4" name="Rounded Rectangle 3"/>
          <p:cNvSpPr/>
          <p:nvPr/>
        </p:nvSpPr>
        <p:spPr>
          <a:xfrm>
            <a:off x="594360" y="310896"/>
            <a:ext cx="1517904" cy="329184"/>
          </a:xfrm>
          <a:prstGeom prst="roundRect">
            <a:avLst/>
          </a:prstGeom>
          <a:solidFill>
            <a:srgbClr val="6A4C93"/>
          </a:solidFill>
          <a:ln>
            <a:noFill/>
          </a:ln>
        </p:spPr>
        <p:txBody>
          <a:bodyPr rtlCol="0" anchor="ctr"/>
          <a:lstStyle/>
          <a:p>
            <a:pPr algn="ctr"/>
          </a:p>
        </p:txBody>
      </p:sp>
      <p:sp>
        <p:nvSpPr>
          <p:cNvPr id="5" name="TextBox 4"/>
          <p:cNvSpPr txBox="1"/>
          <p:nvPr/>
        </p:nvSpPr>
        <p:spPr>
          <a:xfrm>
            <a:off x="649224" y="310896"/>
            <a:ext cx="1408176" cy="329184"/>
          </a:xfrm>
          <a:prstGeom prst="rect">
            <a:avLst/>
          </a:prstGeom>
          <a:noFill/>
        </p:spPr>
        <p:txBody>
          <a:bodyPr wrap="square" anchor="ctr">
            <a:spAutoFit/>
          </a:bodyPr>
          <a:lstStyle/>
          <a:p>
            <a:pPr algn="ctr"/>
            <a:r>
              <a:rPr sz="1300" b="1">
                <a:solidFill>
                  <a:srgbClr val="FFFFFF"/>
                </a:solidFill>
                <a:latin typeface="Noto Sans SC" panose="020B0200000000000000" charset="-122"/>
                <a:ea typeface="Noto Sans SC" panose="020B0200000000000000" charset="-122"/>
                <a:cs typeface="Noto Sans SC" panose="020B0200000000000000" charset="-122"/>
              </a:rPr>
              <a:t>04  加工</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6" name="TextBox 5"/>
          <p:cNvSpPr txBox="1"/>
          <p:nvPr/>
        </p:nvSpPr>
        <p:spPr>
          <a:xfrm>
            <a:off x="2295144" y="338328"/>
            <a:ext cx="3840480" cy="274320"/>
          </a:xfrm>
          <a:prstGeom prst="rect">
            <a:avLst/>
          </a:prstGeom>
          <a:noFill/>
        </p:spPr>
        <p:txBody>
          <a:bodyPr wrap="square">
            <a:spAutoFit/>
          </a:bodyPr>
          <a:lstStyle/>
          <a:p>
            <a:pPr algn="l"/>
            <a:r>
              <a:rPr sz="1150" b="0">
                <a:solidFill>
                  <a:srgbClr val="6B7B8A"/>
                </a:solidFill>
                <a:latin typeface="Consolas" panose="020B0609020204030204"/>
                <a:ea typeface="Noto Sans SC" panose="020B0200000000000000" charset="-122"/>
                <a:cs typeface="Noto Sans SC" panose="020B0200000000000000" charset="-122"/>
              </a:rPr>
              <a:t>方法 22 · 故障排查</a:t>
            </a:r>
            <a:endParaRPr sz="1150" b="0">
              <a:solidFill>
                <a:srgbClr val="6B7B8A"/>
              </a:solidFill>
              <a:latin typeface="Consolas" panose="020B0609020204030204"/>
              <a:ea typeface="Noto Sans SC" panose="020B0200000000000000" charset="-122"/>
              <a:cs typeface="Noto Sans SC" panose="020B0200000000000000" charset="-122"/>
            </a:endParaRPr>
          </a:p>
        </p:txBody>
      </p:sp>
      <p:sp>
        <p:nvSpPr>
          <p:cNvPr id="7" name="Rounded Rectangle 6"/>
          <p:cNvSpPr/>
          <p:nvPr/>
        </p:nvSpPr>
        <p:spPr>
          <a:xfrm>
            <a:off x="10070287" y="329184"/>
            <a:ext cx="1527048" cy="292608"/>
          </a:xfrm>
          <a:prstGeom prst="roundRect">
            <a:avLst/>
          </a:prstGeom>
          <a:solidFill>
            <a:srgbClr val="FFFFFF"/>
          </a:solidFill>
          <a:ln w="12700">
            <a:solidFill>
              <a:srgbClr val="C9D3DC"/>
            </a:solidFill>
          </a:ln>
        </p:spPr>
        <p:txBody>
          <a:bodyPr rtlCol="0" anchor="ctr"/>
          <a:lstStyle/>
          <a:p>
            <a:pPr algn="ctr"/>
          </a:p>
        </p:txBody>
      </p:sp>
      <p:sp>
        <p:nvSpPr>
          <p:cNvPr id="8" name="Rectangle 7"/>
          <p:cNvSpPr/>
          <p:nvPr/>
        </p:nvSpPr>
        <p:spPr>
          <a:xfrm>
            <a:off x="10189159" y="443484"/>
            <a:ext cx="68580" cy="68580"/>
          </a:xfrm>
          <a:prstGeom prst="rect">
            <a:avLst/>
          </a:prstGeom>
          <a:solidFill>
            <a:srgbClr val="2F7D53"/>
          </a:solidFill>
          <a:ln>
            <a:noFill/>
          </a:ln>
        </p:spPr>
        <p:txBody>
          <a:bodyPr rtlCol="0" anchor="ctr"/>
          <a:lstStyle/>
          <a:p>
            <a:pPr algn="ctr"/>
          </a:p>
        </p:txBody>
      </p:sp>
      <p:sp>
        <p:nvSpPr>
          <p:cNvPr id="9" name="TextBox 8"/>
          <p:cNvSpPr txBox="1"/>
          <p:nvPr/>
        </p:nvSpPr>
        <p:spPr>
          <a:xfrm>
            <a:off x="10317175" y="329184"/>
            <a:ext cx="1234439" cy="292608"/>
          </a:xfrm>
          <a:prstGeom prst="rect">
            <a:avLst/>
          </a:prstGeom>
          <a:noFill/>
        </p:spPr>
        <p:txBody>
          <a:bodyPr wrap="square" anchor="ctr">
            <a:spAutoFit/>
          </a:bodyPr>
          <a:lstStyle/>
          <a:p>
            <a:pPr algn="l"/>
            <a:r>
              <a:rPr sz="1150" b="0">
                <a:solidFill>
                  <a:srgbClr val="23384C"/>
                </a:solidFill>
                <a:latin typeface="Consolas" panose="020B0609020204030204"/>
                <a:ea typeface="Noto Sans SC" panose="020B0200000000000000" charset="-122"/>
                <a:cs typeface="Noto Sans SC" panose="020B0200000000000000" charset="-122"/>
              </a:rPr>
              <a:t>Bambu Studio</a:t>
            </a:r>
            <a:endParaRPr sz="1150" b="0">
              <a:solidFill>
                <a:srgbClr val="23384C"/>
              </a:solidFill>
              <a:latin typeface="Consolas" panose="020B0609020204030204"/>
              <a:ea typeface="Noto Sans SC" panose="020B0200000000000000" charset="-122"/>
              <a:cs typeface="Noto Sans SC" panose="020B0200000000000000" charset="-122"/>
            </a:endParaRPr>
          </a:p>
        </p:txBody>
      </p:sp>
      <p:sp>
        <p:nvSpPr>
          <p:cNvPr id="10" name="TextBox 9"/>
          <p:cNvSpPr txBox="1"/>
          <p:nvPr/>
        </p:nvSpPr>
        <p:spPr>
          <a:xfrm>
            <a:off x="594360" y="841248"/>
            <a:ext cx="10058400" cy="502920"/>
          </a:xfrm>
          <a:prstGeom prst="rect">
            <a:avLst/>
          </a:prstGeom>
          <a:noFill/>
        </p:spPr>
        <p:txBody>
          <a:bodyPr wrap="square">
            <a:spAutoFit/>
          </a:bodyPr>
          <a:lstStyle/>
          <a:p>
            <a:pPr algn="l"/>
            <a:r>
              <a:rPr sz="2700" b="1">
                <a:solidFill>
                  <a:srgbClr val="12304F"/>
                </a:solidFill>
                <a:latin typeface="Noto Sans SC" panose="020B0200000000000000" charset="-122"/>
                <a:ea typeface="Noto Sans SC" panose="020B0200000000000000" charset="-122"/>
                <a:cs typeface="Noto Sans SC" panose="020B0200000000000000" charset="-122"/>
              </a:rPr>
              <a:t>打印故障排查方法</a:t>
            </a:r>
            <a:endParaRPr sz="270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11" name="TextBox 10"/>
          <p:cNvSpPr txBox="1"/>
          <p:nvPr/>
        </p:nvSpPr>
        <p:spPr>
          <a:xfrm>
            <a:off x="594360" y="1344168"/>
            <a:ext cx="10607040" cy="274320"/>
          </a:xfrm>
          <a:prstGeom prst="rect">
            <a:avLst/>
          </a:prstGeom>
          <a:noFill/>
        </p:spPr>
        <p:txBody>
          <a:bodyPr wrap="square">
            <a:spAutoFit/>
          </a:bodyPr>
          <a:lstStyle/>
          <a:p>
            <a:pPr algn="l"/>
            <a:r>
              <a:rPr sz="1350" b="0">
                <a:solidFill>
                  <a:srgbClr val="6B7B8A"/>
                </a:solidFill>
                <a:latin typeface="Noto Sans SC" panose="020B0200000000000000" charset="-122"/>
                <a:ea typeface="Noto Sans SC" panose="020B0200000000000000" charset="-122"/>
                <a:cs typeface="Noto Sans SC" panose="020B0200000000000000" charset="-122"/>
              </a:rPr>
              <a:t>先看首层 → 再查流量与温度 → 最后查机械</a:t>
            </a:r>
            <a:endParaRPr sz="13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12" name="Rectangle 11"/>
          <p:cNvSpPr/>
          <p:nvPr/>
        </p:nvSpPr>
        <p:spPr>
          <a:xfrm>
            <a:off x="594360" y="1700784"/>
            <a:ext cx="11002975" cy="12801"/>
          </a:xfrm>
          <a:prstGeom prst="rect">
            <a:avLst/>
          </a:prstGeom>
          <a:solidFill>
            <a:srgbClr val="C9D3DC"/>
          </a:solidFill>
          <a:ln>
            <a:noFill/>
          </a:ln>
        </p:spPr>
        <p:txBody>
          <a:bodyPr rtlCol="0" anchor="ctr"/>
          <a:lstStyle/>
          <a:p>
            <a:pPr algn="ctr"/>
          </a:p>
        </p:txBody>
      </p:sp>
      <p:sp>
        <p:nvSpPr>
          <p:cNvPr id="13" name="TextBox 12"/>
          <p:cNvSpPr txBox="1"/>
          <p:nvPr/>
        </p:nvSpPr>
        <p:spPr>
          <a:xfrm>
            <a:off x="10515600" y="6400800"/>
            <a:ext cx="1371600" cy="274320"/>
          </a:xfrm>
          <a:prstGeom prst="rect">
            <a:avLst/>
          </a:prstGeom>
          <a:noFill/>
        </p:spPr>
        <p:txBody>
          <a:bodyPr wrap="square">
            <a:spAutoFit/>
          </a:bodyPr>
          <a:lstStyle/>
          <a:p>
            <a:pPr algn="r"/>
            <a:r>
              <a:rPr sz="1000" b="0">
                <a:solidFill>
                  <a:srgbClr val="6B7B8A"/>
                </a:solidFill>
                <a:latin typeface="Noto Sans SC" panose="020B0200000000000000" charset="-122"/>
                <a:ea typeface="Noto Sans SC" panose="020B0200000000000000" charset="-122"/>
                <a:cs typeface="Noto Sans SC" panose="020B0200000000000000" charset="-122"/>
              </a:rPr>
              <a:t>29 / 34</a:t>
            </a:r>
            <a:endParaRPr sz="1000" b="0">
              <a:solidFill>
                <a:srgbClr val="6B7B8A"/>
              </a:solidFill>
              <a:latin typeface="Noto Sans SC" panose="020B0200000000000000" charset="-122"/>
              <a:ea typeface="Noto Sans SC" panose="020B0200000000000000" charset="-122"/>
              <a:cs typeface="Noto Sans SC" panose="020B0200000000000000" charset="-122"/>
            </a:endParaRPr>
          </a:p>
        </p:txBody>
      </p:sp>
      <p:graphicFrame>
        <p:nvGraphicFramePr>
          <p:cNvPr id="14" name="Table 13"/>
          <p:cNvGraphicFramePr>
            <a:graphicFrameLocks noGrp="1"/>
          </p:cNvGraphicFramePr>
          <p:nvPr/>
        </p:nvGraphicFramePr>
        <p:xfrm>
          <a:off x="594360" y="1965960"/>
          <a:ext cx="11000232" cy="3602736"/>
        </p:xfrm>
        <a:graphic>
          <a:graphicData uri="http://schemas.openxmlformats.org/drawingml/2006/table">
            <a:tbl>
              <a:tblPr firstRow="1" bandRow="1"/>
              <a:tblGrid>
                <a:gridCol w="2103120"/>
                <a:gridCol w="4206240"/>
                <a:gridCol w="4690872"/>
              </a:tblGrid>
              <a:tr h="384048">
                <a:tc>
                  <a:txBody>
                    <a:bodyPr/>
                    <a:lstStyle/>
                    <a:p>
                      <a:r>
                        <a:rPr sz="1300" b="1">
                          <a:solidFill>
                            <a:srgbClr val="FFFFFF"/>
                          </a:solidFill>
                          <a:latin typeface="Noto Sans SC" panose="020B0200000000000000" charset="-122"/>
                          <a:ea typeface="Noto Sans SC" panose="020B0200000000000000" charset="-122"/>
                          <a:cs typeface="Noto Sans SC" panose="020B0200000000000000" charset="-122"/>
                        </a:rPr>
                        <a:t>现象</a:t>
                      </a:r>
                      <a:endParaRPr sz="1300" b="1">
                        <a:solidFill>
                          <a:srgbClr val="FFFFF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12304F"/>
                    </a:solidFill>
                  </a:tcPr>
                </a:tc>
                <a:tc>
                  <a:txBody>
                    <a:bodyPr/>
                    <a:lstStyle/>
                    <a:p>
                      <a:r>
                        <a:rPr sz="1300" b="1">
                          <a:solidFill>
                            <a:srgbClr val="FFFFFF"/>
                          </a:solidFill>
                          <a:latin typeface="Noto Sans SC" panose="020B0200000000000000" charset="-122"/>
                          <a:ea typeface="Noto Sans SC" panose="020B0200000000000000" charset="-122"/>
                          <a:cs typeface="Noto Sans SC" panose="020B0200000000000000" charset="-122"/>
                        </a:rPr>
                        <a:t>常见原因</a:t>
                      </a:r>
                      <a:endParaRPr sz="1300" b="1">
                        <a:solidFill>
                          <a:srgbClr val="FFFFF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12304F"/>
                    </a:solidFill>
                  </a:tcPr>
                </a:tc>
                <a:tc>
                  <a:txBody>
                    <a:bodyPr/>
                    <a:lstStyle/>
                    <a:p>
                      <a:r>
                        <a:rPr sz="1300" b="1">
                          <a:solidFill>
                            <a:srgbClr val="FFFFFF"/>
                          </a:solidFill>
                          <a:latin typeface="Noto Sans SC" panose="020B0200000000000000" charset="-122"/>
                          <a:ea typeface="Noto Sans SC" panose="020B0200000000000000" charset="-122"/>
                          <a:cs typeface="Noto Sans SC" panose="020B0200000000000000" charset="-122"/>
                        </a:rPr>
                        <a:t>对策</a:t>
                      </a:r>
                      <a:endParaRPr sz="1300" b="1">
                        <a:solidFill>
                          <a:srgbClr val="FFFFF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12304F"/>
                    </a:solidFill>
                  </a:tcPr>
                </a:tc>
              </a:tr>
              <a:tr h="402336">
                <a:tc>
                  <a:txBody>
                    <a:bodyPr/>
                    <a:lstStyle/>
                    <a:p>
                      <a:r>
                        <a:rPr sz="1300" b="0">
                          <a:solidFill>
                            <a:srgbClr val="12304F"/>
                          </a:solidFill>
                          <a:latin typeface="Noto Sans SC" panose="020B0200000000000000" charset="-122"/>
                          <a:ea typeface="Noto Sans SC" panose="020B0200000000000000" charset="-122"/>
                          <a:cs typeface="Noto Sans SC" panose="020B0200000000000000" charset="-122"/>
                        </a:rPr>
                        <a:t>翘边</a:t>
                      </a:r>
                      <a:endParaRPr sz="1300" b="0">
                        <a:solidFill>
                          <a:srgbClr val="12304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c>
                  <a:txBody>
                    <a:bodyPr/>
                    <a:lstStyle/>
                    <a:p>
                      <a:r>
                        <a:rPr sz="1300" b="0">
                          <a:solidFill>
                            <a:srgbClr val="23384C"/>
                          </a:solidFill>
                          <a:latin typeface="Noto Sans SC" panose="020B0200000000000000" charset="-122"/>
                          <a:ea typeface="Noto Sans SC" panose="020B0200000000000000" charset="-122"/>
                          <a:cs typeface="Noto Sans SC" panose="020B0200000000000000" charset="-122"/>
                        </a:rPr>
                        <a:t>热床温度 / 风 / 材料收缩 / 底面过大</a:t>
                      </a:r>
                      <a:endParaRPr sz="1300" b="0">
                        <a:solidFill>
                          <a:srgbClr val="23384C"/>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c>
                  <a:txBody>
                    <a:bodyPr/>
                    <a:lstStyle/>
                    <a:p>
                      <a:r>
                        <a:rPr sz="1300" b="0">
                          <a:solidFill>
                            <a:srgbClr val="23384C"/>
                          </a:solidFill>
                          <a:latin typeface="Noto Sans SC" panose="020B0200000000000000" charset="-122"/>
                          <a:ea typeface="Noto Sans SC" panose="020B0200000000000000" charset="-122"/>
                          <a:cs typeface="Noto Sans SC" panose="020B0200000000000000" charset="-122"/>
                        </a:rPr>
                        <a:t>加 Brim、关门、调温、改摆件方向</a:t>
                      </a:r>
                      <a:endParaRPr sz="1300" b="0">
                        <a:solidFill>
                          <a:srgbClr val="23384C"/>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r>
              <a:tr h="402336">
                <a:tc>
                  <a:txBody>
                    <a:bodyPr/>
                    <a:lstStyle/>
                    <a:p>
                      <a:r>
                        <a:rPr sz="1300" b="0">
                          <a:solidFill>
                            <a:srgbClr val="12304F"/>
                          </a:solidFill>
                          <a:latin typeface="Noto Sans SC" panose="020B0200000000000000" charset="-122"/>
                          <a:ea typeface="Noto Sans SC" panose="020B0200000000000000" charset="-122"/>
                          <a:cs typeface="Noto Sans SC" panose="020B0200000000000000" charset="-122"/>
                        </a:rPr>
                        <a:t>拉丝</a:t>
                      </a:r>
                      <a:endParaRPr sz="1300" b="0">
                        <a:solidFill>
                          <a:srgbClr val="12304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7F5EF"/>
                    </a:solidFill>
                  </a:tcPr>
                </a:tc>
                <a:tc>
                  <a:txBody>
                    <a:bodyPr/>
                    <a:lstStyle/>
                    <a:p>
                      <a:r>
                        <a:rPr sz="1300" b="0">
                          <a:solidFill>
                            <a:srgbClr val="23384C"/>
                          </a:solidFill>
                          <a:latin typeface="Noto Sans SC" panose="020B0200000000000000" charset="-122"/>
                          <a:ea typeface="Noto Sans SC" panose="020B0200000000000000" charset="-122"/>
                          <a:cs typeface="Noto Sans SC" panose="020B0200000000000000" charset="-122"/>
                        </a:rPr>
                        <a:t>温度偏高 / 回抽不足</a:t>
                      </a:r>
                      <a:endParaRPr sz="1300" b="0">
                        <a:solidFill>
                          <a:srgbClr val="23384C"/>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7F5EF"/>
                    </a:solidFill>
                  </a:tcPr>
                </a:tc>
                <a:tc>
                  <a:txBody>
                    <a:bodyPr/>
                    <a:lstStyle/>
                    <a:p>
                      <a:r>
                        <a:rPr sz="1300" b="0">
                          <a:solidFill>
                            <a:srgbClr val="23384C"/>
                          </a:solidFill>
                          <a:latin typeface="Noto Sans SC" panose="020B0200000000000000" charset="-122"/>
                          <a:ea typeface="Noto Sans SC" panose="020B0200000000000000" charset="-122"/>
                          <a:cs typeface="Noto Sans SC" panose="020B0200000000000000" charset="-122"/>
                        </a:rPr>
                        <a:t>降 5–10 ℃，校准回抽与压力提前</a:t>
                      </a:r>
                      <a:endParaRPr sz="1300" b="0">
                        <a:solidFill>
                          <a:srgbClr val="23384C"/>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7F5EF"/>
                    </a:solidFill>
                  </a:tcPr>
                </a:tc>
              </a:tr>
              <a:tr h="402336">
                <a:tc>
                  <a:txBody>
                    <a:bodyPr/>
                    <a:lstStyle/>
                    <a:p>
                      <a:r>
                        <a:rPr sz="1300" b="0">
                          <a:solidFill>
                            <a:srgbClr val="12304F"/>
                          </a:solidFill>
                          <a:latin typeface="Noto Sans SC" panose="020B0200000000000000" charset="-122"/>
                          <a:ea typeface="Noto Sans SC" panose="020B0200000000000000" charset="-122"/>
                          <a:cs typeface="Noto Sans SC" panose="020B0200000000000000" charset="-122"/>
                        </a:rPr>
                        <a:t>层间开裂</a:t>
                      </a:r>
                      <a:endParaRPr sz="1300" b="0">
                        <a:solidFill>
                          <a:srgbClr val="12304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c>
                  <a:txBody>
                    <a:bodyPr/>
                    <a:lstStyle/>
                    <a:p>
                      <a:r>
                        <a:rPr sz="1300" b="0">
                          <a:solidFill>
                            <a:srgbClr val="23384C"/>
                          </a:solidFill>
                          <a:latin typeface="Noto Sans SC" panose="020B0200000000000000" charset="-122"/>
                          <a:ea typeface="Noto Sans SC" panose="020B0200000000000000" charset="-122"/>
                          <a:cs typeface="Noto Sans SC" panose="020B0200000000000000" charset="-122"/>
                        </a:rPr>
                        <a:t>层线方向与受力方向一致 / 温度低 / 风大</a:t>
                      </a:r>
                      <a:endParaRPr sz="1300" b="0">
                        <a:solidFill>
                          <a:srgbClr val="23384C"/>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c>
                  <a:txBody>
                    <a:bodyPr/>
                    <a:lstStyle/>
                    <a:p>
                      <a:r>
                        <a:rPr sz="1300" b="0">
                          <a:solidFill>
                            <a:srgbClr val="23384C"/>
                          </a:solidFill>
                          <a:latin typeface="Noto Sans SC" panose="020B0200000000000000" charset="-122"/>
                          <a:ea typeface="Noto Sans SC" panose="020B0200000000000000" charset="-122"/>
                          <a:cs typeface="Noto Sans SC" panose="020B0200000000000000" charset="-122"/>
                        </a:rPr>
                        <a:t>改摆件方向、提高温度、关风扇</a:t>
                      </a:r>
                      <a:endParaRPr sz="1300" b="0">
                        <a:solidFill>
                          <a:srgbClr val="23384C"/>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r>
              <a:tr h="402336">
                <a:tc>
                  <a:txBody>
                    <a:bodyPr/>
                    <a:lstStyle/>
                    <a:p>
                      <a:r>
                        <a:rPr sz="1300" b="0">
                          <a:solidFill>
                            <a:srgbClr val="12304F"/>
                          </a:solidFill>
                          <a:latin typeface="Noto Sans SC" panose="020B0200000000000000" charset="-122"/>
                          <a:ea typeface="Noto Sans SC" panose="020B0200000000000000" charset="-122"/>
                          <a:cs typeface="Noto Sans SC" panose="020B0200000000000000" charset="-122"/>
                        </a:rPr>
                        <a:t>堵头 · 挤出不足</a:t>
                      </a:r>
                      <a:endParaRPr sz="1300" b="0">
                        <a:solidFill>
                          <a:srgbClr val="12304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7F5EF"/>
                    </a:solidFill>
                  </a:tcPr>
                </a:tc>
                <a:tc>
                  <a:txBody>
                    <a:bodyPr/>
                    <a:lstStyle/>
                    <a:p>
                      <a:r>
                        <a:rPr sz="1300" b="0">
                          <a:solidFill>
                            <a:srgbClr val="23384C"/>
                          </a:solidFill>
                          <a:latin typeface="Noto Sans SC" panose="020B0200000000000000" charset="-122"/>
                          <a:ea typeface="Noto Sans SC" panose="020B0200000000000000" charset="-122"/>
                          <a:cs typeface="Noto Sans SC" panose="020B0200000000000000" charset="-122"/>
                        </a:rPr>
                        <a:t>喷嘴脏 / 耗材吸湿 / 流量偏低</a:t>
                      </a:r>
                      <a:endParaRPr sz="1300" b="0">
                        <a:solidFill>
                          <a:srgbClr val="23384C"/>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7F5EF"/>
                    </a:solidFill>
                  </a:tcPr>
                </a:tc>
                <a:tc>
                  <a:txBody>
                    <a:bodyPr/>
                    <a:lstStyle/>
                    <a:p>
                      <a:r>
                        <a:rPr sz="1300" b="0">
                          <a:solidFill>
                            <a:srgbClr val="23384C"/>
                          </a:solidFill>
                          <a:latin typeface="Noto Sans SC" panose="020B0200000000000000" charset="-122"/>
                          <a:ea typeface="Noto Sans SC" panose="020B0200000000000000" charset="-122"/>
                          <a:cs typeface="Noto Sans SC" panose="020B0200000000000000" charset="-122"/>
                        </a:rPr>
                        <a:t>清喷嘴、烘干耗材、重跑流量校准</a:t>
                      </a:r>
                      <a:endParaRPr sz="1300" b="0">
                        <a:solidFill>
                          <a:srgbClr val="23384C"/>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7F5EF"/>
                    </a:solidFill>
                  </a:tcPr>
                </a:tc>
              </a:tr>
              <a:tr h="402336">
                <a:tc>
                  <a:txBody>
                    <a:bodyPr/>
                    <a:lstStyle/>
                    <a:p>
                      <a:r>
                        <a:rPr sz="1300" b="0">
                          <a:solidFill>
                            <a:srgbClr val="12304F"/>
                          </a:solidFill>
                          <a:latin typeface="Noto Sans SC" panose="020B0200000000000000" charset="-122"/>
                          <a:ea typeface="Noto Sans SC" panose="020B0200000000000000" charset="-122"/>
                          <a:cs typeface="Noto Sans SC" panose="020B0200000000000000" charset="-122"/>
                        </a:rPr>
                        <a:t>首层不粘</a:t>
                      </a:r>
                      <a:endParaRPr sz="1300" b="0">
                        <a:solidFill>
                          <a:srgbClr val="12304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c>
                  <a:txBody>
                    <a:bodyPr/>
                    <a:lstStyle/>
                    <a:p>
                      <a:r>
                        <a:rPr sz="1300" b="0">
                          <a:solidFill>
                            <a:srgbClr val="23384C"/>
                          </a:solidFill>
                          <a:latin typeface="Noto Sans SC" panose="020B0200000000000000" charset="-122"/>
                          <a:ea typeface="Noto Sans SC" panose="020B0200000000000000" charset="-122"/>
                          <a:cs typeface="Noto Sans SC" panose="020B0200000000000000" charset="-122"/>
                        </a:rPr>
                        <a:t>板面油污 / Z 偏移</a:t>
                      </a:r>
                      <a:endParaRPr sz="1300" b="0">
                        <a:solidFill>
                          <a:srgbClr val="23384C"/>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c>
                  <a:txBody>
                    <a:bodyPr/>
                    <a:lstStyle/>
                    <a:p>
                      <a:r>
                        <a:rPr sz="1300" b="0">
                          <a:solidFill>
                            <a:srgbClr val="23384C"/>
                          </a:solidFill>
                          <a:latin typeface="Noto Sans SC" panose="020B0200000000000000" charset="-122"/>
                          <a:ea typeface="Noto Sans SC" panose="020B0200000000000000" charset="-122"/>
                          <a:cs typeface="Noto Sans SC" panose="020B0200000000000000" charset="-122"/>
                        </a:rPr>
                        <a:t>洗板（洗洁精）、重新调平</a:t>
                      </a:r>
                      <a:endParaRPr sz="1300" b="0">
                        <a:solidFill>
                          <a:srgbClr val="23384C"/>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r>
              <a:tr h="402336">
                <a:tc>
                  <a:txBody>
                    <a:bodyPr/>
                    <a:lstStyle/>
                    <a:p>
                      <a:r>
                        <a:rPr sz="1300" b="0">
                          <a:solidFill>
                            <a:srgbClr val="12304F"/>
                          </a:solidFill>
                          <a:latin typeface="Noto Sans SC" panose="020B0200000000000000" charset="-122"/>
                          <a:ea typeface="Noto Sans SC" panose="020B0200000000000000" charset="-122"/>
                          <a:cs typeface="Noto Sans SC" panose="020B0200000000000000" charset="-122"/>
                        </a:rPr>
                        <a:t>象腿</a:t>
                      </a:r>
                      <a:endParaRPr sz="1300" b="0">
                        <a:solidFill>
                          <a:srgbClr val="12304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7F5EF"/>
                    </a:solidFill>
                  </a:tcPr>
                </a:tc>
                <a:tc>
                  <a:txBody>
                    <a:bodyPr/>
                    <a:lstStyle/>
                    <a:p>
                      <a:r>
                        <a:rPr sz="1300" b="0">
                          <a:solidFill>
                            <a:srgbClr val="23384C"/>
                          </a:solidFill>
                          <a:latin typeface="Noto Sans SC" panose="020B0200000000000000" charset="-122"/>
                          <a:ea typeface="Noto Sans SC" panose="020B0200000000000000" charset="-122"/>
                          <a:cs typeface="Noto Sans SC" panose="020B0200000000000000" charset="-122"/>
                        </a:rPr>
                        <a:t>首层过热</a:t>
                      </a:r>
                      <a:endParaRPr sz="1300" b="0">
                        <a:solidFill>
                          <a:srgbClr val="23384C"/>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7F5EF"/>
                    </a:solidFill>
                  </a:tcPr>
                </a:tc>
                <a:tc>
                  <a:txBody>
                    <a:bodyPr/>
                    <a:lstStyle/>
                    <a:p>
                      <a:r>
                        <a:rPr sz="1300" b="0">
                          <a:solidFill>
                            <a:srgbClr val="23384C"/>
                          </a:solidFill>
                          <a:latin typeface="Noto Sans SC" panose="020B0200000000000000" charset="-122"/>
                          <a:ea typeface="Noto Sans SC" panose="020B0200000000000000" charset="-122"/>
                          <a:cs typeface="Noto Sans SC" panose="020B0200000000000000" charset="-122"/>
                        </a:rPr>
                        <a:t>调低首层温度、开象腿补偿</a:t>
                      </a:r>
                      <a:endParaRPr sz="1300" b="0">
                        <a:solidFill>
                          <a:srgbClr val="23384C"/>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7F5EF"/>
                    </a:solidFill>
                  </a:tcPr>
                </a:tc>
              </a:tr>
              <a:tr h="402336">
                <a:tc>
                  <a:txBody>
                    <a:bodyPr/>
                    <a:lstStyle/>
                    <a:p>
                      <a:r>
                        <a:rPr sz="1300" b="0">
                          <a:solidFill>
                            <a:srgbClr val="12304F"/>
                          </a:solidFill>
                          <a:latin typeface="Noto Sans SC" panose="020B0200000000000000" charset="-122"/>
                          <a:ea typeface="Noto Sans SC" panose="020B0200000000000000" charset="-122"/>
                          <a:cs typeface="Noto Sans SC" panose="020B0200000000000000" charset="-122"/>
                        </a:rPr>
                        <a:t>尺寸偏差</a:t>
                      </a:r>
                      <a:endParaRPr sz="1300" b="0">
                        <a:solidFill>
                          <a:srgbClr val="12304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c>
                  <a:txBody>
                    <a:bodyPr/>
                    <a:lstStyle/>
                    <a:p>
                      <a:r>
                        <a:rPr sz="1300" b="0">
                          <a:solidFill>
                            <a:srgbClr val="23384C"/>
                          </a:solidFill>
                          <a:latin typeface="Noto Sans SC" panose="020B0200000000000000" charset="-122"/>
                          <a:ea typeface="Noto Sans SC" panose="020B0200000000000000" charset="-122"/>
                          <a:cs typeface="Noto Sans SC" panose="020B0200000000000000" charset="-122"/>
                        </a:rPr>
                        <a:t>材料收缩 / 孔径偏小</a:t>
                      </a:r>
                      <a:endParaRPr sz="1300" b="0">
                        <a:solidFill>
                          <a:srgbClr val="23384C"/>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c>
                  <a:txBody>
                    <a:bodyPr/>
                    <a:lstStyle/>
                    <a:p>
                      <a:r>
                        <a:rPr sz="1300" b="0">
                          <a:solidFill>
                            <a:srgbClr val="23384C"/>
                          </a:solidFill>
                          <a:latin typeface="Noto Sans SC" panose="020B0200000000000000" charset="-122"/>
                          <a:ea typeface="Noto Sans SC" panose="020B0200000000000000" charset="-122"/>
                          <a:cs typeface="Noto Sans SC" panose="020B0200000000000000" charset="-122"/>
                        </a:rPr>
                        <a:t>XY 补偿并回写《战队公差表》</a:t>
                      </a:r>
                      <a:endParaRPr sz="1300" b="0">
                        <a:solidFill>
                          <a:srgbClr val="23384C"/>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r>
              <a:tr h="402336">
                <a:tc>
                  <a:txBody>
                    <a:bodyPr/>
                    <a:lstStyle/>
                    <a:p>
                      <a:r>
                        <a:rPr sz="1300" b="0">
                          <a:solidFill>
                            <a:srgbClr val="12304F"/>
                          </a:solidFill>
                          <a:latin typeface="Noto Sans SC" panose="020B0200000000000000" charset="-122"/>
                          <a:ea typeface="Noto Sans SC" panose="020B0200000000000000" charset="-122"/>
                          <a:cs typeface="Noto Sans SC" panose="020B0200000000000000" charset="-122"/>
                        </a:rPr>
                        <a:t>支撑难拆 · 面粗糙</a:t>
                      </a:r>
                      <a:endParaRPr sz="1300" b="0">
                        <a:solidFill>
                          <a:srgbClr val="12304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7F5EF"/>
                    </a:solidFill>
                  </a:tcPr>
                </a:tc>
                <a:tc>
                  <a:txBody>
                    <a:bodyPr/>
                    <a:lstStyle/>
                    <a:p>
                      <a:r>
                        <a:rPr sz="1300" b="0">
                          <a:solidFill>
                            <a:srgbClr val="23384C"/>
                          </a:solidFill>
                          <a:latin typeface="Noto Sans SC" panose="020B0200000000000000" charset="-122"/>
                          <a:ea typeface="Noto Sans SC" panose="020B0200000000000000" charset="-122"/>
                          <a:cs typeface="Noto Sans SC" panose="020B0200000000000000" charset="-122"/>
                        </a:rPr>
                        <a:t>接触面间隙过小</a:t>
                      </a:r>
                      <a:endParaRPr sz="1300" b="0">
                        <a:solidFill>
                          <a:srgbClr val="23384C"/>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7F5EF"/>
                    </a:solidFill>
                  </a:tcPr>
                </a:tc>
                <a:tc>
                  <a:txBody>
                    <a:bodyPr/>
                    <a:lstStyle/>
                    <a:p>
                      <a:r>
                        <a:rPr sz="1300" b="0">
                          <a:solidFill>
                            <a:srgbClr val="23384C"/>
                          </a:solidFill>
                          <a:latin typeface="Noto Sans SC" panose="020B0200000000000000" charset="-122"/>
                          <a:ea typeface="Noto Sans SC" panose="020B0200000000000000" charset="-122"/>
                          <a:cs typeface="Noto Sans SC" panose="020B0200000000000000" charset="-122"/>
                        </a:rPr>
                        <a:t>调大支撑间隙，改用树状支撑</a:t>
                      </a:r>
                      <a:endParaRPr sz="1300" b="0">
                        <a:solidFill>
                          <a:srgbClr val="23384C"/>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7F5EF"/>
                    </a:solidFill>
                  </a:tcPr>
                </a:tc>
              </a:tr>
            </a:tbl>
          </a:graphicData>
        </a:graphic>
      </p:graphicFrame>
      <p:sp>
        <p:nvSpPr>
          <p:cNvPr id="15" name="Rounded Rectangle 14"/>
          <p:cNvSpPr/>
          <p:nvPr/>
        </p:nvSpPr>
        <p:spPr>
          <a:xfrm>
            <a:off x="594360" y="5650992"/>
            <a:ext cx="11002975" cy="384048"/>
          </a:xfrm>
          <a:prstGeom prst="roundRect">
            <a:avLst/>
          </a:prstGeom>
          <a:solidFill>
            <a:srgbClr val="F0EAF4"/>
          </a:solidFill>
          <a:ln w="12700">
            <a:solidFill>
              <a:srgbClr val="6A4C93"/>
            </a:solidFill>
          </a:ln>
        </p:spPr>
        <p:txBody>
          <a:bodyPr rtlCol="0" anchor="ctr"/>
          <a:lstStyle/>
          <a:p>
            <a:pPr algn="ctr"/>
          </a:p>
        </p:txBody>
      </p:sp>
      <p:sp>
        <p:nvSpPr>
          <p:cNvPr id="16" name="Rectangle 15"/>
          <p:cNvSpPr/>
          <p:nvPr/>
        </p:nvSpPr>
        <p:spPr>
          <a:xfrm>
            <a:off x="594360" y="5650992"/>
            <a:ext cx="50292" cy="384048"/>
          </a:xfrm>
          <a:prstGeom prst="rect">
            <a:avLst/>
          </a:prstGeom>
          <a:solidFill>
            <a:srgbClr val="6A4C93"/>
          </a:solidFill>
          <a:ln>
            <a:noFill/>
          </a:ln>
        </p:spPr>
        <p:txBody>
          <a:bodyPr rtlCol="0" anchor="ctr"/>
          <a:lstStyle/>
          <a:p>
            <a:pPr algn="ctr"/>
          </a:p>
        </p:txBody>
      </p:sp>
      <p:sp>
        <p:nvSpPr>
          <p:cNvPr id="17" name="TextBox 16"/>
          <p:cNvSpPr txBox="1"/>
          <p:nvPr/>
        </p:nvSpPr>
        <p:spPr>
          <a:xfrm>
            <a:off x="795528" y="5650992"/>
            <a:ext cx="10600639" cy="384048"/>
          </a:xfrm>
          <a:prstGeom prst="rect">
            <a:avLst/>
          </a:prstGeom>
          <a:noFill/>
        </p:spPr>
        <p:txBody>
          <a:bodyPr wrap="square" anchor="ctr">
            <a:spAutoFit/>
          </a:bodyPr>
          <a:lstStyle/>
          <a:p>
            <a:pPr algn="l"/>
            <a:r>
              <a:rPr sz="1250" b="1">
                <a:solidFill>
                  <a:srgbClr val="6A4C93"/>
                </a:solidFill>
                <a:latin typeface="Noto Sans SC" panose="020B0200000000000000" charset="-122"/>
                <a:ea typeface="Noto Sans SC" panose="020B0200000000000000" charset="-122"/>
                <a:cs typeface="Noto Sans SC" panose="020B0200000000000000" charset="-122"/>
              </a:rPr>
              <a:t>排查顺序：首层 → 流量与温度 → 机械（皮带张力、喷嘴磨损、导轨润滑）。</a:t>
            </a:r>
            <a:endParaRPr sz="1250" b="1">
              <a:solidFill>
                <a:srgbClr val="6A4C93"/>
              </a:solidFill>
              <a:latin typeface="Noto Sans SC" panose="020B0200000000000000" charset="-122"/>
              <a:ea typeface="Noto Sans SC" panose="020B0200000000000000" charset="-122"/>
              <a:cs typeface="Noto Sans SC" panose="020B0200000000000000" charset="-122"/>
            </a:endParaRPr>
          </a:p>
        </p:txBody>
      </p:sp>
      <p:sp>
        <p:nvSpPr>
          <p:cNvPr id="18" name="Rectangle 17"/>
          <p:cNvSpPr/>
          <p:nvPr/>
        </p:nvSpPr>
        <p:spPr>
          <a:xfrm>
            <a:off x="594360" y="6199632"/>
            <a:ext cx="11002975" cy="10972"/>
          </a:xfrm>
          <a:prstGeom prst="rect">
            <a:avLst/>
          </a:prstGeom>
          <a:solidFill>
            <a:srgbClr val="C9D3DC"/>
          </a:solidFill>
          <a:ln>
            <a:noFill/>
          </a:ln>
        </p:spPr>
        <p:txBody>
          <a:bodyPr rtlCol="0" anchor="ctr"/>
          <a:lstStyle/>
          <a:p>
            <a:pPr algn="ctr"/>
          </a:p>
        </p:txBody>
      </p:sp>
      <p:sp>
        <p:nvSpPr>
          <p:cNvPr id="19" name="TextBox 18"/>
          <p:cNvSpPr txBox="1"/>
          <p:nvPr/>
        </p:nvSpPr>
        <p:spPr>
          <a:xfrm>
            <a:off x="594360" y="6327648"/>
            <a:ext cx="8778240" cy="274320"/>
          </a:xfrm>
          <a:prstGeom prst="rect">
            <a:avLst/>
          </a:prstGeom>
          <a:noFill/>
        </p:spPr>
        <p:txBody>
          <a:bodyPr wrap="square">
            <a:spAutoFit/>
          </a:bodyPr>
          <a:lstStyle/>
          <a:p>
            <a:pPr algn="l"/>
            <a:r>
              <a:rPr sz="1100" b="0">
                <a:solidFill>
                  <a:srgbClr val="6B7B8A"/>
                </a:solidFill>
                <a:latin typeface="Noto Sans SC" panose="020B0200000000000000" charset="-122"/>
                <a:ea typeface="Noto Sans SC" panose="020B0200000000000000" charset="-122"/>
                <a:cs typeface="Noto Sans SC" panose="020B0200000000000000" charset="-122"/>
              </a:rPr>
              <a:t>可迁移：分层排查（首层 / 过程 / 机械），一次只改一个变量再验证。</a:t>
            </a:r>
            <a:endParaRPr sz="1100" b="0">
              <a:solidFill>
                <a:srgbClr val="6B7B8A"/>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pic>
        <p:nvPicPr>
          <p:cNvPr id="2" name="Picture 1" descr="447916673a97bd1f0e53b186d485eed5.png"/>
          <p:cNvPicPr>
            <a:picLocks noChangeAspect="1"/>
          </p:cNvPicPr>
          <p:nvPr/>
        </p:nvPicPr>
        <p:blipFill>
          <a:blip r:embed="rId1"/>
          <a:stretch>
            <a:fillRect/>
          </a:stretch>
        </p:blipFill>
        <p:spPr>
          <a:xfrm>
            <a:off x="0" y="0"/>
            <a:ext cx="12191695" cy="6858000"/>
          </a:xfrm>
          <a:prstGeom prst="rect">
            <a:avLst/>
          </a:prstGeom>
        </p:spPr>
      </p:pic>
      <p:sp>
        <p:nvSpPr>
          <p:cNvPr id="3" name="Rectangle 2"/>
          <p:cNvSpPr/>
          <p:nvPr/>
        </p:nvSpPr>
        <p:spPr>
          <a:xfrm>
            <a:off x="0" y="0"/>
            <a:ext cx="12191695" cy="68580"/>
          </a:xfrm>
          <a:prstGeom prst="rect">
            <a:avLst/>
          </a:prstGeom>
          <a:solidFill>
            <a:srgbClr val="0E7C74"/>
          </a:solidFill>
          <a:ln>
            <a:noFill/>
          </a:ln>
        </p:spPr>
        <p:txBody>
          <a:bodyPr rtlCol="0" anchor="ctr"/>
          <a:lstStyle/>
          <a:p>
            <a:pPr algn="ctr"/>
          </a:p>
        </p:txBody>
      </p:sp>
      <p:sp>
        <p:nvSpPr>
          <p:cNvPr id="4" name="Rounded Rectangle 3"/>
          <p:cNvSpPr/>
          <p:nvPr/>
        </p:nvSpPr>
        <p:spPr>
          <a:xfrm>
            <a:off x="594360" y="310896"/>
            <a:ext cx="1517904" cy="329184"/>
          </a:xfrm>
          <a:prstGeom prst="roundRect">
            <a:avLst/>
          </a:prstGeom>
          <a:solidFill>
            <a:srgbClr val="0E7C74"/>
          </a:solidFill>
          <a:ln>
            <a:noFill/>
          </a:ln>
        </p:spPr>
        <p:txBody>
          <a:bodyPr rtlCol="0" anchor="ctr"/>
          <a:lstStyle/>
          <a:p>
            <a:pPr algn="ctr"/>
          </a:p>
        </p:txBody>
      </p:sp>
      <p:sp>
        <p:nvSpPr>
          <p:cNvPr id="5" name="TextBox 4"/>
          <p:cNvSpPr txBox="1"/>
          <p:nvPr/>
        </p:nvSpPr>
        <p:spPr>
          <a:xfrm>
            <a:off x="649224" y="310896"/>
            <a:ext cx="1408176" cy="329184"/>
          </a:xfrm>
          <a:prstGeom prst="rect">
            <a:avLst/>
          </a:prstGeom>
          <a:noFill/>
        </p:spPr>
        <p:txBody>
          <a:bodyPr wrap="square" anchor="ctr">
            <a:spAutoFit/>
          </a:bodyPr>
          <a:lstStyle/>
          <a:p>
            <a:pPr algn="ctr"/>
            <a:r>
              <a:rPr sz="1300" b="1">
                <a:solidFill>
                  <a:srgbClr val="FFFFFF"/>
                </a:solidFill>
                <a:latin typeface="Noto Sans SC" panose="020B0200000000000000" charset="-122"/>
                <a:ea typeface="Noto Sans SC" panose="020B0200000000000000" charset="-122"/>
                <a:cs typeface="Noto Sans SC" panose="020B0200000000000000" charset="-122"/>
              </a:rPr>
              <a:t>02  结构设计</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6" name="TextBox 5"/>
          <p:cNvSpPr txBox="1"/>
          <p:nvPr/>
        </p:nvSpPr>
        <p:spPr>
          <a:xfrm>
            <a:off x="2295144" y="338328"/>
            <a:ext cx="3840480" cy="274320"/>
          </a:xfrm>
          <a:prstGeom prst="rect">
            <a:avLst/>
          </a:prstGeom>
          <a:noFill/>
        </p:spPr>
        <p:txBody>
          <a:bodyPr wrap="square">
            <a:spAutoFit/>
          </a:bodyPr>
          <a:lstStyle/>
          <a:p>
            <a:pPr algn="l"/>
            <a:r>
              <a:rPr sz="1150" b="0">
                <a:solidFill>
                  <a:srgbClr val="6B7B8A"/>
                </a:solidFill>
                <a:latin typeface="Consolas" panose="020B0609020204030204"/>
                <a:ea typeface="Noto Sans SC" panose="020B0200000000000000" charset="-122"/>
                <a:cs typeface="Noto Sans SC" panose="020B0200000000000000" charset="-122"/>
              </a:rPr>
              <a:t>方法 09 · 公差与配合</a:t>
            </a:r>
            <a:endParaRPr sz="1150" b="0">
              <a:solidFill>
                <a:srgbClr val="6B7B8A"/>
              </a:solidFill>
              <a:latin typeface="Consolas" panose="020B0609020204030204"/>
              <a:ea typeface="Noto Sans SC" panose="020B0200000000000000" charset="-122"/>
              <a:cs typeface="Noto Sans SC" panose="020B0200000000000000" charset="-122"/>
            </a:endParaRPr>
          </a:p>
        </p:txBody>
      </p:sp>
      <p:sp>
        <p:nvSpPr>
          <p:cNvPr id="7" name="Rounded Rectangle 6"/>
          <p:cNvSpPr/>
          <p:nvPr/>
        </p:nvSpPr>
        <p:spPr>
          <a:xfrm>
            <a:off x="10070287" y="329184"/>
            <a:ext cx="1527048" cy="292608"/>
          </a:xfrm>
          <a:prstGeom prst="roundRect">
            <a:avLst/>
          </a:prstGeom>
          <a:solidFill>
            <a:srgbClr val="FFFFFF"/>
          </a:solidFill>
          <a:ln w="12700">
            <a:solidFill>
              <a:srgbClr val="C9D3DC"/>
            </a:solidFill>
          </a:ln>
        </p:spPr>
        <p:txBody>
          <a:bodyPr rtlCol="0" anchor="ctr"/>
          <a:lstStyle/>
          <a:p>
            <a:pPr algn="ctr"/>
          </a:p>
        </p:txBody>
      </p:sp>
      <p:sp>
        <p:nvSpPr>
          <p:cNvPr id="8" name="Rectangle 7"/>
          <p:cNvSpPr/>
          <p:nvPr/>
        </p:nvSpPr>
        <p:spPr>
          <a:xfrm>
            <a:off x="10189159" y="443484"/>
            <a:ext cx="68580" cy="68580"/>
          </a:xfrm>
          <a:prstGeom prst="rect">
            <a:avLst/>
          </a:prstGeom>
          <a:solidFill>
            <a:srgbClr val="2F7D53"/>
          </a:solidFill>
          <a:ln>
            <a:noFill/>
          </a:ln>
        </p:spPr>
        <p:txBody>
          <a:bodyPr rtlCol="0" anchor="ctr"/>
          <a:lstStyle/>
          <a:p>
            <a:pPr algn="ctr"/>
          </a:p>
        </p:txBody>
      </p:sp>
      <p:sp>
        <p:nvSpPr>
          <p:cNvPr id="9" name="TextBox 8"/>
          <p:cNvSpPr txBox="1"/>
          <p:nvPr/>
        </p:nvSpPr>
        <p:spPr>
          <a:xfrm>
            <a:off x="10317175" y="329184"/>
            <a:ext cx="1234439" cy="292608"/>
          </a:xfrm>
          <a:prstGeom prst="rect">
            <a:avLst/>
          </a:prstGeom>
          <a:noFill/>
        </p:spPr>
        <p:txBody>
          <a:bodyPr wrap="square" anchor="ctr">
            <a:spAutoFit/>
          </a:bodyPr>
          <a:lstStyle/>
          <a:p>
            <a:pPr algn="l"/>
            <a:r>
              <a:rPr sz="1150" b="0">
                <a:solidFill>
                  <a:srgbClr val="23384C"/>
                </a:solidFill>
                <a:latin typeface="Consolas" panose="020B0609020204030204"/>
                <a:ea typeface="Noto Sans SC" panose="020B0200000000000000" charset="-122"/>
                <a:cs typeface="Noto Sans SC" panose="020B0200000000000000" charset="-122"/>
              </a:rPr>
              <a:t>Bambu Studio</a:t>
            </a:r>
            <a:endParaRPr sz="1150" b="0">
              <a:solidFill>
                <a:srgbClr val="23384C"/>
              </a:solidFill>
              <a:latin typeface="Consolas" panose="020B0609020204030204"/>
              <a:ea typeface="Noto Sans SC" panose="020B0200000000000000" charset="-122"/>
              <a:cs typeface="Noto Sans SC" panose="020B0200000000000000" charset="-122"/>
            </a:endParaRPr>
          </a:p>
        </p:txBody>
      </p:sp>
      <p:sp>
        <p:nvSpPr>
          <p:cNvPr id="10" name="Rounded Rectangle 9"/>
          <p:cNvSpPr/>
          <p:nvPr/>
        </p:nvSpPr>
        <p:spPr>
          <a:xfrm>
            <a:off x="8607247" y="329184"/>
            <a:ext cx="1335024" cy="292608"/>
          </a:xfrm>
          <a:prstGeom prst="roundRect">
            <a:avLst/>
          </a:prstGeom>
          <a:solidFill>
            <a:srgbClr val="FFFFFF"/>
          </a:solidFill>
          <a:ln w="12700">
            <a:solidFill>
              <a:srgbClr val="C9D3DC"/>
            </a:solidFill>
          </a:ln>
        </p:spPr>
        <p:txBody>
          <a:bodyPr rtlCol="0" anchor="ctr"/>
          <a:lstStyle/>
          <a:p>
            <a:pPr algn="ctr"/>
          </a:p>
        </p:txBody>
      </p:sp>
      <p:sp>
        <p:nvSpPr>
          <p:cNvPr id="11" name="Rectangle 10"/>
          <p:cNvSpPr/>
          <p:nvPr/>
        </p:nvSpPr>
        <p:spPr>
          <a:xfrm>
            <a:off x="8726119" y="443484"/>
            <a:ext cx="68580" cy="68580"/>
          </a:xfrm>
          <a:prstGeom prst="rect">
            <a:avLst/>
          </a:prstGeom>
          <a:solidFill>
            <a:srgbClr val="C2571A"/>
          </a:solidFill>
          <a:ln>
            <a:noFill/>
          </a:ln>
        </p:spPr>
        <p:txBody>
          <a:bodyPr rtlCol="0" anchor="ctr"/>
          <a:lstStyle/>
          <a:p>
            <a:pPr algn="ctr"/>
          </a:p>
        </p:txBody>
      </p:sp>
      <p:sp>
        <p:nvSpPr>
          <p:cNvPr id="12" name="TextBox 11"/>
          <p:cNvSpPr txBox="1"/>
          <p:nvPr/>
        </p:nvSpPr>
        <p:spPr>
          <a:xfrm>
            <a:off x="8854135" y="329184"/>
            <a:ext cx="1042415" cy="292608"/>
          </a:xfrm>
          <a:prstGeom prst="rect">
            <a:avLst/>
          </a:prstGeom>
          <a:noFill/>
        </p:spPr>
        <p:txBody>
          <a:bodyPr wrap="square" anchor="ctr">
            <a:spAutoFit/>
          </a:bodyPr>
          <a:lstStyle/>
          <a:p>
            <a:pPr algn="l"/>
            <a:r>
              <a:rPr sz="1150" b="0">
                <a:solidFill>
                  <a:srgbClr val="23384C"/>
                </a:solidFill>
                <a:latin typeface="Consolas" panose="020B0609020204030204"/>
                <a:ea typeface="Noto Sans SC" panose="020B0200000000000000" charset="-122"/>
                <a:cs typeface="Noto Sans SC" panose="020B0200000000000000" charset="-122"/>
              </a:rPr>
              <a:t>Fusion 360</a:t>
            </a:r>
            <a:endParaRPr sz="1150" b="0">
              <a:solidFill>
                <a:srgbClr val="23384C"/>
              </a:solidFill>
              <a:latin typeface="Consolas" panose="020B0609020204030204"/>
              <a:ea typeface="Noto Sans SC" panose="020B0200000000000000" charset="-122"/>
              <a:cs typeface="Noto Sans SC" panose="020B0200000000000000" charset="-122"/>
            </a:endParaRPr>
          </a:p>
        </p:txBody>
      </p:sp>
      <p:sp>
        <p:nvSpPr>
          <p:cNvPr id="13" name="TextBox 12"/>
          <p:cNvSpPr txBox="1"/>
          <p:nvPr/>
        </p:nvSpPr>
        <p:spPr>
          <a:xfrm>
            <a:off x="594360" y="841248"/>
            <a:ext cx="10058400" cy="502920"/>
          </a:xfrm>
          <a:prstGeom prst="rect">
            <a:avLst/>
          </a:prstGeom>
          <a:noFill/>
        </p:spPr>
        <p:txBody>
          <a:bodyPr wrap="square">
            <a:spAutoFit/>
          </a:bodyPr>
          <a:lstStyle/>
          <a:p>
            <a:pPr algn="l"/>
            <a:r>
              <a:rPr sz="2700" b="1">
                <a:solidFill>
                  <a:srgbClr val="12304F"/>
                </a:solidFill>
                <a:latin typeface="Noto Sans SC" panose="020B0200000000000000" charset="-122"/>
                <a:ea typeface="Noto Sans SC" panose="020B0200000000000000" charset="-122"/>
                <a:cs typeface="Noto Sans SC" panose="020B0200000000000000" charset="-122"/>
              </a:rPr>
              <a:t>公差与配合：先标定，再设计</a:t>
            </a:r>
            <a:endParaRPr sz="270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14" name="TextBox 13"/>
          <p:cNvSpPr txBox="1"/>
          <p:nvPr/>
        </p:nvSpPr>
        <p:spPr>
          <a:xfrm>
            <a:off x="594360" y="1344168"/>
            <a:ext cx="10607040" cy="274320"/>
          </a:xfrm>
          <a:prstGeom prst="rect">
            <a:avLst/>
          </a:prstGeom>
          <a:noFill/>
        </p:spPr>
        <p:txBody>
          <a:bodyPr wrap="square">
            <a:spAutoFit/>
          </a:bodyPr>
          <a:lstStyle/>
          <a:p>
            <a:pPr algn="l"/>
            <a:r>
              <a:rPr sz="1350" b="0">
                <a:solidFill>
                  <a:srgbClr val="6B7B8A"/>
                </a:solidFill>
                <a:latin typeface="Noto Sans SC" panose="020B0200000000000000" charset="-122"/>
                <a:ea typeface="Noto Sans SC" panose="020B0200000000000000" charset="-122"/>
                <a:cs typeface="Noto Sans SC" panose="020B0200000000000000" charset="-122"/>
              </a:rPr>
              <a:t>孔会偏小、外形会缩 —— 起手值 + 本机实测</a:t>
            </a:r>
            <a:endParaRPr sz="13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15" name="Rectangle 14"/>
          <p:cNvSpPr/>
          <p:nvPr/>
        </p:nvSpPr>
        <p:spPr>
          <a:xfrm>
            <a:off x="594360" y="1700784"/>
            <a:ext cx="11002975" cy="12801"/>
          </a:xfrm>
          <a:prstGeom prst="rect">
            <a:avLst/>
          </a:prstGeom>
          <a:solidFill>
            <a:srgbClr val="C9D3DC"/>
          </a:solidFill>
          <a:ln>
            <a:noFill/>
          </a:ln>
        </p:spPr>
        <p:txBody>
          <a:bodyPr rtlCol="0" anchor="ctr"/>
          <a:lstStyle/>
          <a:p>
            <a:pPr algn="ctr"/>
          </a:p>
        </p:txBody>
      </p:sp>
      <p:sp>
        <p:nvSpPr>
          <p:cNvPr id="16" name="TextBox 15"/>
          <p:cNvSpPr txBox="1"/>
          <p:nvPr/>
        </p:nvSpPr>
        <p:spPr>
          <a:xfrm>
            <a:off x="10515600" y="6400800"/>
            <a:ext cx="1371600" cy="274320"/>
          </a:xfrm>
          <a:prstGeom prst="rect">
            <a:avLst/>
          </a:prstGeom>
          <a:noFill/>
        </p:spPr>
        <p:txBody>
          <a:bodyPr wrap="square">
            <a:spAutoFit/>
          </a:bodyPr>
          <a:lstStyle/>
          <a:p>
            <a:pPr algn="r"/>
            <a:r>
              <a:rPr sz="1000" b="0">
                <a:solidFill>
                  <a:srgbClr val="6B7B8A"/>
                </a:solidFill>
                <a:latin typeface="Noto Sans SC" panose="020B0200000000000000" charset="-122"/>
                <a:ea typeface="Noto Sans SC" panose="020B0200000000000000" charset="-122"/>
                <a:cs typeface="Noto Sans SC" panose="020B0200000000000000" charset="-122"/>
              </a:rPr>
              <a:t>14 / 34</a:t>
            </a:r>
            <a:endParaRPr sz="100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17" name="Rounded Rectangle 16"/>
          <p:cNvSpPr/>
          <p:nvPr/>
        </p:nvSpPr>
        <p:spPr>
          <a:xfrm>
            <a:off x="594360" y="1856231"/>
            <a:ext cx="11002975" cy="420624"/>
          </a:xfrm>
          <a:prstGeom prst="roundRect">
            <a:avLst/>
          </a:prstGeom>
          <a:solidFill>
            <a:srgbClr val="FBF0E4"/>
          </a:solidFill>
          <a:ln w="12700">
            <a:solidFill>
              <a:srgbClr val="C2571A"/>
            </a:solidFill>
          </a:ln>
        </p:spPr>
        <p:txBody>
          <a:bodyPr rtlCol="0" anchor="ctr"/>
          <a:lstStyle/>
          <a:p>
            <a:pPr algn="ctr"/>
          </a:p>
        </p:txBody>
      </p:sp>
      <p:sp>
        <p:nvSpPr>
          <p:cNvPr id="18" name="Rectangle 17"/>
          <p:cNvSpPr/>
          <p:nvPr/>
        </p:nvSpPr>
        <p:spPr>
          <a:xfrm>
            <a:off x="594360" y="1856231"/>
            <a:ext cx="50292" cy="420624"/>
          </a:xfrm>
          <a:prstGeom prst="rect">
            <a:avLst/>
          </a:prstGeom>
          <a:solidFill>
            <a:srgbClr val="C2571A"/>
          </a:solidFill>
          <a:ln>
            <a:noFill/>
          </a:ln>
        </p:spPr>
        <p:txBody>
          <a:bodyPr rtlCol="0" anchor="ctr"/>
          <a:lstStyle/>
          <a:p>
            <a:pPr algn="ctr"/>
          </a:p>
        </p:txBody>
      </p:sp>
      <p:sp>
        <p:nvSpPr>
          <p:cNvPr id="19" name="TextBox 18"/>
          <p:cNvSpPr txBox="1"/>
          <p:nvPr/>
        </p:nvSpPr>
        <p:spPr>
          <a:xfrm>
            <a:off x="795528" y="1856231"/>
            <a:ext cx="10600639" cy="420624"/>
          </a:xfrm>
          <a:prstGeom prst="rect">
            <a:avLst/>
          </a:prstGeom>
          <a:noFill/>
        </p:spPr>
        <p:txBody>
          <a:bodyPr wrap="square" anchor="ctr">
            <a:spAutoFit/>
          </a:bodyPr>
          <a:lstStyle/>
          <a:p>
            <a:pPr algn="l"/>
            <a:r>
              <a:rPr sz="1300" b="1">
                <a:solidFill>
                  <a:srgbClr val="C2571A"/>
                </a:solidFill>
                <a:latin typeface="Noto Sans SC" panose="020B0200000000000000" charset="-122"/>
                <a:ea typeface="Noto Sans SC" panose="020B0200000000000000" charset="-122"/>
                <a:cs typeface="Noto Sans SC" panose="020B0200000000000000" charset="-122"/>
              </a:rPr>
              <a:t>表内数值是「起手值」，不是标准值 —— 用自测件量出本机偏差，回写《战队公差表》</a:t>
            </a:r>
            <a:endParaRPr sz="1300" b="1">
              <a:solidFill>
                <a:srgbClr val="C2571A"/>
              </a:solidFill>
              <a:latin typeface="Noto Sans SC" panose="020B0200000000000000" charset="-122"/>
              <a:ea typeface="Noto Sans SC" panose="020B0200000000000000" charset="-122"/>
              <a:cs typeface="Noto Sans SC" panose="020B0200000000000000" charset="-122"/>
            </a:endParaRPr>
          </a:p>
        </p:txBody>
      </p:sp>
      <p:graphicFrame>
        <p:nvGraphicFramePr>
          <p:cNvPr id="20" name="Table 19"/>
          <p:cNvGraphicFramePr>
            <a:graphicFrameLocks noGrp="1"/>
          </p:cNvGraphicFramePr>
          <p:nvPr/>
        </p:nvGraphicFramePr>
        <p:xfrm>
          <a:off x="594360" y="2487168"/>
          <a:ext cx="7040880" cy="3035808"/>
        </p:xfrm>
        <a:graphic>
          <a:graphicData uri="http://schemas.openxmlformats.org/drawingml/2006/table">
            <a:tbl>
              <a:tblPr firstRow="1" bandRow="1"/>
              <a:tblGrid>
                <a:gridCol w="1691640"/>
                <a:gridCol w="1691640"/>
                <a:gridCol w="1508760"/>
                <a:gridCol w="2148840"/>
              </a:tblGrid>
              <a:tr h="384048">
                <a:tc>
                  <a:txBody>
                    <a:bodyPr/>
                    <a:lstStyle/>
                    <a:p>
                      <a:pPr algn="l"/>
                      <a:r>
                        <a:rPr sz="1400" b="1">
                          <a:solidFill>
                            <a:srgbClr val="FFFFFF"/>
                          </a:solidFill>
                          <a:latin typeface="Noto Sans SC" panose="020B0200000000000000" charset="-122"/>
                          <a:ea typeface="Noto Sans SC" panose="020B0200000000000000" charset="-122"/>
                          <a:cs typeface="Noto Sans SC" panose="020B0200000000000000" charset="-122"/>
                        </a:rPr>
                        <a:t>配合类型</a:t>
                      </a:r>
                      <a:endParaRPr sz="1400" b="1">
                        <a:solidFill>
                          <a:srgbClr val="FFFFF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12304F"/>
                    </a:solidFill>
                  </a:tcPr>
                </a:tc>
                <a:tc>
                  <a:txBody>
                    <a:bodyPr/>
                    <a:lstStyle/>
                    <a:p>
                      <a:pPr algn="l"/>
                      <a:r>
                        <a:rPr sz="1400" b="1">
                          <a:solidFill>
                            <a:srgbClr val="FFFFFF"/>
                          </a:solidFill>
                          <a:latin typeface="Noto Sans SC" panose="020B0200000000000000" charset="-122"/>
                          <a:ea typeface="Noto Sans SC" panose="020B0200000000000000" charset="-122"/>
                          <a:cs typeface="Noto Sans SC" panose="020B0200000000000000" charset="-122"/>
                        </a:rPr>
                        <a:t>尺寸示例</a:t>
                      </a:r>
                      <a:endParaRPr sz="1400" b="1">
                        <a:solidFill>
                          <a:srgbClr val="FFFFF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12304F"/>
                    </a:solidFill>
                  </a:tcPr>
                </a:tc>
                <a:tc>
                  <a:txBody>
                    <a:bodyPr/>
                    <a:lstStyle/>
                    <a:p>
                      <a:pPr algn="ctr"/>
                      <a:r>
                        <a:rPr sz="1400" b="1">
                          <a:solidFill>
                            <a:srgbClr val="FFFFFF"/>
                          </a:solidFill>
                          <a:latin typeface="Noto Sans SC" panose="020B0200000000000000" charset="-122"/>
                          <a:ea typeface="Noto Sans SC" panose="020B0200000000000000" charset="-122"/>
                          <a:cs typeface="Noto Sans SC" panose="020B0200000000000000" charset="-122"/>
                        </a:rPr>
                        <a:t>起手值</a:t>
                      </a:r>
                      <a:endParaRPr sz="1400" b="1">
                        <a:solidFill>
                          <a:srgbClr val="FFFFF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12304F"/>
                    </a:solidFill>
                  </a:tcPr>
                </a:tc>
                <a:tc>
                  <a:txBody>
                    <a:bodyPr/>
                    <a:lstStyle/>
                    <a:p>
                      <a:pPr algn="l"/>
                      <a:r>
                        <a:rPr sz="1400" b="1">
                          <a:solidFill>
                            <a:srgbClr val="FFFFFF"/>
                          </a:solidFill>
                          <a:latin typeface="Noto Sans SC" panose="020B0200000000000000" charset="-122"/>
                          <a:ea typeface="Noto Sans SC" panose="020B0200000000000000" charset="-122"/>
                          <a:cs typeface="Noto Sans SC" panose="020B0200000000000000" charset="-122"/>
                        </a:rPr>
                        <a:t>备注</a:t>
                      </a:r>
                      <a:endParaRPr sz="1400" b="1">
                        <a:solidFill>
                          <a:srgbClr val="FFFFF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12304F"/>
                    </a:solidFill>
                  </a:tcPr>
                </a:tc>
              </a:tr>
              <a:tr h="530352">
                <a:tc>
                  <a:txBody>
                    <a:bodyPr/>
                    <a:lstStyle/>
                    <a:p>
                      <a:pPr algn="l"/>
                      <a:r>
                        <a:rPr sz="1400" b="0">
                          <a:solidFill>
                            <a:srgbClr val="12304F"/>
                          </a:solidFill>
                          <a:latin typeface="Noto Sans SC" panose="020B0200000000000000" charset="-122"/>
                          <a:ea typeface="Noto Sans SC" panose="020B0200000000000000" charset="-122"/>
                          <a:cs typeface="Noto Sans SC" panose="020B0200000000000000" charset="-122"/>
                        </a:rPr>
                        <a:t>螺栓通孔（间隙）</a:t>
                      </a:r>
                      <a:endParaRPr sz="1400" b="0">
                        <a:solidFill>
                          <a:srgbClr val="12304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c>
                  <a:txBody>
                    <a:bodyPr/>
                    <a:lstStyle/>
                    <a:p>
                      <a:pPr algn="l"/>
                      <a:r>
                        <a:rPr sz="1400" b="0">
                          <a:solidFill>
                            <a:srgbClr val="23384C"/>
                          </a:solidFill>
                          <a:latin typeface="Noto Sans SC" panose="020B0200000000000000" charset="-122"/>
                          <a:ea typeface="Noto Sans SC" panose="020B0200000000000000" charset="-122"/>
                          <a:cs typeface="Noto Sans SC" panose="020B0200000000000000" charset="-122"/>
                        </a:rPr>
                        <a:t>M3 螺丝穿过件</a:t>
                      </a:r>
                      <a:endParaRPr sz="1400" b="0">
                        <a:solidFill>
                          <a:srgbClr val="23384C"/>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c>
                  <a:txBody>
                    <a:bodyPr/>
                    <a:lstStyle/>
                    <a:p>
                      <a:pPr algn="ctr"/>
                      <a:r>
                        <a:rPr sz="1400" b="0">
                          <a:solidFill>
                            <a:srgbClr val="23384C"/>
                          </a:solidFill>
                          <a:latin typeface="Consolas" panose="020B0609020204030204"/>
                          <a:ea typeface="Consolas" panose="020B0609020204030204"/>
                          <a:cs typeface="Consolas" panose="020B0609020204030204"/>
                        </a:rPr>
                        <a:t>Ø3.2–3.4 mm</a:t>
                      </a:r>
                      <a:endParaRPr sz="1400" b="0">
                        <a:solidFill>
                          <a:srgbClr val="23384C"/>
                        </a:solidFill>
                        <a:latin typeface="Consolas" panose="020B0609020204030204"/>
                        <a:ea typeface="Consolas" panose="020B0609020204030204"/>
                        <a:cs typeface="Consolas" panose="020B0609020204030204"/>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c>
                  <a:txBody>
                    <a:bodyPr/>
                    <a:lstStyle/>
                    <a:p>
                      <a:pPr algn="l"/>
                      <a:r>
                        <a:rPr sz="1400" b="0">
                          <a:solidFill>
                            <a:srgbClr val="23384C"/>
                          </a:solidFill>
                          <a:latin typeface="Noto Sans SC" panose="020B0200000000000000" charset="-122"/>
                          <a:ea typeface="Noto Sans SC" panose="020B0200000000000000" charset="-122"/>
                          <a:cs typeface="Noto Sans SC" panose="020B0200000000000000" charset="-122"/>
                        </a:rPr>
                        <a:t>别按 3.0 画，穿不进</a:t>
                      </a:r>
                      <a:endParaRPr sz="1400" b="0">
                        <a:solidFill>
                          <a:srgbClr val="23384C"/>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r>
              <a:tr h="530352">
                <a:tc>
                  <a:txBody>
                    <a:bodyPr/>
                    <a:lstStyle/>
                    <a:p>
                      <a:pPr algn="l"/>
                      <a:r>
                        <a:rPr sz="1400" b="0">
                          <a:solidFill>
                            <a:srgbClr val="12304F"/>
                          </a:solidFill>
                          <a:latin typeface="Noto Sans SC" panose="020B0200000000000000" charset="-122"/>
                          <a:ea typeface="Noto Sans SC" panose="020B0200000000000000" charset="-122"/>
                          <a:cs typeface="Noto Sans SC" panose="020B0200000000000000" charset="-122"/>
                        </a:rPr>
                        <a:t>自攻底孔</a:t>
                      </a:r>
                      <a:endParaRPr sz="1400" b="0">
                        <a:solidFill>
                          <a:srgbClr val="12304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7F5EF"/>
                    </a:solidFill>
                  </a:tcPr>
                </a:tc>
                <a:tc>
                  <a:txBody>
                    <a:bodyPr/>
                    <a:lstStyle/>
                    <a:p>
                      <a:pPr algn="l"/>
                      <a:r>
                        <a:rPr sz="1400" b="0">
                          <a:solidFill>
                            <a:srgbClr val="23384C"/>
                          </a:solidFill>
                          <a:latin typeface="Noto Sans SC" panose="020B0200000000000000" charset="-122"/>
                          <a:ea typeface="Noto Sans SC" panose="020B0200000000000000" charset="-122"/>
                          <a:cs typeface="Noto Sans SC" panose="020B0200000000000000" charset="-122"/>
                        </a:rPr>
                        <a:t>M3 自攻螺丝</a:t>
                      </a:r>
                      <a:endParaRPr sz="1400" b="0">
                        <a:solidFill>
                          <a:srgbClr val="23384C"/>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7F5EF"/>
                    </a:solidFill>
                  </a:tcPr>
                </a:tc>
                <a:tc>
                  <a:txBody>
                    <a:bodyPr/>
                    <a:lstStyle/>
                    <a:p>
                      <a:pPr algn="ctr"/>
                      <a:r>
                        <a:rPr sz="1400" b="0">
                          <a:solidFill>
                            <a:srgbClr val="23384C"/>
                          </a:solidFill>
                          <a:latin typeface="Consolas" panose="020B0609020204030204"/>
                          <a:ea typeface="Consolas" panose="020B0609020204030204"/>
                          <a:cs typeface="Consolas" panose="020B0609020204030204"/>
                        </a:rPr>
                        <a:t>Ø2.5–2.7 mm</a:t>
                      </a:r>
                      <a:endParaRPr sz="1400" b="0">
                        <a:solidFill>
                          <a:srgbClr val="23384C"/>
                        </a:solidFill>
                        <a:latin typeface="Consolas" panose="020B0609020204030204"/>
                        <a:ea typeface="Consolas" panose="020B0609020204030204"/>
                        <a:cs typeface="Consolas" panose="020B0609020204030204"/>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7F5EF"/>
                    </a:solidFill>
                  </a:tcPr>
                </a:tc>
                <a:tc>
                  <a:txBody>
                    <a:bodyPr/>
                    <a:lstStyle/>
                    <a:p>
                      <a:pPr algn="l"/>
                      <a:r>
                        <a:rPr sz="1400" b="0">
                          <a:solidFill>
                            <a:srgbClr val="23384C"/>
                          </a:solidFill>
                          <a:latin typeface="Noto Sans SC" panose="020B0200000000000000" charset="-122"/>
                          <a:ea typeface="Noto Sans SC" panose="020B0200000000000000" charset="-122"/>
                          <a:cs typeface="Noto Sans SC" panose="020B0200000000000000" charset="-122"/>
                        </a:rPr>
                        <a:t>材料越硬取大值</a:t>
                      </a:r>
                      <a:endParaRPr sz="1400" b="0">
                        <a:solidFill>
                          <a:srgbClr val="23384C"/>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7F5EF"/>
                    </a:solidFill>
                  </a:tcPr>
                </a:tc>
              </a:tr>
              <a:tr h="530352">
                <a:tc>
                  <a:txBody>
                    <a:bodyPr/>
                    <a:lstStyle/>
                    <a:p>
                      <a:pPr algn="l"/>
                      <a:r>
                        <a:rPr sz="1400" b="0">
                          <a:solidFill>
                            <a:srgbClr val="12304F"/>
                          </a:solidFill>
                          <a:latin typeface="Noto Sans SC" panose="020B0200000000000000" charset="-122"/>
                          <a:ea typeface="Noto Sans SC" panose="020B0200000000000000" charset="-122"/>
                          <a:cs typeface="Noto Sans SC" panose="020B0200000000000000" charset="-122"/>
                        </a:rPr>
                        <a:t>热熔铜螺母孔</a:t>
                      </a:r>
                      <a:endParaRPr sz="1400" b="0">
                        <a:solidFill>
                          <a:srgbClr val="12304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c>
                  <a:txBody>
                    <a:bodyPr/>
                    <a:lstStyle/>
                    <a:p>
                      <a:pPr algn="l"/>
                      <a:r>
                        <a:rPr sz="1400" b="0">
                          <a:solidFill>
                            <a:srgbClr val="23384C"/>
                          </a:solidFill>
                          <a:latin typeface="Noto Sans SC" panose="020B0200000000000000" charset="-122"/>
                          <a:ea typeface="Noto Sans SC" panose="020B0200000000000000" charset="-122"/>
                          <a:cs typeface="Noto Sans SC" panose="020B0200000000000000" charset="-122"/>
                        </a:rPr>
                        <a:t>M3 铜螺母 Ø4.6</a:t>
                      </a:r>
                      <a:endParaRPr sz="1400" b="0">
                        <a:solidFill>
                          <a:srgbClr val="23384C"/>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c>
                  <a:txBody>
                    <a:bodyPr/>
                    <a:lstStyle/>
                    <a:p>
                      <a:pPr algn="ctr"/>
                      <a:r>
                        <a:rPr sz="1400" b="0">
                          <a:solidFill>
                            <a:srgbClr val="23384C"/>
                          </a:solidFill>
                          <a:latin typeface="Consolas" panose="020B0609020204030204"/>
                          <a:ea typeface="Consolas" panose="020B0609020204030204"/>
                          <a:cs typeface="Consolas" panose="020B0609020204030204"/>
                        </a:rPr>
                        <a:t>Ø4.0–4.2 mm</a:t>
                      </a:r>
                      <a:endParaRPr sz="1400" b="0">
                        <a:solidFill>
                          <a:srgbClr val="23384C"/>
                        </a:solidFill>
                        <a:latin typeface="Consolas" panose="020B0609020204030204"/>
                        <a:ea typeface="Consolas" panose="020B0609020204030204"/>
                        <a:cs typeface="Consolas" panose="020B0609020204030204"/>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c>
                  <a:txBody>
                    <a:bodyPr/>
                    <a:lstStyle/>
                    <a:p>
                      <a:pPr algn="l"/>
                      <a:r>
                        <a:rPr sz="1400" b="0">
                          <a:solidFill>
                            <a:srgbClr val="23384C"/>
                          </a:solidFill>
                          <a:latin typeface="Noto Sans SC" panose="020B0200000000000000" charset="-122"/>
                          <a:ea typeface="Noto Sans SC" panose="020B0200000000000000" charset="-122"/>
                          <a:cs typeface="Noto Sans SC" panose="020B0200000000000000" charset="-122"/>
                        </a:rPr>
                        <a:t>低于表面 0.2–0.5 mm</a:t>
                      </a:r>
                      <a:endParaRPr sz="1400" b="0">
                        <a:solidFill>
                          <a:srgbClr val="23384C"/>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r>
              <a:tr h="530352">
                <a:tc>
                  <a:txBody>
                    <a:bodyPr/>
                    <a:lstStyle/>
                    <a:p>
                      <a:pPr algn="l"/>
                      <a:r>
                        <a:rPr sz="1400" b="0">
                          <a:solidFill>
                            <a:srgbClr val="12304F"/>
                          </a:solidFill>
                          <a:latin typeface="Noto Sans SC" panose="020B0200000000000000" charset="-122"/>
                          <a:ea typeface="Noto Sans SC" panose="020B0200000000000000" charset="-122"/>
                          <a:cs typeface="Noto Sans SC" panose="020B0200000000000000" charset="-122"/>
                        </a:rPr>
                        <a:t>轴承位（过盈）</a:t>
                      </a:r>
                      <a:endParaRPr sz="1400" b="0">
                        <a:solidFill>
                          <a:srgbClr val="12304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7F5EF"/>
                    </a:solidFill>
                  </a:tcPr>
                </a:tc>
                <a:tc>
                  <a:txBody>
                    <a:bodyPr/>
                    <a:lstStyle/>
                    <a:p>
                      <a:pPr algn="l"/>
                      <a:r>
                        <a:rPr sz="1400" b="0">
                          <a:solidFill>
                            <a:srgbClr val="23384C"/>
                          </a:solidFill>
                          <a:latin typeface="Noto Sans SC" panose="020B0200000000000000" charset="-122"/>
                          <a:ea typeface="Noto Sans SC" panose="020B0200000000000000" charset="-122"/>
                          <a:cs typeface="Noto Sans SC" panose="020B0200000000000000" charset="-122"/>
                        </a:rPr>
                        <a:t>608 轴承 · Ø22</a:t>
                      </a:r>
                      <a:endParaRPr sz="1400" b="0">
                        <a:solidFill>
                          <a:srgbClr val="23384C"/>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7F5EF"/>
                    </a:solidFill>
                  </a:tcPr>
                </a:tc>
                <a:tc>
                  <a:txBody>
                    <a:bodyPr/>
                    <a:lstStyle/>
                    <a:p>
                      <a:pPr algn="ctr"/>
                      <a:r>
                        <a:rPr sz="1400" b="0">
                          <a:solidFill>
                            <a:srgbClr val="23384C"/>
                          </a:solidFill>
                          <a:latin typeface="Consolas" panose="020B0609020204030204"/>
                          <a:ea typeface="Consolas" panose="020B0609020204030204"/>
                          <a:cs typeface="Consolas" panose="020B0609020204030204"/>
                        </a:rPr>
                        <a:t>Ø21.95–22.05</a:t>
                      </a:r>
                      <a:endParaRPr sz="1400" b="0">
                        <a:solidFill>
                          <a:srgbClr val="23384C"/>
                        </a:solidFill>
                        <a:latin typeface="Consolas" panose="020B0609020204030204"/>
                        <a:ea typeface="Consolas" panose="020B0609020204030204"/>
                        <a:cs typeface="Consolas" panose="020B0609020204030204"/>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7F5EF"/>
                    </a:solidFill>
                  </a:tcPr>
                </a:tc>
                <a:tc>
                  <a:txBody>
                    <a:bodyPr/>
                    <a:lstStyle/>
                    <a:p>
                      <a:pPr algn="l"/>
                      <a:r>
                        <a:rPr sz="1400" b="0">
                          <a:solidFill>
                            <a:srgbClr val="23384C"/>
                          </a:solidFill>
                          <a:latin typeface="Noto Sans SC" panose="020B0200000000000000" charset="-122"/>
                          <a:ea typeface="Noto Sans SC" panose="020B0200000000000000" charset="-122"/>
                          <a:cs typeface="Noto Sans SC" panose="020B0200000000000000" charset="-122"/>
                        </a:rPr>
                        <a:t>太紧压不进，太松会晃</a:t>
                      </a:r>
                      <a:endParaRPr sz="1400" b="0">
                        <a:solidFill>
                          <a:srgbClr val="23384C"/>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7F5EF"/>
                    </a:solidFill>
                  </a:tcPr>
                </a:tc>
              </a:tr>
              <a:tr h="530352">
                <a:tc>
                  <a:txBody>
                    <a:bodyPr/>
                    <a:lstStyle/>
                    <a:p>
                      <a:pPr algn="l"/>
                      <a:r>
                        <a:rPr sz="1400" b="0">
                          <a:solidFill>
                            <a:srgbClr val="12304F"/>
                          </a:solidFill>
                          <a:latin typeface="Noto Sans SC" panose="020B0200000000000000" charset="-122"/>
                          <a:ea typeface="Noto Sans SC" panose="020B0200000000000000" charset="-122"/>
                          <a:cs typeface="Noto Sans SC" panose="020B0200000000000000" charset="-122"/>
                        </a:rPr>
                        <a:t>活动轴孔（间隙）</a:t>
                      </a:r>
                      <a:endParaRPr sz="1400" b="0">
                        <a:solidFill>
                          <a:srgbClr val="12304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c>
                  <a:txBody>
                    <a:bodyPr/>
                    <a:lstStyle/>
                    <a:p>
                      <a:pPr algn="l"/>
                      <a:r>
                        <a:rPr sz="1400" b="0">
                          <a:solidFill>
                            <a:srgbClr val="23384C"/>
                          </a:solidFill>
                          <a:latin typeface="Noto Sans SC" panose="020B0200000000000000" charset="-122"/>
                          <a:ea typeface="Noto Sans SC" panose="020B0200000000000000" charset="-122"/>
                          <a:cs typeface="Noto Sans SC" panose="020B0200000000000000" charset="-122"/>
                        </a:rPr>
                        <a:t>Ø5 光轴</a:t>
                      </a:r>
                      <a:endParaRPr sz="1400" b="0">
                        <a:solidFill>
                          <a:srgbClr val="23384C"/>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c>
                  <a:txBody>
                    <a:bodyPr/>
                    <a:lstStyle/>
                    <a:p>
                      <a:pPr algn="ctr"/>
                      <a:r>
                        <a:rPr sz="1400" b="0">
                          <a:solidFill>
                            <a:srgbClr val="23384C"/>
                          </a:solidFill>
                          <a:latin typeface="Consolas" panose="020B0609020204030204"/>
                          <a:ea typeface="Consolas" panose="020B0609020204030204"/>
                          <a:cs typeface="Consolas" panose="020B0609020204030204"/>
                        </a:rPr>
                        <a:t>Ø5.10–5.20</a:t>
                      </a:r>
                      <a:endParaRPr sz="1400" b="0">
                        <a:solidFill>
                          <a:srgbClr val="23384C"/>
                        </a:solidFill>
                        <a:latin typeface="Consolas" panose="020B0609020204030204"/>
                        <a:ea typeface="Consolas" panose="020B0609020204030204"/>
                        <a:cs typeface="Consolas" panose="020B0609020204030204"/>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c>
                  <a:txBody>
                    <a:bodyPr/>
                    <a:lstStyle/>
                    <a:p>
                      <a:pPr algn="l"/>
                      <a:r>
                        <a:rPr sz="1400" b="0">
                          <a:solidFill>
                            <a:srgbClr val="23384C"/>
                          </a:solidFill>
                          <a:latin typeface="Noto Sans SC" panose="020B0200000000000000" charset="-122"/>
                          <a:ea typeface="Noto Sans SC" panose="020B0200000000000000" charset="-122"/>
                          <a:cs typeface="Noto Sans SC" panose="020B0200000000000000" charset="-122"/>
                        </a:rPr>
                        <a:t>要转动就得留间隙</a:t>
                      </a:r>
                      <a:endParaRPr sz="1400" b="0">
                        <a:solidFill>
                          <a:srgbClr val="23384C"/>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r>
            </a:tbl>
          </a:graphicData>
        </a:graphic>
      </p:graphicFrame>
      <p:sp>
        <p:nvSpPr>
          <p:cNvPr id="21" name="Rectangle 20"/>
          <p:cNvSpPr/>
          <p:nvPr/>
        </p:nvSpPr>
        <p:spPr>
          <a:xfrm>
            <a:off x="7882127" y="2487168"/>
            <a:ext cx="3712463" cy="3035808"/>
          </a:xfrm>
          <a:prstGeom prst="rect">
            <a:avLst/>
          </a:prstGeom>
          <a:solidFill>
            <a:srgbClr val="FFFFFF"/>
          </a:solidFill>
          <a:ln w="12700">
            <a:solidFill>
              <a:srgbClr val="C9D3DC"/>
            </a:solidFill>
          </a:ln>
        </p:spPr>
        <p:txBody>
          <a:bodyPr rtlCol="0" anchor="ctr"/>
          <a:lstStyle/>
          <a:p>
            <a:pPr algn="ctr"/>
          </a:p>
        </p:txBody>
      </p:sp>
      <p:sp>
        <p:nvSpPr>
          <p:cNvPr id="26" name="TextBox 25"/>
          <p:cNvSpPr txBox="1"/>
          <p:nvPr/>
        </p:nvSpPr>
        <p:spPr>
          <a:xfrm>
            <a:off x="8028431" y="3968496"/>
            <a:ext cx="3419856" cy="475488"/>
          </a:xfrm>
          <a:prstGeom prst="rect">
            <a:avLst/>
          </a:prstGeom>
          <a:noFill/>
        </p:spPr>
        <p:txBody>
          <a:bodyPr wrap="square">
            <a:spAutoFit/>
          </a:bodyPr>
          <a:lstStyle/>
          <a:p>
            <a:pPr algn="l">
              <a:spcBef>
                <a:spcPts val="300"/>
              </a:spcBef>
              <a:spcAft>
                <a:spcPts val="300"/>
              </a:spcAft>
            </a:pPr>
            <a:r>
              <a:rPr sz="1200" b="0">
                <a:solidFill>
                  <a:srgbClr val="23384C"/>
                </a:solidFill>
                <a:latin typeface="Noto Sans SC" panose="020B0200000000000000" charset="-122"/>
                <a:ea typeface="Noto Sans SC" panose="020B0200000000000000" charset="-122"/>
                <a:cs typeface="Noto Sans SC" panose="020B0200000000000000" charset="-122"/>
              </a:rPr>
              <a:t>打完后用卡尺量实际孔径，</a:t>
            </a:r>
            <a:endParaRPr sz="1200" b="0">
              <a:solidFill>
                <a:srgbClr val="23384C"/>
              </a:solidFill>
              <a:latin typeface="Noto Sans SC" panose="020B0200000000000000" charset="-122"/>
              <a:ea typeface="Noto Sans SC" panose="020B0200000000000000" charset="-122"/>
              <a:cs typeface="Noto Sans SC" panose="020B0200000000000000" charset="-122"/>
            </a:endParaRPr>
          </a:p>
          <a:p>
            <a:pPr algn="l">
              <a:spcBef>
                <a:spcPts val="300"/>
              </a:spcBef>
              <a:spcAft>
                <a:spcPts val="300"/>
              </a:spcAft>
            </a:pPr>
            <a:r>
              <a:rPr sz="1200" b="0">
                <a:solidFill>
                  <a:srgbClr val="23384C"/>
                </a:solidFill>
                <a:latin typeface="Noto Sans SC" panose="020B0200000000000000" charset="-122"/>
                <a:ea typeface="Noto Sans SC" panose="020B0200000000000000" charset="-122"/>
                <a:cs typeface="Noto Sans SC" panose="020B0200000000000000" charset="-122"/>
              </a:rPr>
              <a:t>差值就是本机的孔径补偿量。</a:t>
            </a:r>
            <a:endParaRPr sz="120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7" name="Rectangle 26"/>
          <p:cNvSpPr/>
          <p:nvPr/>
        </p:nvSpPr>
        <p:spPr>
          <a:xfrm>
            <a:off x="8028431" y="4370832"/>
            <a:ext cx="3419856" cy="9144"/>
          </a:xfrm>
          <a:prstGeom prst="rect">
            <a:avLst/>
          </a:prstGeom>
          <a:solidFill>
            <a:srgbClr val="C9D3DC"/>
          </a:solidFill>
          <a:ln>
            <a:noFill/>
          </a:ln>
        </p:spPr>
        <p:txBody>
          <a:bodyPr rtlCol="0" anchor="ctr"/>
          <a:lstStyle/>
          <a:p>
            <a:pPr algn="ctr"/>
          </a:p>
        </p:txBody>
      </p:sp>
      <p:sp>
        <p:nvSpPr>
          <p:cNvPr id="28" name="TextBox 27"/>
          <p:cNvSpPr txBox="1"/>
          <p:nvPr/>
        </p:nvSpPr>
        <p:spPr>
          <a:xfrm>
            <a:off x="8028431" y="4443984"/>
            <a:ext cx="3419856" cy="219456"/>
          </a:xfrm>
          <a:prstGeom prst="rect">
            <a:avLst/>
          </a:prstGeom>
          <a:noFill/>
        </p:spPr>
        <p:txBody>
          <a:bodyPr wrap="square">
            <a:spAutoFit/>
          </a:bodyPr>
          <a:lstStyle/>
          <a:p>
            <a:pPr algn="l"/>
            <a:r>
              <a:rPr sz="1200" b="0">
                <a:solidFill>
                  <a:srgbClr val="6B7B8A"/>
                </a:solidFill>
                <a:latin typeface="Noto Sans SC" panose="020B0200000000000000" charset="-122"/>
                <a:ea typeface="Noto Sans SC" panose="020B0200000000000000" charset="-122"/>
                <a:cs typeface="Noto Sans SC" panose="020B0200000000000000" charset="-122"/>
              </a:rPr>
              <a:t>全局补偿路径</a:t>
            </a:r>
            <a:endParaRPr sz="120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29" name="TextBox 28"/>
          <p:cNvSpPr txBox="1"/>
          <p:nvPr/>
        </p:nvSpPr>
        <p:spPr>
          <a:xfrm>
            <a:off x="8028431" y="4663440"/>
            <a:ext cx="3419856" cy="219456"/>
          </a:xfrm>
          <a:prstGeom prst="rect">
            <a:avLst/>
          </a:prstGeom>
          <a:noFill/>
        </p:spPr>
        <p:txBody>
          <a:bodyPr wrap="square">
            <a:spAutoFit/>
          </a:bodyPr>
          <a:lstStyle/>
          <a:p>
            <a:pPr algn="l"/>
            <a:r>
              <a:rPr sz="1050" b="0">
                <a:solidFill>
                  <a:srgbClr val="C2571A"/>
                </a:solidFill>
                <a:latin typeface="Consolas" panose="020B0609020204030204"/>
                <a:ea typeface="Noto Sans SC" panose="020B0200000000000000" charset="-122"/>
                <a:cs typeface="Noto Sans SC" panose="020B0200000000000000" charset="-122"/>
              </a:rPr>
              <a:t>Bambu Studio ▸ Quality ▸ Precision</a:t>
            </a:r>
            <a:endParaRPr sz="1050" b="0">
              <a:solidFill>
                <a:srgbClr val="C2571A"/>
              </a:solidFill>
              <a:latin typeface="Consolas" panose="020B0609020204030204"/>
              <a:ea typeface="Noto Sans SC" panose="020B0200000000000000" charset="-122"/>
              <a:cs typeface="Noto Sans SC" panose="020B0200000000000000" charset="-122"/>
            </a:endParaRPr>
          </a:p>
        </p:txBody>
      </p:sp>
      <p:sp>
        <p:nvSpPr>
          <p:cNvPr id="30" name="TextBox 29"/>
          <p:cNvSpPr txBox="1"/>
          <p:nvPr/>
        </p:nvSpPr>
        <p:spPr>
          <a:xfrm>
            <a:off x="8028431" y="4864608"/>
            <a:ext cx="3419856" cy="219456"/>
          </a:xfrm>
          <a:prstGeom prst="rect">
            <a:avLst/>
          </a:prstGeom>
          <a:noFill/>
        </p:spPr>
        <p:txBody>
          <a:bodyPr wrap="square">
            <a:spAutoFit/>
          </a:bodyPr>
          <a:lstStyle/>
          <a:p>
            <a:pPr algn="l"/>
            <a:r>
              <a:rPr sz="1050" b="0">
                <a:solidFill>
                  <a:srgbClr val="C2571A"/>
                </a:solidFill>
                <a:latin typeface="Consolas" panose="020B0609020204030204"/>
                <a:ea typeface="Noto Sans SC" panose="020B0200000000000000" charset="-122"/>
                <a:cs typeface="Noto Sans SC" panose="020B0200000000000000" charset="-122"/>
              </a:rPr>
              <a:t>▸ XY Hole Compensation</a:t>
            </a:r>
            <a:endParaRPr sz="1050" b="0">
              <a:solidFill>
                <a:srgbClr val="C2571A"/>
              </a:solidFill>
              <a:latin typeface="Consolas" panose="020B0609020204030204"/>
              <a:ea typeface="Noto Sans SC" panose="020B0200000000000000" charset="-122"/>
              <a:cs typeface="Noto Sans SC" panose="020B0200000000000000" charset="-122"/>
            </a:endParaRPr>
          </a:p>
        </p:txBody>
      </p:sp>
      <p:sp>
        <p:nvSpPr>
          <p:cNvPr id="31" name="Rectangle 30"/>
          <p:cNvSpPr/>
          <p:nvPr/>
        </p:nvSpPr>
        <p:spPr>
          <a:xfrm>
            <a:off x="8028431" y="5138928"/>
            <a:ext cx="82296" cy="82296"/>
          </a:xfrm>
          <a:prstGeom prst="rect">
            <a:avLst/>
          </a:prstGeom>
          <a:solidFill>
            <a:srgbClr val="2F7D53"/>
          </a:solidFill>
          <a:ln>
            <a:noFill/>
          </a:ln>
        </p:spPr>
        <p:txBody>
          <a:bodyPr rtlCol="0" anchor="ctr"/>
          <a:lstStyle/>
          <a:p>
            <a:pPr algn="ctr"/>
          </a:p>
        </p:txBody>
      </p:sp>
      <p:sp>
        <p:nvSpPr>
          <p:cNvPr id="32" name="TextBox 31"/>
          <p:cNvSpPr txBox="1"/>
          <p:nvPr/>
        </p:nvSpPr>
        <p:spPr>
          <a:xfrm>
            <a:off x="8193023" y="5065776"/>
            <a:ext cx="3255263" cy="237744"/>
          </a:xfrm>
          <a:prstGeom prst="rect">
            <a:avLst/>
          </a:prstGeom>
          <a:noFill/>
        </p:spPr>
        <p:txBody>
          <a:bodyPr wrap="square">
            <a:spAutoFit/>
          </a:bodyPr>
          <a:lstStyle/>
          <a:p>
            <a:pPr algn="l"/>
            <a:r>
              <a:rPr sz="1200" b="0">
                <a:solidFill>
                  <a:srgbClr val="23384C"/>
                </a:solidFill>
                <a:latin typeface="Noto Sans SC" panose="020B0200000000000000" charset="-122"/>
                <a:ea typeface="Noto Sans SC" panose="020B0200000000000000" charset="-122"/>
                <a:cs typeface="Noto Sans SC" panose="020B0200000000000000" charset="-122"/>
              </a:rPr>
              <a:t>打一组自测件 → 量 → 记录</a:t>
            </a:r>
            <a:endParaRPr sz="120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33" name="Rectangle 32"/>
          <p:cNvSpPr/>
          <p:nvPr/>
        </p:nvSpPr>
        <p:spPr>
          <a:xfrm>
            <a:off x="8028431" y="5321808"/>
            <a:ext cx="82296" cy="82296"/>
          </a:xfrm>
          <a:prstGeom prst="rect">
            <a:avLst/>
          </a:prstGeom>
          <a:solidFill>
            <a:srgbClr val="B03A2E"/>
          </a:solidFill>
          <a:ln>
            <a:noFill/>
          </a:ln>
        </p:spPr>
        <p:txBody>
          <a:bodyPr rtlCol="0" anchor="ctr"/>
          <a:lstStyle/>
          <a:p>
            <a:pPr algn="ctr"/>
          </a:p>
        </p:txBody>
      </p:sp>
      <p:sp>
        <p:nvSpPr>
          <p:cNvPr id="34" name="TextBox 33"/>
          <p:cNvSpPr txBox="1"/>
          <p:nvPr/>
        </p:nvSpPr>
        <p:spPr>
          <a:xfrm>
            <a:off x="8193023" y="5248656"/>
            <a:ext cx="3255263" cy="237744"/>
          </a:xfrm>
          <a:prstGeom prst="rect">
            <a:avLst/>
          </a:prstGeom>
          <a:noFill/>
        </p:spPr>
        <p:txBody>
          <a:bodyPr wrap="square">
            <a:spAutoFit/>
          </a:bodyPr>
          <a:lstStyle/>
          <a:p>
            <a:pPr algn="l"/>
            <a:r>
              <a:rPr sz="1200" b="0">
                <a:solidFill>
                  <a:srgbClr val="23384C"/>
                </a:solidFill>
                <a:latin typeface="Noto Sans SC" panose="020B0200000000000000" charset="-122"/>
                <a:ea typeface="Noto Sans SC" panose="020B0200000000000000" charset="-122"/>
                <a:cs typeface="Noto Sans SC" panose="020B0200000000000000" charset="-122"/>
              </a:rPr>
              <a:t>照搬网上的公差表就用</a:t>
            </a:r>
            <a:endParaRPr sz="120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35" name="Rectangle 34"/>
          <p:cNvSpPr/>
          <p:nvPr/>
        </p:nvSpPr>
        <p:spPr>
          <a:xfrm>
            <a:off x="594360" y="5779008"/>
            <a:ext cx="3593592" cy="365760"/>
          </a:xfrm>
          <a:prstGeom prst="rect">
            <a:avLst/>
          </a:prstGeom>
          <a:solidFill>
            <a:srgbClr val="FFFFFF"/>
          </a:solidFill>
          <a:ln w="12700">
            <a:solidFill>
              <a:srgbClr val="C9D3DC"/>
            </a:solidFill>
          </a:ln>
        </p:spPr>
        <p:txBody>
          <a:bodyPr rtlCol="0" anchor="ctr"/>
          <a:lstStyle/>
          <a:p>
            <a:pPr algn="ctr"/>
          </a:p>
        </p:txBody>
      </p:sp>
      <p:sp>
        <p:nvSpPr>
          <p:cNvPr id="36" name="Rectangle 35"/>
          <p:cNvSpPr/>
          <p:nvPr/>
        </p:nvSpPr>
        <p:spPr>
          <a:xfrm>
            <a:off x="594360" y="5779008"/>
            <a:ext cx="45720" cy="365760"/>
          </a:xfrm>
          <a:prstGeom prst="rect">
            <a:avLst/>
          </a:prstGeom>
          <a:solidFill>
            <a:srgbClr val="1D5FA8"/>
          </a:solidFill>
          <a:ln>
            <a:noFill/>
          </a:ln>
        </p:spPr>
        <p:txBody>
          <a:bodyPr rtlCol="0" anchor="ctr"/>
          <a:lstStyle/>
          <a:p>
            <a:pPr algn="ctr"/>
          </a:p>
        </p:txBody>
      </p:sp>
      <p:sp>
        <p:nvSpPr>
          <p:cNvPr id="37" name="TextBox 36"/>
          <p:cNvSpPr txBox="1"/>
          <p:nvPr/>
        </p:nvSpPr>
        <p:spPr>
          <a:xfrm>
            <a:off x="758952" y="5779008"/>
            <a:ext cx="960120" cy="365760"/>
          </a:xfrm>
          <a:prstGeom prst="rect">
            <a:avLst/>
          </a:prstGeom>
          <a:noFill/>
        </p:spPr>
        <p:txBody>
          <a:bodyPr wrap="square" anchor="ctr">
            <a:spAutoFit/>
          </a:bodyPr>
          <a:lstStyle/>
          <a:p>
            <a:pPr algn="l"/>
            <a:r>
              <a:rPr sz="1200" b="1">
                <a:solidFill>
                  <a:srgbClr val="12304F"/>
                </a:solidFill>
                <a:latin typeface="Noto Sans SC" panose="020B0200000000000000" charset="-122"/>
                <a:ea typeface="Noto Sans SC" panose="020B0200000000000000" charset="-122"/>
                <a:cs typeface="Noto Sans SC" panose="020B0200000000000000" charset="-122"/>
              </a:rPr>
              <a:t>间隙配合</a:t>
            </a:r>
            <a:endParaRPr sz="120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38" name="TextBox 37"/>
          <p:cNvSpPr txBox="1"/>
          <p:nvPr/>
        </p:nvSpPr>
        <p:spPr>
          <a:xfrm>
            <a:off x="1728216" y="5779008"/>
            <a:ext cx="2350008" cy="365760"/>
          </a:xfrm>
          <a:prstGeom prst="rect">
            <a:avLst/>
          </a:prstGeom>
          <a:noFill/>
        </p:spPr>
        <p:txBody>
          <a:bodyPr wrap="square" anchor="ctr">
            <a:spAutoFit/>
          </a:bodyPr>
          <a:lstStyle/>
          <a:p>
            <a:pPr algn="l"/>
            <a:r>
              <a:rPr sz="1150" b="0">
                <a:solidFill>
                  <a:srgbClr val="23384C"/>
                </a:solidFill>
                <a:latin typeface="Noto Sans SC" panose="020B0200000000000000" charset="-122"/>
                <a:ea typeface="Noto Sans SC" panose="020B0200000000000000" charset="-122"/>
                <a:cs typeface="Noto Sans SC" panose="020B0200000000000000" charset="-122"/>
              </a:rPr>
              <a:t>要动 / 要穿 → 留 0.1–0.2 mm</a:t>
            </a:r>
            <a:endParaRPr sz="11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39" name="Rectangle 38"/>
          <p:cNvSpPr/>
          <p:nvPr/>
        </p:nvSpPr>
        <p:spPr>
          <a:xfrm>
            <a:off x="4288536" y="5779008"/>
            <a:ext cx="3593592" cy="365760"/>
          </a:xfrm>
          <a:prstGeom prst="rect">
            <a:avLst/>
          </a:prstGeom>
          <a:solidFill>
            <a:srgbClr val="FFFFFF"/>
          </a:solidFill>
          <a:ln w="12700">
            <a:solidFill>
              <a:srgbClr val="C9D3DC"/>
            </a:solidFill>
          </a:ln>
        </p:spPr>
        <p:txBody>
          <a:bodyPr rtlCol="0" anchor="ctr"/>
          <a:lstStyle/>
          <a:p>
            <a:pPr algn="ctr"/>
          </a:p>
        </p:txBody>
      </p:sp>
      <p:sp>
        <p:nvSpPr>
          <p:cNvPr id="40" name="Rectangle 39"/>
          <p:cNvSpPr/>
          <p:nvPr/>
        </p:nvSpPr>
        <p:spPr>
          <a:xfrm>
            <a:off x="4288536" y="5779008"/>
            <a:ext cx="45720" cy="365760"/>
          </a:xfrm>
          <a:prstGeom prst="rect">
            <a:avLst/>
          </a:prstGeom>
          <a:solidFill>
            <a:srgbClr val="0E7C74"/>
          </a:solidFill>
          <a:ln>
            <a:noFill/>
          </a:ln>
        </p:spPr>
        <p:txBody>
          <a:bodyPr rtlCol="0" anchor="ctr"/>
          <a:lstStyle/>
          <a:p>
            <a:pPr algn="ctr"/>
          </a:p>
        </p:txBody>
      </p:sp>
      <p:sp>
        <p:nvSpPr>
          <p:cNvPr id="41" name="TextBox 40"/>
          <p:cNvSpPr txBox="1"/>
          <p:nvPr/>
        </p:nvSpPr>
        <p:spPr>
          <a:xfrm>
            <a:off x="4453128" y="5779008"/>
            <a:ext cx="960120" cy="365760"/>
          </a:xfrm>
          <a:prstGeom prst="rect">
            <a:avLst/>
          </a:prstGeom>
          <a:noFill/>
        </p:spPr>
        <p:txBody>
          <a:bodyPr wrap="square" anchor="ctr">
            <a:spAutoFit/>
          </a:bodyPr>
          <a:lstStyle/>
          <a:p>
            <a:pPr algn="l"/>
            <a:r>
              <a:rPr sz="1200" b="1">
                <a:solidFill>
                  <a:srgbClr val="12304F"/>
                </a:solidFill>
                <a:latin typeface="Noto Sans SC" panose="020B0200000000000000" charset="-122"/>
                <a:ea typeface="Noto Sans SC" panose="020B0200000000000000" charset="-122"/>
                <a:cs typeface="Noto Sans SC" panose="020B0200000000000000" charset="-122"/>
              </a:rPr>
              <a:t>过渡配合</a:t>
            </a:r>
            <a:endParaRPr sz="120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42" name="TextBox 41"/>
          <p:cNvSpPr txBox="1"/>
          <p:nvPr/>
        </p:nvSpPr>
        <p:spPr>
          <a:xfrm>
            <a:off x="5422392" y="5779008"/>
            <a:ext cx="2350008" cy="365760"/>
          </a:xfrm>
          <a:prstGeom prst="rect">
            <a:avLst/>
          </a:prstGeom>
          <a:noFill/>
        </p:spPr>
        <p:txBody>
          <a:bodyPr wrap="square" anchor="ctr">
            <a:spAutoFit/>
          </a:bodyPr>
          <a:lstStyle/>
          <a:p>
            <a:pPr algn="l"/>
            <a:r>
              <a:rPr sz="1150" b="0">
                <a:solidFill>
                  <a:srgbClr val="23384C"/>
                </a:solidFill>
                <a:latin typeface="Noto Sans SC" panose="020B0200000000000000" charset="-122"/>
                <a:ea typeface="Noto Sans SC" panose="020B0200000000000000" charset="-122"/>
                <a:cs typeface="Noto Sans SC" panose="020B0200000000000000" charset="-122"/>
              </a:rPr>
              <a:t>要定位但能拆 → 留 0.02–0.05 mm</a:t>
            </a:r>
            <a:endParaRPr sz="11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43" name="Rectangle 42"/>
          <p:cNvSpPr/>
          <p:nvPr/>
        </p:nvSpPr>
        <p:spPr>
          <a:xfrm>
            <a:off x="7982712" y="5779008"/>
            <a:ext cx="3593592" cy="365760"/>
          </a:xfrm>
          <a:prstGeom prst="rect">
            <a:avLst/>
          </a:prstGeom>
          <a:solidFill>
            <a:srgbClr val="FFFFFF"/>
          </a:solidFill>
          <a:ln w="12700">
            <a:solidFill>
              <a:srgbClr val="C9D3DC"/>
            </a:solidFill>
          </a:ln>
        </p:spPr>
        <p:txBody>
          <a:bodyPr rtlCol="0" anchor="ctr"/>
          <a:lstStyle/>
          <a:p>
            <a:pPr algn="ctr"/>
          </a:p>
        </p:txBody>
      </p:sp>
      <p:sp>
        <p:nvSpPr>
          <p:cNvPr id="44" name="Rectangle 43"/>
          <p:cNvSpPr/>
          <p:nvPr/>
        </p:nvSpPr>
        <p:spPr>
          <a:xfrm>
            <a:off x="7982712" y="5779008"/>
            <a:ext cx="45720" cy="365760"/>
          </a:xfrm>
          <a:prstGeom prst="rect">
            <a:avLst/>
          </a:prstGeom>
          <a:solidFill>
            <a:srgbClr val="C2571A"/>
          </a:solidFill>
          <a:ln>
            <a:noFill/>
          </a:ln>
        </p:spPr>
        <p:txBody>
          <a:bodyPr rtlCol="0" anchor="ctr"/>
          <a:lstStyle/>
          <a:p>
            <a:pPr algn="ctr"/>
          </a:p>
        </p:txBody>
      </p:sp>
      <p:sp>
        <p:nvSpPr>
          <p:cNvPr id="45" name="TextBox 44"/>
          <p:cNvSpPr txBox="1"/>
          <p:nvPr/>
        </p:nvSpPr>
        <p:spPr>
          <a:xfrm>
            <a:off x="8147304" y="5779008"/>
            <a:ext cx="960120" cy="365760"/>
          </a:xfrm>
          <a:prstGeom prst="rect">
            <a:avLst/>
          </a:prstGeom>
          <a:noFill/>
        </p:spPr>
        <p:txBody>
          <a:bodyPr wrap="square" anchor="ctr">
            <a:spAutoFit/>
          </a:bodyPr>
          <a:lstStyle/>
          <a:p>
            <a:pPr algn="l"/>
            <a:r>
              <a:rPr sz="1200" b="1">
                <a:solidFill>
                  <a:srgbClr val="12304F"/>
                </a:solidFill>
                <a:latin typeface="Noto Sans SC" panose="020B0200000000000000" charset="-122"/>
                <a:ea typeface="Noto Sans SC" panose="020B0200000000000000" charset="-122"/>
                <a:cs typeface="Noto Sans SC" panose="020B0200000000000000" charset="-122"/>
              </a:rPr>
              <a:t>过盈配合</a:t>
            </a:r>
            <a:endParaRPr sz="120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46" name="TextBox 45"/>
          <p:cNvSpPr txBox="1"/>
          <p:nvPr/>
        </p:nvSpPr>
        <p:spPr>
          <a:xfrm>
            <a:off x="9116568" y="5779008"/>
            <a:ext cx="2350008" cy="365760"/>
          </a:xfrm>
          <a:prstGeom prst="rect">
            <a:avLst/>
          </a:prstGeom>
          <a:noFill/>
        </p:spPr>
        <p:txBody>
          <a:bodyPr wrap="square" anchor="ctr">
            <a:spAutoFit/>
          </a:bodyPr>
          <a:lstStyle/>
          <a:p>
            <a:pPr algn="l"/>
            <a:r>
              <a:rPr sz="1150" b="0">
                <a:solidFill>
                  <a:srgbClr val="23384C"/>
                </a:solidFill>
                <a:latin typeface="Noto Sans SC" panose="020B0200000000000000" charset="-122"/>
                <a:ea typeface="Noto Sans SC" panose="020B0200000000000000" charset="-122"/>
                <a:cs typeface="Noto Sans SC" panose="020B0200000000000000" charset="-122"/>
              </a:rPr>
              <a:t>要压入不打滑 → 紧 0.05–0.1 mm</a:t>
            </a:r>
            <a:endParaRPr sz="11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47" name="Rectangle 46"/>
          <p:cNvSpPr/>
          <p:nvPr/>
        </p:nvSpPr>
        <p:spPr>
          <a:xfrm>
            <a:off x="594360" y="6199632"/>
            <a:ext cx="11002975" cy="10972"/>
          </a:xfrm>
          <a:prstGeom prst="rect">
            <a:avLst/>
          </a:prstGeom>
          <a:solidFill>
            <a:srgbClr val="C9D3DC"/>
          </a:solidFill>
          <a:ln>
            <a:noFill/>
          </a:ln>
        </p:spPr>
        <p:txBody>
          <a:bodyPr rtlCol="0" anchor="ctr"/>
          <a:lstStyle/>
          <a:p>
            <a:pPr algn="ctr"/>
          </a:p>
        </p:txBody>
      </p:sp>
      <p:sp>
        <p:nvSpPr>
          <p:cNvPr id="48" name="TextBox 47"/>
          <p:cNvSpPr txBox="1"/>
          <p:nvPr/>
        </p:nvSpPr>
        <p:spPr>
          <a:xfrm>
            <a:off x="594360" y="6327648"/>
            <a:ext cx="8778240" cy="274320"/>
          </a:xfrm>
          <a:prstGeom prst="rect">
            <a:avLst/>
          </a:prstGeom>
          <a:noFill/>
        </p:spPr>
        <p:txBody>
          <a:bodyPr wrap="square">
            <a:spAutoFit/>
          </a:bodyPr>
          <a:lstStyle/>
          <a:p>
            <a:pPr algn="l"/>
            <a:r>
              <a:rPr sz="1100" b="0">
                <a:solidFill>
                  <a:srgbClr val="6B7B8A"/>
                </a:solidFill>
                <a:latin typeface="Noto Sans SC" panose="020B0200000000000000" charset="-122"/>
                <a:ea typeface="Noto Sans SC" panose="020B0200000000000000" charset="-122"/>
                <a:cs typeface="Noto Sans SC" panose="020B0200000000000000" charset="-122"/>
              </a:rPr>
              <a:t>可迁移：任何「装进去 / 转起来 / 压得住」的配合都先查表；表内数值为起手值，以本机实测为准。</a:t>
            </a:r>
            <a:endParaRPr sz="1100" b="0">
              <a:solidFill>
                <a:srgbClr val="6B7B8A"/>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pic>
        <p:nvPicPr>
          <p:cNvPr id="2" name="Picture 1" descr="447916673a97bd1f0e53b186d485eed5.png"/>
          <p:cNvPicPr>
            <a:picLocks noChangeAspect="1"/>
          </p:cNvPicPr>
          <p:nvPr/>
        </p:nvPicPr>
        <p:blipFill>
          <a:blip r:embed="rId1"/>
          <a:stretch>
            <a:fillRect/>
          </a:stretch>
        </p:blipFill>
        <p:spPr>
          <a:xfrm>
            <a:off x="0" y="0"/>
            <a:ext cx="12191695" cy="6858000"/>
          </a:xfrm>
          <a:prstGeom prst="rect">
            <a:avLst/>
          </a:prstGeom>
        </p:spPr>
      </p:pic>
      <p:sp>
        <p:nvSpPr>
          <p:cNvPr id="3" name="Rectangle 2"/>
          <p:cNvSpPr/>
          <p:nvPr/>
        </p:nvSpPr>
        <p:spPr>
          <a:xfrm>
            <a:off x="0" y="0"/>
            <a:ext cx="12191695" cy="68580"/>
          </a:xfrm>
          <a:prstGeom prst="rect">
            <a:avLst/>
          </a:prstGeom>
          <a:solidFill>
            <a:srgbClr val="12304F"/>
          </a:solidFill>
          <a:ln>
            <a:noFill/>
          </a:ln>
        </p:spPr>
        <p:txBody>
          <a:bodyPr rtlCol="0" anchor="ctr"/>
          <a:lstStyle/>
          <a:p>
            <a:pPr algn="ctr"/>
          </a:p>
        </p:txBody>
      </p:sp>
      <p:sp>
        <p:nvSpPr>
          <p:cNvPr id="4" name="Rounded Rectangle 3"/>
          <p:cNvSpPr/>
          <p:nvPr/>
        </p:nvSpPr>
        <p:spPr>
          <a:xfrm>
            <a:off x="594360" y="310896"/>
            <a:ext cx="1517904" cy="329184"/>
          </a:xfrm>
          <a:prstGeom prst="roundRect">
            <a:avLst/>
          </a:prstGeom>
          <a:solidFill>
            <a:srgbClr val="12304F"/>
          </a:solidFill>
          <a:ln>
            <a:noFill/>
          </a:ln>
        </p:spPr>
        <p:txBody>
          <a:bodyPr rtlCol="0" anchor="ctr"/>
          <a:lstStyle/>
          <a:p>
            <a:pPr algn="ctr"/>
          </a:p>
        </p:txBody>
      </p:sp>
      <p:sp>
        <p:nvSpPr>
          <p:cNvPr id="5" name="TextBox 4"/>
          <p:cNvSpPr txBox="1"/>
          <p:nvPr/>
        </p:nvSpPr>
        <p:spPr>
          <a:xfrm>
            <a:off x="649224" y="310896"/>
            <a:ext cx="1408176" cy="329184"/>
          </a:xfrm>
          <a:prstGeom prst="rect">
            <a:avLst/>
          </a:prstGeom>
          <a:noFill/>
        </p:spPr>
        <p:txBody>
          <a:bodyPr wrap="square" anchor="ctr">
            <a:spAutoFit/>
          </a:bodyPr>
          <a:lstStyle/>
          <a:p>
            <a:pPr algn="ctr"/>
            <a:r>
              <a:rPr sz="1300" b="1">
                <a:solidFill>
                  <a:srgbClr val="FFFFFF"/>
                </a:solidFill>
                <a:latin typeface="Noto Sans SC" panose="020B0200000000000000" charset="-122"/>
                <a:ea typeface="Noto Sans SC" panose="020B0200000000000000" charset="-122"/>
                <a:cs typeface="Noto Sans SC" panose="020B0200000000000000" charset="-122"/>
              </a:rPr>
              <a:t>05  收尾</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6" name="TextBox 5"/>
          <p:cNvSpPr txBox="1"/>
          <p:nvPr/>
        </p:nvSpPr>
        <p:spPr>
          <a:xfrm>
            <a:off x="2295144" y="338328"/>
            <a:ext cx="3840480" cy="274320"/>
          </a:xfrm>
          <a:prstGeom prst="rect">
            <a:avLst/>
          </a:prstGeom>
          <a:noFill/>
        </p:spPr>
        <p:txBody>
          <a:bodyPr wrap="square">
            <a:spAutoFit/>
          </a:bodyPr>
          <a:lstStyle/>
          <a:p>
            <a:pPr algn="l"/>
            <a:r>
              <a:rPr sz="1150" b="0">
                <a:solidFill>
                  <a:srgbClr val="6B7B8A"/>
                </a:solidFill>
                <a:latin typeface="Consolas" panose="020B0609020204030204"/>
                <a:ea typeface="Noto Sans SC" panose="020B0200000000000000" charset="-122"/>
                <a:cs typeface="Noto Sans SC" panose="020B0200000000000000" charset="-122"/>
              </a:rPr>
              <a:t>附录 · 速查卡</a:t>
            </a:r>
            <a:endParaRPr sz="1150" b="0">
              <a:solidFill>
                <a:srgbClr val="6B7B8A"/>
              </a:solidFill>
              <a:latin typeface="Consolas" panose="020B0609020204030204"/>
              <a:ea typeface="Noto Sans SC" panose="020B0200000000000000" charset="-122"/>
              <a:cs typeface="Noto Sans SC" panose="020B0200000000000000" charset="-122"/>
            </a:endParaRPr>
          </a:p>
        </p:txBody>
      </p:sp>
      <p:sp>
        <p:nvSpPr>
          <p:cNvPr id="7" name="Rounded Rectangle 6"/>
          <p:cNvSpPr/>
          <p:nvPr/>
        </p:nvSpPr>
        <p:spPr>
          <a:xfrm>
            <a:off x="10070287" y="329184"/>
            <a:ext cx="1527048" cy="292608"/>
          </a:xfrm>
          <a:prstGeom prst="roundRect">
            <a:avLst/>
          </a:prstGeom>
          <a:solidFill>
            <a:srgbClr val="FFFFFF"/>
          </a:solidFill>
          <a:ln w="12700">
            <a:solidFill>
              <a:srgbClr val="C9D3DC"/>
            </a:solidFill>
          </a:ln>
        </p:spPr>
        <p:txBody>
          <a:bodyPr rtlCol="0" anchor="ctr"/>
          <a:lstStyle/>
          <a:p>
            <a:pPr algn="ctr"/>
          </a:p>
        </p:txBody>
      </p:sp>
      <p:sp>
        <p:nvSpPr>
          <p:cNvPr id="8" name="Rectangle 7"/>
          <p:cNvSpPr/>
          <p:nvPr/>
        </p:nvSpPr>
        <p:spPr>
          <a:xfrm>
            <a:off x="10189159" y="443484"/>
            <a:ext cx="68580" cy="68580"/>
          </a:xfrm>
          <a:prstGeom prst="rect">
            <a:avLst/>
          </a:prstGeom>
          <a:solidFill>
            <a:srgbClr val="2F7D53"/>
          </a:solidFill>
          <a:ln>
            <a:noFill/>
          </a:ln>
        </p:spPr>
        <p:txBody>
          <a:bodyPr rtlCol="0" anchor="ctr"/>
          <a:lstStyle/>
          <a:p>
            <a:pPr algn="ctr"/>
          </a:p>
        </p:txBody>
      </p:sp>
      <p:sp>
        <p:nvSpPr>
          <p:cNvPr id="9" name="TextBox 8"/>
          <p:cNvSpPr txBox="1"/>
          <p:nvPr/>
        </p:nvSpPr>
        <p:spPr>
          <a:xfrm>
            <a:off x="10317175" y="329184"/>
            <a:ext cx="1234439" cy="292608"/>
          </a:xfrm>
          <a:prstGeom prst="rect">
            <a:avLst/>
          </a:prstGeom>
          <a:noFill/>
        </p:spPr>
        <p:txBody>
          <a:bodyPr wrap="square" anchor="ctr">
            <a:spAutoFit/>
          </a:bodyPr>
          <a:lstStyle/>
          <a:p>
            <a:pPr algn="l"/>
            <a:r>
              <a:rPr sz="1150" b="0">
                <a:solidFill>
                  <a:srgbClr val="23384C"/>
                </a:solidFill>
                <a:latin typeface="Consolas" panose="020B0609020204030204"/>
                <a:ea typeface="Noto Sans SC" panose="020B0200000000000000" charset="-122"/>
                <a:cs typeface="Noto Sans SC" panose="020B0200000000000000" charset="-122"/>
              </a:rPr>
              <a:t>Bambu Studio</a:t>
            </a:r>
            <a:endParaRPr sz="1150" b="0">
              <a:solidFill>
                <a:srgbClr val="23384C"/>
              </a:solidFill>
              <a:latin typeface="Consolas" panose="020B0609020204030204"/>
              <a:ea typeface="Noto Sans SC" panose="020B0200000000000000" charset="-122"/>
              <a:cs typeface="Noto Sans SC" panose="020B0200000000000000" charset="-122"/>
            </a:endParaRPr>
          </a:p>
        </p:txBody>
      </p:sp>
      <p:sp>
        <p:nvSpPr>
          <p:cNvPr id="10" name="Rounded Rectangle 9"/>
          <p:cNvSpPr/>
          <p:nvPr/>
        </p:nvSpPr>
        <p:spPr>
          <a:xfrm>
            <a:off x="8607247" y="329184"/>
            <a:ext cx="1335024" cy="292608"/>
          </a:xfrm>
          <a:prstGeom prst="roundRect">
            <a:avLst/>
          </a:prstGeom>
          <a:solidFill>
            <a:srgbClr val="FFFFFF"/>
          </a:solidFill>
          <a:ln w="12700">
            <a:solidFill>
              <a:srgbClr val="C9D3DC"/>
            </a:solidFill>
          </a:ln>
        </p:spPr>
        <p:txBody>
          <a:bodyPr rtlCol="0" anchor="ctr"/>
          <a:lstStyle/>
          <a:p>
            <a:pPr algn="ctr"/>
          </a:p>
        </p:txBody>
      </p:sp>
      <p:sp>
        <p:nvSpPr>
          <p:cNvPr id="11" name="Rectangle 10"/>
          <p:cNvSpPr/>
          <p:nvPr/>
        </p:nvSpPr>
        <p:spPr>
          <a:xfrm>
            <a:off x="8726119" y="443484"/>
            <a:ext cx="68580" cy="68580"/>
          </a:xfrm>
          <a:prstGeom prst="rect">
            <a:avLst/>
          </a:prstGeom>
          <a:solidFill>
            <a:srgbClr val="C2571A"/>
          </a:solidFill>
          <a:ln>
            <a:noFill/>
          </a:ln>
        </p:spPr>
        <p:txBody>
          <a:bodyPr rtlCol="0" anchor="ctr"/>
          <a:lstStyle/>
          <a:p>
            <a:pPr algn="ctr"/>
          </a:p>
        </p:txBody>
      </p:sp>
      <p:sp>
        <p:nvSpPr>
          <p:cNvPr id="12" name="TextBox 11"/>
          <p:cNvSpPr txBox="1"/>
          <p:nvPr/>
        </p:nvSpPr>
        <p:spPr>
          <a:xfrm>
            <a:off x="8854135" y="329184"/>
            <a:ext cx="1042415" cy="292608"/>
          </a:xfrm>
          <a:prstGeom prst="rect">
            <a:avLst/>
          </a:prstGeom>
          <a:noFill/>
        </p:spPr>
        <p:txBody>
          <a:bodyPr wrap="square" anchor="ctr">
            <a:spAutoFit/>
          </a:bodyPr>
          <a:lstStyle/>
          <a:p>
            <a:pPr algn="l"/>
            <a:r>
              <a:rPr sz="1150" b="0">
                <a:solidFill>
                  <a:srgbClr val="23384C"/>
                </a:solidFill>
                <a:latin typeface="Consolas" panose="020B0609020204030204"/>
                <a:ea typeface="Noto Sans SC" panose="020B0200000000000000" charset="-122"/>
                <a:cs typeface="Noto Sans SC" panose="020B0200000000000000" charset="-122"/>
              </a:rPr>
              <a:t>Fusion 360</a:t>
            </a:r>
            <a:endParaRPr sz="1150" b="0">
              <a:solidFill>
                <a:srgbClr val="23384C"/>
              </a:solidFill>
              <a:latin typeface="Consolas" panose="020B0609020204030204"/>
              <a:ea typeface="Noto Sans SC" panose="020B0200000000000000" charset="-122"/>
              <a:cs typeface="Noto Sans SC" panose="020B0200000000000000" charset="-122"/>
            </a:endParaRPr>
          </a:p>
        </p:txBody>
      </p:sp>
      <p:sp>
        <p:nvSpPr>
          <p:cNvPr id="13" name="TextBox 12"/>
          <p:cNvSpPr txBox="1"/>
          <p:nvPr/>
        </p:nvSpPr>
        <p:spPr>
          <a:xfrm>
            <a:off x="594360" y="841248"/>
            <a:ext cx="10058400" cy="502920"/>
          </a:xfrm>
          <a:prstGeom prst="rect">
            <a:avLst/>
          </a:prstGeom>
          <a:noFill/>
        </p:spPr>
        <p:txBody>
          <a:bodyPr wrap="square">
            <a:spAutoFit/>
          </a:bodyPr>
          <a:lstStyle/>
          <a:p>
            <a:pPr algn="l"/>
            <a:r>
              <a:rPr sz="2700" b="1">
                <a:solidFill>
                  <a:srgbClr val="12304F"/>
                </a:solidFill>
                <a:latin typeface="Noto Sans SC" panose="020B0200000000000000" charset="-122"/>
                <a:ea typeface="Noto Sans SC" panose="020B0200000000000000" charset="-122"/>
                <a:cs typeface="Noto Sans SC" panose="020B0200000000000000" charset="-122"/>
              </a:rPr>
              <a:t>速查卡：一页带走</a:t>
            </a:r>
            <a:endParaRPr sz="270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14" name="TextBox 13"/>
          <p:cNvSpPr txBox="1"/>
          <p:nvPr/>
        </p:nvSpPr>
        <p:spPr>
          <a:xfrm>
            <a:off x="594360" y="1344168"/>
            <a:ext cx="10607040" cy="274320"/>
          </a:xfrm>
          <a:prstGeom prst="rect">
            <a:avLst/>
          </a:prstGeom>
          <a:noFill/>
        </p:spPr>
        <p:txBody>
          <a:bodyPr wrap="square">
            <a:spAutoFit/>
          </a:bodyPr>
          <a:lstStyle/>
          <a:p>
            <a:pPr algn="l"/>
            <a:r>
              <a:rPr sz="1350" b="0">
                <a:solidFill>
                  <a:srgbClr val="6B7B8A"/>
                </a:solidFill>
                <a:latin typeface="Noto Sans SC" panose="020B0200000000000000" charset="-122"/>
                <a:ea typeface="Noto Sans SC" panose="020B0200000000000000" charset="-122"/>
                <a:cs typeface="Noto Sans SC" panose="020B0200000000000000" charset="-122"/>
              </a:rPr>
              <a:t>方法要落地全靠这些数字；可单独导出 A4</a:t>
            </a:r>
            <a:endParaRPr sz="135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15" name="Rectangle 14"/>
          <p:cNvSpPr/>
          <p:nvPr/>
        </p:nvSpPr>
        <p:spPr>
          <a:xfrm>
            <a:off x="594360" y="1700784"/>
            <a:ext cx="11002975" cy="12801"/>
          </a:xfrm>
          <a:prstGeom prst="rect">
            <a:avLst/>
          </a:prstGeom>
          <a:solidFill>
            <a:srgbClr val="C9D3DC"/>
          </a:solidFill>
          <a:ln>
            <a:noFill/>
          </a:ln>
        </p:spPr>
        <p:txBody>
          <a:bodyPr rtlCol="0" anchor="ctr"/>
          <a:lstStyle/>
          <a:p>
            <a:pPr algn="ctr"/>
          </a:p>
        </p:txBody>
      </p:sp>
      <p:sp>
        <p:nvSpPr>
          <p:cNvPr id="16" name="TextBox 15"/>
          <p:cNvSpPr txBox="1"/>
          <p:nvPr/>
        </p:nvSpPr>
        <p:spPr>
          <a:xfrm>
            <a:off x="10515600" y="6400800"/>
            <a:ext cx="1371600" cy="274320"/>
          </a:xfrm>
          <a:prstGeom prst="rect">
            <a:avLst/>
          </a:prstGeom>
          <a:noFill/>
        </p:spPr>
        <p:txBody>
          <a:bodyPr wrap="square">
            <a:spAutoFit/>
          </a:bodyPr>
          <a:lstStyle/>
          <a:p>
            <a:pPr algn="r"/>
            <a:r>
              <a:rPr sz="1000" b="0">
                <a:solidFill>
                  <a:srgbClr val="6B7B8A"/>
                </a:solidFill>
                <a:latin typeface="Noto Sans SC" panose="020B0200000000000000" charset="-122"/>
                <a:ea typeface="Noto Sans SC" panose="020B0200000000000000" charset="-122"/>
                <a:cs typeface="Noto Sans SC" panose="020B0200000000000000" charset="-122"/>
              </a:rPr>
              <a:t>32 / 34</a:t>
            </a:r>
            <a:endParaRPr sz="1000" b="0">
              <a:solidFill>
                <a:srgbClr val="6B7B8A"/>
              </a:solidFill>
              <a:latin typeface="Noto Sans SC" panose="020B0200000000000000" charset="-122"/>
              <a:ea typeface="Noto Sans SC" panose="020B0200000000000000" charset="-122"/>
              <a:cs typeface="Noto Sans SC" panose="020B0200000000000000" charset="-122"/>
            </a:endParaRPr>
          </a:p>
        </p:txBody>
      </p:sp>
      <p:graphicFrame>
        <p:nvGraphicFramePr>
          <p:cNvPr id="17" name="Table 16"/>
          <p:cNvGraphicFramePr>
            <a:graphicFrameLocks noGrp="1"/>
          </p:cNvGraphicFramePr>
          <p:nvPr/>
        </p:nvGraphicFramePr>
        <p:xfrm>
          <a:off x="594360" y="1965960"/>
          <a:ext cx="3547872" cy="1975104"/>
        </p:xfrm>
        <a:graphic>
          <a:graphicData uri="http://schemas.openxmlformats.org/drawingml/2006/table">
            <a:tbl>
              <a:tblPr firstRow="1" bandRow="1"/>
              <a:tblGrid>
                <a:gridCol w="1737360"/>
                <a:gridCol w="1810512"/>
              </a:tblGrid>
              <a:tr h="365760">
                <a:tc>
                  <a:txBody>
                    <a:bodyPr/>
                    <a:lstStyle/>
                    <a:p>
                      <a:pPr algn="l"/>
                      <a:r>
                        <a:rPr sz="1200" b="1">
                          <a:solidFill>
                            <a:srgbClr val="FFFFFF"/>
                          </a:solidFill>
                          <a:latin typeface="Noto Sans SC" panose="020B0200000000000000" charset="-122"/>
                          <a:ea typeface="Noto Sans SC" panose="020B0200000000000000" charset="-122"/>
                          <a:cs typeface="Noto Sans SC" panose="020B0200000000000000" charset="-122"/>
                        </a:rPr>
                        <a:t>公差起手值</a:t>
                      </a:r>
                      <a:endParaRPr sz="1200" b="1">
                        <a:solidFill>
                          <a:srgbClr val="FFFFF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C2571A"/>
                    </a:solidFill>
                  </a:tcPr>
                </a:tc>
                <a:tc>
                  <a:txBody>
                    <a:bodyPr/>
                    <a:lstStyle/>
                    <a:p>
                      <a:pPr algn="ctr"/>
                      <a:r>
                        <a:rPr sz="1200" b="1">
                          <a:solidFill>
                            <a:srgbClr val="FFFFFF"/>
                          </a:solidFill>
                          <a:latin typeface="Noto Sans SC" panose="020B0200000000000000" charset="-122"/>
                          <a:ea typeface="Noto Sans SC" panose="020B0200000000000000" charset="-122"/>
                          <a:cs typeface="Noto Sans SC" panose="020B0200000000000000" charset="-122"/>
                        </a:rPr>
                        <a:t>尺寸</a:t>
                      </a:r>
                      <a:endParaRPr sz="1200" b="1">
                        <a:solidFill>
                          <a:srgbClr val="FFFFF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C2571A"/>
                    </a:solidFill>
                  </a:tcPr>
                </a:tc>
              </a:tr>
              <a:tr h="402336">
                <a:tc>
                  <a:txBody>
                    <a:bodyPr/>
                    <a:lstStyle/>
                    <a:p>
                      <a:pPr algn="l"/>
                      <a:r>
                        <a:rPr sz="1200" b="0">
                          <a:solidFill>
                            <a:srgbClr val="12304F"/>
                          </a:solidFill>
                          <a:latin typeface="Noto Sans SC" panose="020B0200000000000000" charset="-122"/>
                          <a:ea typeface="Noto Sans SC" panose="020B0200000000000000" charset="-122"/>
                          <a:cs typeface="Noto Sans SC" panose="020B0200000000000000" charset="-122"/>
                        </a:rPr>
                        <a:t>M3 通孔</a:t>
                      </a:r>
                      <a:endParaRPr sz="1200" b="0">
                        <a:solidFill>
                          <a:srgbClr val="12304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c>
                  <a:txBody>
                    <a:bodyPr/>
                    <a:lstStyle/>
                    <a:p>
                      <a:pPr algn="ctr"/>
                      <a:r>
                        <a:rPr sz="1200" b="0">
                          <a:solidFill>
                            <a:srgbClr val="23384C"/>
                          </a:solidFill>
                          <a:latin typeface="Consolas" panose="020B0609020204030204"/>
                          <a:ea typeface="Consolas" panose="020B0609020204030204"/>
                          <a:cs typeface="Consolas" panose="020B0609020204030204"/>
                        </a:rPr>
                        <a:t>Ø3.2–3.4</a:t>
                      </a:r>
                      <a:endParaRPr sz="1200" b="0">
                        <a:solidFill>
                          <a:srgbClr val="23384C"/>
                        </a:solidFill>
                        <a:latin typeface="Consolas" panose="020B0609020204030204"/>
                        <a:ea typeface="Consolas" panose="020B0609020204030204"/>
                        <a:cs typeface="Consolas" panose="020B0609020204030204"/>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r>
              <a:tr h="402336">
                <a:tc>
                  <a:txBody>
                    <a:bodyPr/>
                    <a:lstStyle/>
                    <a:p>
                      <a:pPr algn="l"/>
                      <a:r>
                        <a:rPr sz="1200" b="0">
                          <a:solidFill>
                            <a:srgbClr val="12304F"/>
                          </a:solidFill>
                          <a:latin typeface="Noto Sans SC" panose="020B0200000000000000" charset="-122"/>
                          <a:ea typeface="Noto Sans SC" panose="020B0200000000000000" charset="-122"/>
                          <a:cs typeface="Noto Sans SC" panose="020B0200000000000000" charset="-122"/>
                        </a:rPr>
                        <a:t>M3 自攻底孔</a:t>
                      </a:r>
                      <a:endParaRPr sz="1200" b="0">
                        <a:solidFill>
                          <a:srgbClr val="12304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7F5EF"/>
                    </a:solidFill>
                  </a:tcPr>
                </a:tc>
                <a:tc>
                  <a:txBody>
                    <a:bodyPr/>
                    <a:lstStyle/>
                    <a:p>
                      <a:pPr algn="ctr"/>
                      <a:r>
                        <a:rPr sz="1200" b="0">
                          <a:solidFill>
                            <a:srgbClr val="23384C"/>
                          </a:solidFill>
                          <a:latin typeface="Consolas" panose="020B0609020204030204"/>
                          <a:ea typeface="Consolas" panose="020B0609020204030204"/>
                          <a:cs typeface="Consolas" panose="020B0609020204030204"/>
                        </a:rPr>
                        <a:t>Ø2.5–2.7</a:t>
                      </a:r>
                      <a:endParaRPr sz="1200" b="0">
                        <a:solidFill>
                          <a:srgbClr val="23384C"/>
                        </a:solidFill>
                        <a:latin typeface="Consolas" panose="020B0609020204030204"/>
                        <a:ea typeface="Consolas" panose="020B0609020204030204"/>
                        <a:cs typeface="Consolas" panose="020B0609020204030204"/>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7F5EF"/>
                    </a:solidFill>
                  </a:tcPr>
                </a:tc>
              </a:tr>
              <a:tr h="402336">
                <a:tc>
                  <a:txBody>
                    <a:bodyPr/>
                    <a:lstStyle/>
                    <a:p>
                      <a:pPr algn="l"/>
                      <a:r>
                        <a:rPr sz="1200" b="0">
                          <a:solidFill>
                            <a:srgbClr val="12304F"/>
                          </a:solidFill>
                          <a:latin typeface="Noto Sans SC" panose="020B0200000000000000" charset="-122"/>
                          <a:ea typeface="Noto Sans SC" panose="020B0200000000000000" charset="-122"/>
                          <a:cs typeface="Noto Sans SC" panose="020B0200000000000000" charset="-122"/>
                        </a:rPr>
                        <a:t>M3 铜螺母孔</a:t>
                      </a:r>
                      <a:endParaRPr sz="1200" b="0">
                        <a:solidFill>
                          <a:srgbClr val="12304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c>
                  <a:txBody>
                    <a:bodyPr/>
                    <a:lstStyle/>
                    <a:p>
                      <a:pPr algn="ctr"/>
                      <a:r>
                        <a:rPr sz="1200" b="0">
                          <a:solidFill>
                            <a:srgbClr val="23384C"/>
                          </a:solidFill>
                          <a:latin typeface="Consolas" panose="020B0609020204030204"/>
                          <a:ea typeface="Consolas" panose="020B0609020204030204"/>
                          <a:cs typeface="Consolas" panose="020B0609020204030204"/>
                        </a:rPr>
                        <a:t>Ø4.0–4.2</a:t>
                      </a:r>
                      <a:endParaRPr sz="1200" b="0">
                        <a:solidFill>
                          <a:srgbClr val="23384C"/>
                        </a:solidFill>
                        <a:latin typeface="Consolas" panose="020B0609020204030204"/>
                        <a:ea typeface="Consolas" panose="020B0609020204030204"/>
                        <a:cs typeface="Consolas" panose="020B0609020204030204"/>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r>
              <a:tr h="402336">
                <a:tc>
                  <a:txBody>
                    <a:bodyPr/>
                    <a:lstStyle/>
                    <a:p>
                      <a:pPr algn="l"/>
                      <a:r>
                        <a:rPr sz="1200" b="0">
                          <a:solidFill>
                            <a:srgbClr val="12304F"/>
                          </a:solidFill>
                          <a:latin typeface="Noto Sans SC" panose="020B0200000000000000" charset="-122"/>
                          <a:ea typeface="Noto Sans SC" panose="020B0200000000000000" charset="-122"/>
                          <a:cs typeface="Noto Sans SC" panose="020B0200000000000000" charset="-122"/>
                        </a:rPr>
                        <a:t>Ø5 活动轴孔</a:t>
                      </a:r>
                      <a:endParaRPr sz="1200" b="0">
                        <a:solidFill>
                          <a:srgbClr val="12304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7F5EF"/>
                    </a:solidFill>
                  </a:tcPr>
                </a:tc>
                <a:tc>
                  <a:txBody>
                    <a:bodyPr/>
                    <a:lstStyle/>
                    <a:p>
                      <a:pPr algn="ctr"/>
                      <a:r>
                        <a:rPr sz="1200" b="0">
                          <a:solidFill>
                            <a:srgbClr val="23384C"/>
                          </a:solidFill>
                          <a:latin typeface="Consolas" panose="020B0609020204030204"/>
                          <a:ea typeface="Consolas" panose="020B0609020204030204"/>
                          <a:cs typeface="Consolas" panose="020B0609020204030204"/>
                        </a:rPr>
                        <a:t>Ø5.10–5.20</a:t>
                      </a:r>
                      <a:endParaRPr sz="1200" b="0">
                        <a:solidFill>
                          <a:srgbClr val="23384C"/>
                        </a:solidFill>
                        <a:latin typeface="Consolas" panose="020B0609020204030204"/>
                        <a:ea typeface="Consolas" panose="020B0609020204030204"/>
                        <a:cs typeface="Consolas" panose="020B0609020204030204"/>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7F5EF"/>
                    </a:solidFill>
                  </a:tcPr>
                </a:tc>
              </a:tr>
            </a:tbl>
          </a:graphicData>
        </a:graphic>
      </p:graphicFrame>
      <p:graphicFrame>
        <p:nvGraphicFramePr>
          <p:cNvPr id="18" name="Table 17"/>
          <p:cNvGraphicFramePr>
            <a:graphicFrameLocks noGrp="1"/>
          </p:cNvGraphicFramePr>
          <p:nvPr/>
        </p:nvGraphicFramePr>
        <p:xfrm>
          <a:off x="4315968" y="1965960"/>
          <a:ext cx="3547872" cy="1975104"/>
        </p:xfrm>
        <a:graphic>
          <a:graphicData uri="http://schemas.openxmlformats.org/drawingml/2006/table">
            <a:tbl>
              <a:tblPr firstRow="1" bandRow="1"/>
              <a:tblGrid>
                <a:gridCol w="1737360"/>
                <a:gridCol w="1810512"/>
              </a:tblGrid>
              <a:tr h="365760">
                <a:tc>
                  <a:txBody>
                    <a:bodyPr/>
                    <a:lstStyle/>
                    <a:p>
                      <a:pPr algn="l"/>
                      <a:r>
                        <a:rPr sz="1200" b="1">
                          <a:solidFill>
                            <a:srgbClr val="FFFFFF"/>
                          </a:solidFill>
                          <a:latin typeface="Noto Sans SC" panose="020B0200000000000000" charset="-122"/>
                          <a:ea typeface="Noto Sans SC" panose="020B0200000000000000" charset="-122"/>
                          <a:cs typeface="Noto Sans SC" panose="020B0200000000000000" charset="-122"/>
                        </a:rPr>
                        <a:t>切片参数</a:t>
                      </a:r>
                      <a:endParaRPr sz="1200" b="1">
                        <a:solidFill>
                          <a:srgbClr val="FFFFF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6A4C93"/>
                    </a:solidFill>
                  </a:tcPr>
                </a:tc>
                <a:tc>
                  <a:txBody>
                    <a:bodyPr/>
                    <a:lstStyle/>
                    <a:p>
                      <a:pPr algn="ctr"/>
                      <a:r>
                        <a:rPr sz="1200" b="1">
                          <a:solidFill>
                            <a:srgbClr val="FFFFFF"/>
                          </a:solidFill>
                          <a:latin typeface="Noto Sans SC" panose="020B0200000000000000" charset="-122"/>
                          <a:ea typeface="Noto Sans SC" panose="020B0200000000000000" charset="-122"/>
                          <a:cs typeface="Noto Sans SC" panose="020B0200000000000000" charset="-122"/>
                        </a:rPr>
                        <a:t>常用值</a:t>
                      </a:r>
                      <a:endParaRPr sz="1200" b="1">
                        <a:solidFill>
                          <a:srgbClr val="FFFFF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6A4C93"/>
                    </a:solidFill>
                  </a:tcPr>
                </a:tc>
              </a:tr>
              <a:tr h="402336">
                <a:tc>
                  <a:txBody>
                    <a:bodyPr/>
                    <a:lstStyle/>
                    <a:p>
                      <a:pPr algn="l"/>
                      <a:r>
                        <a:rPr sz="1200" b="0">
                          <a:solidFill>
                            <a:srgbClr val="12304F"/>
                          </a:solidFill>
                          <a:latin typeface="Noto Sans SC" panose="020B0200000000000000" charset="-122"/>
                          <a:ea typeface="Noto Sans SC" panose="020B0200000000000000" charset="-122"/>
                          <a:cs typeface="Noto Sans SC" panose="020B0200000000000000" charset="-122"/>
                        </a:rPr>
                        <a:t>层高</a:t>
                      </a:r>
                      <a:endParaRPr sz="1200" b="0">
                        <a:solidFill>
                          <a:srgbClr val="12304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c>
                  <a:txBody>
                    <a:bodyPr/>
                    <a:lstStyle/>
                    <a:p>
                      <a:pPr algn="ctr"/>
                      <a:r>
                        <a:rPr sz="1200" b="0">
                          <a:solidFill>
                            <a:srgbClr val="23384C"/>
                          </a:solidFill>
                          <a:latin typeface="Consolas" panose="020B0609020204030204"/>
                          <a:ea typeface="Consolas" panose="020B0609020204030204"/>
                          <a:cs typeface="Consolas" panose="020B0609020204030204"/>
                        </a:rPr>
                        <a:t>0.12–0.28 mm</a:t>
                      </a:r>
                      <a:endParaRPr sz="1200" b="0">
                        <a:solidFill>
                          <a:srgbClr val="23384C"/>
                        </a:solidFill>
                        <a:latin typeface="Consolas" panose="020B0609020204030204"/>
                        <a:ea typeface="Consolas" panose="020B0609020204030204"/>
                        <a:cs typeface="Consolas" panose="020B0609020204030204"/>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r>
              <a:tr h="402336">
                <a:tc>
                  <a:txBody>
                    <a:bodyPr/>
                    <a:lstStyle/>
                    <a:p>
                      <a:pPr algn="l"/>
                      <a:r>
                        <a:rPr sz="1200" b="0">
                          <a:solidFill>
                            <a:srgbClr val="12304F"/>
                          </a:solidFill>
                          <a:latin typeface="Noto Sans SC" panose="020B0200000000000000" charset="-122"/>
                          <a:ea typeface="Noto Sans SC" panose="020B0200000000000000" charset="-122"/>
                          <a:cs typeface="Noto Sans SC" panose="020B0200000000000000" charset="-122"/>
                        </a:rPr>
                        <a:t>墙层数</a:t>
                      </a:r>
                      <a:endParaRPr sz="1200" b="0">
                        <a:solidFill>
                          <a:srgbClr val="12304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7F5EF"/>
                    </a:solidFill>
                  </a:tcPr>
                </a:tc>
                <a:tc>
                  <a:txBody>
                    <a:bodyPr/>
                    <a:lstStyle/>
                    <a:p>
                      <a:pPr algn="ctr"/>
                      <a:r>
                        <a:rPr sz="1200" b="0">
                          <a:solidFill>
                            <a:srgbClr val="23384C"/>
                          </a:solidFill>
                          <a:latin typeface="Consolas" panose="020B0609020204030204"/>
                          <a:ea typeface="Consolas" panose="020B0609020204030204"/>
                          <a:cs typeface="Consolas" panose="020B0609020204030204"/>
                        </a:rPr>
                        <a:t>2–</a:t>
                      </a:r>
                      <a:r>
                        <a:rPr lang="en-US" sz="1200" b="0">
                          <a:solidFill>
                            <a:srgbClr val="23384C"/>
                          </a:solidFill>
                          <a:latin typeface="Consolas" panose="020B0609020204030204"/>
                          <a:ea typeface="Consolas" panose="020B0609020204030204"/>
                          <a:cs typeface="Consolas" panose="020B0609020204030204"/>
                        </a:rPr>
                        <a:t>8</a:t>
                      </a:r>
                      <a:r>
                        <a:rPr sz="1200" b="0">
                          <a:solidFill>
                            <a:srgbClr val="23384C"/>
                          </a:solidFill>
                          <a:latin typeface="Consolas" panose="020B0609020204030204"/>
                          <a:ea typeface="Consolas" panose="020B0609020204030204"/>
                          <a:cs typeface="Consolas" panose="020B0609020204030204"/>
                        </a:rPr>
                        <a:t> 层</a:t>
                      </a:r>
                      <a:endParaRPr sz="1200" b="0">
                        <a:solidFill>
                          <a:srgbClr val="23384C"/>
                        </a:solidFill>
                        <a:latin typeface="Consolas" panose="020B0609020204030204"/>
                        <a:ea typeface="Consolas" panose="020B0609020204030204"/>
                        <a:cs typeface="Consolas" panose="020B0609020204030204"/>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7F5EF"/>
                    </a:solidFill>
                  </a:tcPr>
                </a:tc>
              </a:tr>
              <a:tr h="402336">
                <a:tc>
                  <a:txBody>
                    <a:bodyPr/>
                    <a:lstStyle/>
                    <a:p>
                      <a:pPr algn="l"/>
                      <a:r>
                        <a:rPr sz="1200" b="0">
                          <a:solidFill>
                            <a:srgbClr val="12304F"/>
                          </a:solidFill>
                          <a:latin typeface="Noto Sans SC" panose="020B0200000000000000" charset="-122"/>
                          <a:ea typeface="Noto Sans SC" panose="020B0200000000000000" charset="-122"/>
                          <a:cs typeface="Noto Sans SC" panose="020B0200000000000000" charset="-122"/>
                        </a:rPr>
                        <a:t>稀疏填充</a:t>
                      </a:r>
                      <a:endParaRPr sz="1200" b="0">
                        <a:solidFill>
                          <a:srgbClr val="12304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c>
                  <a:txBody>
                    <a:bodyPr/>
                    <a:lstStyle/>
                    <a:p>
                      <a:pPr algn="ctr"/>
                      <a:r>
                        <a:rPr sz="1200" b="0">
                          <a:solidFill>
                            <a:srgbClr val="23384C"/>
                          </a:solidFill>
                          <a:latin typeface="Consolas" panose="020B0609020204030204"/>
                          <a:ea typeface="Consolas" panose="020B0609020204030204"/>
                          <a:cs typeface="Consolas" panose="020B0609020204030204"/>
                        </a:rPr>
                        <a:t>10–25% Gyroid</a:t>
                      </a:r>
                      <a:endParaRPr sz="1200" b="0">
                        <a:solidFill>
                          <a:srgbClr val="23384C"/>
                        </a:solidFill>
                        <a:latin typeface="Consolas" panose="020B0609020204030204"/>
                        <a:ea typeface="Consolas" panose="020B0609020204030204"/>
                        <a:cs typeface="Consolas" panose="020B0609020204030204"/>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r>
              <a:tr h="402336">
                <a:tc>
                  <a:txBody>
                    <a:bodyPr/>
                    <a:lstStyle/>
                    <a:p>
                      <a:pPr algn="l"/>
                      <a:r>
                        <a:rPr sz="1200" b="0">
                          <a:solidFill>
                            <a:srgbClr val="12304F"/>
                          </a:solidFill>
                          <a:latin typeface="Noto Sans SC" panose="020B0200000000000000" charset="-122"/>
                          <a:ea typeface="Noto Sans SC" panose="020B0200000000000000" charset="-122"/>
                          <a:cs typeface="Noto Sans SC" panose="020B0200000000000000" charset="-122"/>
                        </a:rPr>
                        <a:t>支撑阈值角</a:t>
                      </a:r>
                      <a:endParaRPr sz="1200" b="0">
                        <a:solidFill>
                          <a:srgbClr val="12304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7F5EF"/>
                    </a:solidFill>
                  </a:tcPr>
                </a:tc>
                <a:tc>
                  <a:txBody>
                    <a:bodyPr/>
                    <a:lstStyle/>
                    <a:p>
                      <a:pPr algn="ctr"/>
                      <a:r>
                        <a:rPr sz="1200" b="0">
                          <a:solidFill>
                            <a:srgbClr val="23384C"/>
                          </a:solidFill>
                          <a:latin typeface="Consolas" panose="020B0609020204030204"/>
                          <a:ea typeface="Consolas" panose="020B0609020204030204"/>
                          <a:cs typeface="Consolas" panose="020B0609020204030204"/>
                        </a:rPr>
                        <a:t>≈ 55°</a:t>
                      </a:r>
                      <a:endParaRPr sz="1200" b="0">
                        <a:solidFill>
                          <a:srgbClr val="23384C"/>
                        </a:solidFill>
                        <a:latin typeface="Consolas" panose="020B0609020204030204"/>
                        <a:ea typeface="Consolas" panose="020B0609020204030204"/>
                        <a:cs typeface="Consolas" panose="020B0609020204030204"/>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7F5EF"/>
                    </a:solidFill>
                  </a:tcPr>
                </a:tc>
              </a:tr>
            </a:tbl>
          </a:graphicData>
        </a:graphic>
      </p:graphicFrame>
      <p:graphicFrame>
        <p:nvGraphicFramePr>
          <p:cNvPr id="19" name="Table 18"/>
          <p:cNvGraphicFramePr>
            <a:graphicFrameLocks noGrp="1"/>
          </p:cNvGraphicFramePr>
          <p:nvPr/>
        </p:nvGraphicFramePr>
        <p:xfrm>
          <a:off x="8037576" y="1965960"/>
          <a:ext cx="3547872" cy="1975104"/>
        </p:xfrm>
        <a:graphic>
          <a:graphicData uri="http://schemas.openxmlformats.org/drawingml/2006/table">
            <a:tbl>
              <a:tblPr firstRow="1" bandRow="1"/>
              <a:tblGrid>
                <a:gridCol w="1737360"/>
                <a:gridCol w="1810512"/>
              </a:tblGrid>
              <a:tr h="365760">
                <a:tc>
                  <a:txBody>
                    <a:bodyPr/>
                    <a:lstStyle/>
                    <a:p>
                      <a:pPr algn="l"/>
                      <a:r>
                        <a:rPr sz="1200" b="1">
                          <a:solidFill>
                            <a:srgbClr val="FFFFFF"/>
                          </a:solidFill>
                          <a:latin typeface="Noto Sans SC" panose="020B0200000000000000" charset="-122"/>
                          <a:ea typeface="Noto Sans SC" panose="020B0200000000000000" charset="-122"/>
                          <a:cs typeface="Noto Sans SC" panose="020B0200000000000000" charset="-122"/>
                        </a:rPr>
                        <a:t>材料</a:t>
                      </a:r>
                      <a:endParaRPr sz="1200" b="1">
                        <a:solidFill>
                          <a:srgbClr val="FFFFF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0E7C74"/>
                    </a:solidFill>
                  </a:tcPr>
                </a:tc>
                <a:tc>
                  <a:txBody>
                    <a:bodyPr/>
                    <a:lstStyle/>
                    <a:p>
                      <a:pPr algn="ctr"/>
                      <a:r>
                        <a:rPr sz="1200" b="1">
                          <a:solidFill>
                            <a:srgbClr val="FFFFFF"/>
                          </a:solidFill>
                          <a:latin typeface="Noto Sans SC" panose="020B0200000000000000" charset="-122"/>
                          <a:ea typeface="Noto Sans SC" panose="020B0200000000000000" charset="-122"/>
                          <a:cs typeface="Noto Sans SC" panose="020B0200000000000000" charset="-122"/>
                        </a:rPr>
                        <a:t>一句话定位</a:t>
                      </a:r>
                      <a:endParaRPr sz="1200" b="1">
                        <a:solidFill>
                          <a:srgbClr val="FFFFF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0E7C74"/>
                    </a:solidFill>
                  </a:tcPr>
                </a:tc>
              </a:tr>
              <a:tr h="402336">
                <a:tc>
                  <a:txBody>
                    <a:bodyPr/>
                    <a:lstStyle/>
                    <a:p>
                      <a:pPr algn="l"/>
                      <a:r>
                        <a:rPr sz="1200" b="0">
                          <a:solidFill>
                            <a:srgbClr val="12304F"/>
                          </a:solidFill>
                          <a:latin typeface="Noto Sans SC" panose="020B0200000000000000" charset="-122"/>
                          <a:ea typeface="Noto Sans SC" panose="020B0200000000000000" charset="-122"/>
                          <a:cs typeface="Noto Sans SC" panose="020B0200000000000000" charset="-122"/>
                        </a:rPr>
                        <a:t>PLA</a:t>
                      </a:r>
                      <a:endParaRPr sz="1200" b="0">
                        <a:solidFill>
                          <a:srgbClr val="12304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c>
                  <a:txBody>
                    <a:bodyPr/>
                    <a:lstStyle/>
                    <a:p>
                      <a:pPr algn="ctr"/>
                      <a:r>
                        <a:rPr sz="1200" b="0">
                          <a:solidFill>
                            <a:srgbClr val="23384C"/>
                          </a:solidFill>
                          <a:latin typeface="Consolas" panose="020B0609020204030204"/>
                          <a:ea typeface="Consolas" panose="020B0609020204030204"/>
                          <a:cs typeface="Consolas" panose="020B0609020204030204"/>
                        </a:rPr>
                        <a:t>外观 / 轻载</a:t>
                      </a:r>
                      <a:endParaRPr sz="1200" b="0">
                        <a:solidFill>
                          <a:srgbClr val="23384C"/>
                        </a:solidFill>
                        <a:latin typeface="Consolas" panose="020B0609020204030204"/>
                        <a:ea typeface="Consolas" panose="020B0609020204030204"/>
                        <a:cs typeface="Consolas" panose="020B0609020204030204"/>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r>
              <a:tr h="402336">
                <a:tc>
                  <a:txBody>
                    <a:bodyPr/>
                    <a:lstStyle/>
                    <a:p>
                      <a:pPr algn="l"/>
                      <a:r>
                        <a:rPr sz="1200" b="0">
                          <a:solidFill>
                            <a:srgbClr val="12304F"/>
                          </a:solidFill>
                          <a:latin typeface="Noto Sans SC" panose="020B0200000000000000" charset="-122"/>
                          <a:ea typeface="Noto Sans SC" panose="020B0200000000000000" charset="-122"/>
                          <a:cs typeface="Noto Sans SC" panose="020B0200000000000000" charset="-122"/>
                        </a:rPr>
                        <a:t>PETG</a:t>
                      </a:r>
                      <a:endParaRPr sz="1200" b="0">
                        <a:solidFill>
                          <a:srgbClr val="12304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7F5EF"/>
                    </a:solidFill>
                  </a:tcPr>
                </a:tc>
                <a:tc>
                  <a:txBody>
                    <a:bodyPr/>
                    <a:lstStyle/>
                    <a:p>
                      <a:pPr algn="ctr"/>
                      <a:r>
                        <a:rPr sz="1200" b="0">
                          <a:solidFill>
                            <a:srgbClr val="23384C"/>
                          </a:solidFill>
                          <a:latin typeface="Consolas" panose="020B0609020204030204"/>
                          <a:ea typeface="Consolas" panose="020B0609020204030204"/>
                          <a:cs typeface="Consolas" panose="020B0609020204030204"/>
                        </a:rPr>
                        <a:t>承力件首选</a:t>
                      </a:r>
                      <a:endParaRPr sz="1200" b="0">
                        <a:solidFill>
                          <a:srgbClr val="23384C"/>
                        </a:solidFill>
                        <a:latin typeface="Consolas" panose="020B0609020204030204"/>
                        <a:ea typeface="Consolas" panose="020B0609020204030204"/>
                        <a:cs typeface="Consolas" panose="020B0609020204030204"/>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7F5EF"/>
                    </a:solidFill>
                  </a:tcPr>
                </a:tc>
              </a:tr>
              <a:tr h="402336">
                <a:tc>
                  <a:txBody>
                    <a:bodyPr/>
                    <a:lstStyle/>
                    <a:p>
                      <a:pPr algn="l"/>
                      <a:r>
                        <a:rPr sz="1200" b="0">
                          <a:solidFill>
                            <a:srgbClr val="12304F"/>
                          </a:solidFill>
                          <a:latin typeface="Noto Sans SC" panose="020B0200000000000000" charset="-122"/>
                          <a:ea typeface="Noto Sans SC" panose="020B0200000000000000" charset="-122"/>
                          <a:cs typeface="Noto Sans SC" panose="020B0200000000000000" charset="-122"/>
                        </a:rPr>
                        <a:t>ASA</a:t>
                      </a:r>
                      <a:endParaRPr sz="1200" b="0">
                        <a:solidFill>
                          <a:srgbClr val="12304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c>
                  <a:txBody>
                    <a:bodyPr/>
                    <a:lstStyle/>
                    <a:p>
                      <a:pPr algn="ctr"/>
                      <a:r>
                        <a:rPr sz="1200" b="0">
                          <a:solidFill>
                            <a:srgbClr val="23384C"/>
                          </a:solidFill>
                          <a:latin typeface="Consolas" panose="020B0609020204030204"/>
                          <a:ea typeface="Consolas" panose="020B0609020204030204"/>
                          <a:cs typeface="Consolas" panose="020B0609020204030204"/>
                        </a:rPr>
                        <a:t>户外 / 高温</a:t>
                      </a:r>
                      <a:endParaRPr sz="1200" b="0">
                        <a:solidFill>
                          <a:srgbClr val="23384C"/>
                        </a:solidFill>
                        <a:latin typeface="Consolas" panose="020B0609020204030204"/>
                        <a:ea typeface="Consolas" panose="020B0609020204030204"/>
                        <a:cs typeface="Consolas" panose="020B0609020204030204"/>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FFFFF"/>
                    </a:solidFill>
                  </a:tcPr>
                </a:tc>
              </a:tr>
              <a:tr h="402336">
                <a:tc>
                  <a:txBody>
                    <a:bodyPr/>
                    <a:lstStyle/>
                    <a:p>
                      <a:pPr algn="l"/>
                      <a:r>
                        <a:rPr sz="1200" b="0">
                          <a:solidFill>
                            <a:srgbClr val="12304F"/>
                          </a:solidFill>
                          <a:latin typeface="Noto Sans SC" panose="020B0200000000000000" charset="-122"/>
                          <a:ea typeface="Noto Sans SC" panose="020B0200000000000000" charset="-122"/>
                          <a:cs typeface="Noto Sans SC" panose="020B0200000000000000" charset="-122"/>
                        </a:rPr>
                        <a:t>PA-CF</a:t>
                      </a:r>
                      <a:endParaRPr sz="1200" b="0">
                        <a:solidFill>
                          <a:srgbClr val="12304F"/>
                        </a:solidFill>
                        <a:latin typeface="Noto Sans SC" panose="020B0200000000000000" charset="-122"/>
                        <a:ea typeface="Noto Sans SC" panose="020B0200000000000000" charset="-122"/>
                        <a:cs typeface="Noto Sans SC" panose="020B0200000000000000" charset="-122"/>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7F5EF"/>
                    </a:solidFill>
                  </a:tcPr>
                </a:tc>
                <a:tc>
                  <a:txBody>
                    <a:bodyPr/>
                    <a:lstStyle/>
                    <a:p>
                      <a:pPr algn="ctr"/>
                      <a:r>
                        <a:rPr sz="1200" b="0">
                          <a:solidFill>
                            <a:srgbClr val="23384C"/>
                          </a:solidFill>
                          <a:latin typeface="Consolas" panose="020B0609020204030204"/>
                          <a:ea typeface="Consolas" panose="020B0609020204030204"/>
                          <a:cs typeface="Consolas" panose="020B0609020204030204"/>
                        </a:rPr>
                        <a:t>高强高刚（需干燥）</a:t>
                      </a:r>
                      <a:endParaRPr sz="1200" b="0">
                        <a:solidFill>
                          <a:srgbClr val="23384C"/>
                        </a:solidFill>
                        <a:latin typeface="Consolas" panose="020B0609020204030204"/>
                        <a:ea typeface="Consolas" panose="020B0609020204030204"/>
                        <a:cs typeface="Consolas" panose="020B0609020204030204"/>
                      </a:endParaRPr>
                    </a:p>
                  </a:txBody>
                  <a:tcPr marL="100584" marR="73152" marT="27432" marB="27432" anchor="ctr">
                    <a:lnL w="9525" cap="flat" cmpd="sng" algn="ctr">
                      <a:solidFill>
                        <a:srgbClr val="C9D3DC"/>
                      </a:solidFill>
                    </a:lnL>
                    <a:lnR w="9525" cap="flat" cmpd="sng" algn="ctr">
                      <a:solidFill>
                        <a:srgbClr val="C9D3DC"/>
                      </a:solidFill>
                    </a:lnR>
                    <a:lnT w="9525" cap="flat" cmpd="sng" algn="ctr">
                      <a:solidFill>
                        <a:srgbClr val="C9D3DC"/>
                      </a:solidFill>
                    </a:lnT>
                    <a:lnB w="9525" cap="flat" cmpd="sng" algn="ctr">
                      <a:solidFill>
                        <a:srgbClr val="C9D3DC"/>
                      </a:solidFill>
                    </a:lnB>
                    <a:solidFill>
                      <a:srgbClr val="F7F5EF"/>
                    </a:solidFill>
                  </a:tcPr>
                </a:tc>
              </a:tr>
            </a:tbl>
          </a:graphicData>
        </a:graphic>
      </p:graphicFrame>
      <p:sp>
        <p:nvSpPr>
          <p:cNvPr id="20" name="Rectangle 19"/>
          <p:cNvSpPr/>
          <p:nvPr/>
        </p:nvSpPr>
        <p:spPr>
          <a:xfrm>
            <a:off x="594360" y="4315968"/>
            <a:ext cx="11002975" cy="950976"/>
          </a:xfrm>
          <a:prstGeom prst="rect">
            <a:avLst/>
          </a:prstGeom>
          <a:solidFill>
            <a:srgbClr val="FFFFFF"/>
          </a:solidFill>
          <a:ln w="12700">
            <a:solidFill>
              <a:srgbClr val="C9D3DC"/>
            </a:solidFill>
          </a:ln>
        </p:spPr>
        <p:txBody>
          <a:bodyPr rtlCol="0" anchor="ctr"/>
          <a:lstStyle/>
          <a:p>
            <a:pPr algn="ctr"/>
          </a:p>
        </p:txBody>
      </p:sp>
      <p:sp>
        <p:nvSpPr>
          <p:cNvPr id="21" name="TextBox 20"/>
          <p:cNvSpPr txBox="1"/>
          <p:nvPr/>
        </p:nvSpPr>
        <p:spPr>
          <a:xfrm>
            <a:off x="777240" y="4407408"/>
            <a:ext cx="2377440" cy="237744"/>
          </a:xfrm>
          <a:prstGeom prst="rect">
            <a:avLst/>
          </a:prstGeom>
          <a:noFill/>
        </p:spPr>
        <p:txBody>
          <a:bodyPr wrap="square">
            <a:spAutoFit/>
          </a:bodyPr>
          <a:lstStyle/>
          <a:p>
            <a:pPr algn="l"/>
            <a:r>
              <a:rPr sz="1250" b="1">
                <a:solidFill>
                  <a:srgbClr val="12304F"/>
                </a:solidFill>
                <a:latin typeface="Noto Sans SC" panose="020B0200000000000000" charset="-122"/>
                <a:ea typeface="Noto Sans SC" panose="020B0200000000000000" charset="-122"/>
                <a:cs typeface="Noto Sans SC" panose="020B0200000000000000" charset="-122"/>
              </a:rPr>
              <a:t>软件小抄</a:t>
            </a:r>
            <a:endParaRPr sz="125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22" name="TextBox 21"/>
          <p:cNvSpPr txBox="1"/>
          <p:nvPr/>
        </p:nvSpPr>
        <p:spPr>
          <a:xfrm>
            <a:off x="777240" y="4681728"/>
            <a:ext cx="5212080" cy="512064"/>
          </a:xfrm>
          <a:prstGeom prst="rect">
            <a:avLst/>
          </a:prstGeom>
          <a:noFill/>
        </p:spPr>
        <p:txBody>
          <a:bodyPr wrap="square">
            <a:spAutoFit/>
          </a:bodyPr>
          <a:lstStyle/>
          <a:p>
            <a:pPr algn="l">
              <a:spcBef>
                <a:spcPts val="200"/>
              </a:spcBef>
              <a:spcAft>
                <a:spcPts val="200"/>
              </a:spcAft>
            </a:pPr>
            <a:r>
              <a:rPr sz="1050" b="0">
                <a:solidFill>
                  <a:srgbClr val="6B7B8A"/>
                </a:solidFill>
                <a:latin typeface="Consolas" panose="020B0609020204030204"/>
                <a:ea typeface="Noto Sans SC" panose="020B0200000000000000" charset="-122"/>
                <a:cs typeface="Noto Sans SC" panose="020B0200000000000000" charset="-122"/>
              </a:rPr>
              <a:t>Fusion：X 切构造线 · Change Parameters</a:t>
            </a:r>
            <a:endParaRPr sz="1050" b="0">
              <a:solidFill>
                <a:srgbClr val="6B7B8A"/>
              </a:solidFill>
              <a:latin typeface="Consolas" panose="020B0609020204030204"/>
              <a:ea typeface="Noto Sans SC" panose="020B0200000000000000" charset="-122"/>
              <a:cs typeface="Noto Sans SC" panose="020B0200000000000000" charset="-122"/>
            </a:endParaRPr>
          </a:p>
          <a:p>
            <a:pPr algn="l">
              <a:spcBef>
                <a:spcPts val="200"/>
              </a:spcBef>
              <a:spcAft>
                <a:spcPts val="200"/>
              </a:spcAft>
            </a:pPr>
            <a:r>
              <a:rPr sz="1050" b="0">
                <a:solidFill>
                  <a:srgbClr val="6B7B8A"/>
                </a:solidFill>
                <a:latin typeface="Consolas" panose="020B0609020204030204"/>
                <a:ea typeface="Noto Sans SC" panose="020B0200000000000000" charset="-122"/>
                <a:cs typeface="Noto Sans SC" panose="020B0200000000000000" charset="-122"/>
              </a:rPr>
              <a:t>Inspect ▸ Physical / Interference</a:t>
            </a:r>
            <a:endParaRPr sz="1050" b="0">
              <a:solidFill>
                <a:srgbClr val="6B7B8A"/>
              </a:solidFill>
              <a:latin typeface="Consolas" panose="020B0609020204030204"/>
              <a:ea typeface="Noto Sans SC" panose="020B0200000000000000" charset="-122"/>
              <a:cs typeface="Noto Sans SC" panose="020B0200000000000000" charset="-122"/>
            </a:endParaRPr>
          </a:p>
        </p:txBody>
      </p:sp>
      <p:sp>
        <p:nvSpPr>
          <p:cNvPr id="23" name="TextBox 22"/>
          <p:cNvSpPr txBox="1"/>
          <p:nvPr/>
        </p:nvSpPr>
        <p:spPr>
          <a:xfrm>
            <a:off x="6355080" y="4681728"/>
            <a:ext cx="5120640" cy="512064"/>
          </a:xfrm>
          <a:prstGeom prst="rect">
            <a:avLst/>
          </a:prstGeom>
          <a:noFill/>
        </p:spPr>
        <p:txBody>
          <a:bodyPr wrap="square">
            <a:spAutoFit/>
          </a:bodyPr>
          <a:lstStyle/>
          <a:p>
            <a:pPr algn="l">
              <a:spcBef>
                <a:spcPts val="200"/>
              </a:spcBef>
              <a:spcAft>
                <a:spcPts val="200"/>
              </a:spcAft>
            </a:pPr>
            <a:r>
              <a:rPr sz="1050" b="0">
                <a:solidFill>
                  <a:srgbClr val="6B7B8A"/>
                </a:solidFill>
                <a:latin typeface="Consolas" panose="020B0609020204030204"/>
                <a:ea typeface="Noto Sans SC" panose="020B0200000000000000" charset="-122"/>
                <a:cs typeface="Noto Sans SC" panose="020B0200000000000000" charset="-122"/>
              </a:rPr>
              <a:t>Bambu：右键对象单独设置 · 切片后进层预览</a:t>
            </a:r>
            <a:endParaRPr sz="1050" b="0">
              <a:solidFill>
                <a:srgbClr val="6B7B8A"/>
              </a:solidFill>
              <a:latin typeface="Consolas" panose="020B0609020204030204"/>
              <a:ea typeface="Noto Sans SC" panose="020B0200000000000000" charset="-122"/>
              <a:cs typeface="Noto Sans SC" panose="020B0200000000000000" charset="-122"/>
            </a:endParaRPr>
          </a:p>
          <a:p>
            <a:pPr algn="l">
              <a:spcBef>
                <a:spcPts val="200"/>
              </a:spcBef>
              <a:spcAft>
                <a:spcPts val="200"/>
              </a:spcAft>
            </a:pPr>
            <a:r>
              <a:rPr sz="1050" b="0">
                <a:solidFill>
                  <a:srgbClr val="6B7B8A"/>
                </a:solidFill>
                <a:latin typeface="Consolas" panose="020B0609020204030204"/>
                <a:ea typeface="Noto Sans SC" panose="020B0200000000000000" charset="-122"/>
                <a:cs typeface="Noto Sans SC" panose="020B0200000000000000" charset="-122"/>
              </a:rPr>
              <a:t>Quality ▸ Precision ▸ XY 补偿</a:t>
            </a:r>
            <a:endParaRPr sz="1050" b="0">
              <a:solidFill>
                <a:srgbClr val="6B7B8A"/>
              </a:solidFill>
              <a:latin typeface="Consolas" panose="020B0609020204030204"/>
              <a:ea typeface="Noto Sans SC" panose="020B0200000000000000" charset="-122"/>
              <a:cs typeface="Noto Sans SC" panose="020B0200000000000000" charset="-122"/>
            </a:endParaRPr>
          </a:p>
        </p:txBody>
      </p:sp>
      <p:sp>
        <p:nvSpPr>
          <p:cNvPr id="24" name="Rounded Rectangle 23"/>
          <p:cNvSpPr/>
          <p:nvPr/>
        </p:nvSpPr>
        <p:spPr>
          <a:xfrm>
            <a:off x="594360" y="5376672"/>
            <a:ext cx="11002975" cy="420624"/>
          </a:xfrm>
          <a:prstGeom prst="roundRect">
            <a:avLst/>
          </a:prstGeom>
          <a:solidFill>
            <a:srgbClr val="FBF0E4"/>
          </a:solidFill>
          <a:ln w="12700">
            <a:solidFill>
              <a:srgbClr val="C2571A"/>
            </a:solidFill>
          </a:ln>
        </p:spPr>
        <p:txBody>
          <a:bodyPr rtlCol="0" anchor="ctr"/>
          <a:lstStyle/>
          <a:p>
            <a:pPr algn="ctr"/>
          </a:p>
        </p:txBody>
      </p:sp>
      <p:sp>
        <p:nvSpPr>
          <p:cNvPr id="25" name="Rectangle 24"/>
          <p:cNvSpPr/>
          <p:nvPr/>
        </p:nvSpPr>
        <p:spPr>
          <a:xfrm>
            <a:off x="594360" y="5376672"/>
            <a:ext cx="50292" cy="420624"/>
          </a:xfrm>
          <a:prstGeom prst="rect">
            <a:avLst/>
          </a:prstGeom>
          <a:solidFill>
            <a:srgbClr val="C2571A"/>
          </a:solidFill>
          <a:ln>
            <a:noFill/>
          </a:ln>
        </p:spPr>
        <p:txBody>
          <a:bodyPr rtlCol="0" anchor="ctr"/>
          <a:lstStyle/>
          <a:p>
            <a:pPr algn="ctr"/>
          </a:p>
        </p:txBody>
      </p:sp>
      <p:sp>
        <p:nvSpPr>
          <p:cNvPr id="26" name="TextBox 25"/>
          <p:cNvSpPr txBox="1"/>
          <p:nvPr/>
        </p:nvSpPr>
        <p:spPr>
          <a:xfrm>
            <a:off x="795528" y="5441252"/>
            <a:ext cx="10600639" cy="291465"/>
          </a:xfrm>
          <a:prstGeom prst="rect">
            <a:avLst/>
          </a:prstGeom>
          <a:noFill/>
        </p:spPr>
        <p:txBody>
          <a:bodyPr wrap="square" anchor="ctr">
            <a:spAutoFit/>
          </a:bodyPr>
          <a:lstStyle/>
          <a:p>
            <a:pPr algn="l"/>
            <a:r>
              <a:rPr sz="1300" b="1">
                <a:solidFill>
                  <a:srgbClr val="C2571A"/>
                </a:solidFill>
                <a:latin typeface="Noto Sans SC" panose="020B0200000000000000" charset="-122"/>
                <a:ea typeface="Noto Sans SC" panose="020B0200000000000000" charset="-122"/>
                <a:cs typeface="Noto Sans SC" panose="020B0200000000000000" charset="-122"/>
              </a:rPr>
              <a:t>本页数值均为起手值</a:t>
            </a:r>
            <a:endParaRPr sz="1300" b="1">
              <a:solidFill>
                <a:srgbClr val="C2571A"/>
              </a:solidFill>
              <a:latin typeface="Noto Sans SC" panose="020B0200000000000000" charset="-122"/>
              <a:ea typeface="Noto Sans SC" panose="020B0200000000000000" charset="-122"/>
              <a:cs typeface="Noto Sans SC" panose="020B0200000000000000" charset="-122"/>
            </a:endParaRPr>
          </a:p>
        </p:txBody>
      </p:sp>
      <p:sp>
        <p:nvSpPr>
          <p:cNvPr id="27" name="Rectangle 26"/>
          <p:cNvSpPr/>
          <p:nvPr/>
        </p:nvSpPr>
        <p:spPr>
          <a:xfrm>
            <a:off x="594360" y="6199632"/>
            <a:ext cx="11002975" cy="10972"/>
          </a:xfrm>
          <a:prstGeom prst="rect">
            <a:avLst/>
          </a:prstGeom>
          <a:solidFill>
            <a:srgbClr val="C9D3DC"/>
          </a:solidFill>
          <a:ln>
            <a:noFill/>
          </a:ln>
        </p:spPr>
        <p:txBody>
          <a:bodyPr rtlCol="0" anchor="ctr"/>
          <a:lstStyle/>
          <a:p>
            <a:pPr algn="ctr"/>
          </a:p>
        </p:txBody>
      </p:sp>
      <p:sp>
        <p:nvSpPr>
          <p:cNvPr id="28" name="TextBox 27"/>
          <p:cNvSpPr txBox="1"/>
          <p:nvPr/>
        </p:nvSpPr>
        <p:spPr>
          <a:xfrm>
            <a:off x="594360" y="6327648"/>
            <a:ext cx="8778240" cy="274320"/>
          </a:xfrm>
          <a:prstGeom prst="rect">
            <a:avLst/>
          </a:prstGeom>
          <a:noFill/>
        </p:spPr>
        <p:txBody>
          <a:bodyPr wrap="square">
            <a:spAutoFit/>
          </a:bodyPr>
          <a:lstStyle/>
          <a:p>
            <a:pPr algn="l"/>
            <a:r>
              <a:rPr sz="1100" b="0">
                <a:solidFill>
                  <a:srgbClr val="6B7B8A"/>
                </a:solidFill>
                <a:latin typeface="Noto Sans SC" panose="020B0200000000000000" charset="-122"/>
                <a:ea typeface="Noto Sans SC" panose="020B0200000000000000" charset="-122"/>
                <a:cs typeface="Noto Sans SC" panose="020B0200000000000000" charset="-122"/>
              </a:rPr>
              <a:t>版本：v1 · 数据来源：FDM 常规经验区间 + 战队实测（待填）· 更新日期：______</a:t>
            </a:r>
            <a:endParaRPr sz="1100" b="0">
              <a:solidFill>
                <a:srgbClr val="6B7B8A"/>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pic>
        <p:nvPicPr>
          <p:cNvPr id="2" name="Picture 1" descr="447916673a97bd1f0e53b186d485eed5.png"/>
          <p:cNvPicPr>
            <a:picLocks noChangeAspect="1"/>
          </p:cNvPicPr>
          <p:nvPr/>
        </p:nvPicPr>
        <p:blipFill>
          <a:blip r:embed="rId1"/>
          <a:stretch>
            <a:fillRect/>
          </a:stretch>
        </p:blipFill>
        <p:spPr>
          <a:xfrm>
            <a:off x="0" y="0"/>
            <a:ext cx="12191695" cy="6858000"/>
          </a:xfrm>
          <a:prstGeom prst="rect">
            <a:avLst/>
          </a:prstGeom>
        </p:spPr>
      </p:pic>
      <p:sp>
        <p:nvSpPr>
          <p:cNvPr id="3" name="Rectangle 2"/>
          <p:cNvSpPr/>
          <p:nvPr/>
        </p:nvSpPr>
        <p:spPr>
          <a:xfrm>
            <a:off x="0" y="0"/>
            <a:ext cx="12191695" cy="68580"/>
          </a:xfrm>
          <a:prstGeom prst="rect">
            <a:avLst/>
          </a:prstGeom>
          <a:solidFill>
            <a:schemeClr val="accent5">
              <a:lumMod val="75000"/>
            </a:schemeClr>
          </a:solidFill>
          <a:ln>
            <a:noFill/>
          </a:ln>
        </p:spPr>
        <p:txBody>
          <a:bodyPr rtlCol="0" anchor="ctr"/>
          <a:lstStyle/>
          <a:p>
            <a:pPr algn="ctr"/>
          </a:p>
        </p:txBody>
      </p:sp>
      <p:sp>
        <p:nvSpPr>
          <p:cNvPr id="4" name="TextBox 3"/>
          <p:cNvSpPr txBox="1"/>
          <p:nvPr/>
        </p:nvSpPr>
        <p:spPr>
          <a:xfrm>
            <a:off x="448056" y="1115568"/>
            <a:ext cx="4626864" cy="2707005"/>
          </a:xfrm>
          <a:prstGeom prst="rect">
            <a:avLst/>
          </a:prstGeom>
          <a:noFill/>
        </p:spPr>
        <p:txBody>
          <a:bodyPr wrap="square">
            <a:spAutoFit/>
          </a:bodyPr>
          <a:lstStyle/>
          <a:p>
            <a:pPr algn="l"/>
            <a:r>
              <a:rPr sz="17000" b="1">
                <a:solidFill>
                  <a:schemeClr val="accent5">
                    <a:lumMod val="75000"/>
                  </a:schemeClr>
                </a:solidFill>
              </a:rPr>
              <a:t>0</a:t>
            </a:r>
            <a:r>
              <a:rPr lang="en-US" sz="17000" b="1">
                <a:solidFill>
                  <a:schemeClr val="accent5">
                    <a:lumMod val="75000"/>
                  </a:schemeClr>
                </a:solidFill>
              </a:rPr>
              <a:t>5</a:t>
            </a:r>
            <a:endParaRPr lang="en-US" sz="17000" b="1">
              <a:solidFill>
                <a:schemeClr val="accent5">
                  <a:lumMod val="75000"/>
                </a:schemeClr>
              </a:solidFill>
            </a:endParaRPr>
          </a:p>
        </p:txBody>
      </p:sp>
      <p:sp>
        <p:nvSpPr>
          <p:cNvPr id="5" name="TextBox 4"/>
          <p:cNvSpPr txBox="1"/>
          <p:nvPr/>
        </p:nvSpPr>
        <p:spPr>
          <a:xfrm>
            <a:off x="523748" y="1102995"/>
            <a:ext cx="4572000" cy="2707005"/>
          </a:xfrm>
          <a:prstGeom prst="rect">
            <a:avLst/>
          </a:prstGeom>
          <a:noFill/>
        </p:spPr>
        <p:txBody>
          <a:bodyPr wrap="square">
            <a:spAutoFit/>
          </a:bodyPr>
          <a:lstStyle/>
          <a:p>
            <a:pPr algn="l"/>
            <a:r>
              <a:rPr sz="17000" b="1">
                <a:solidFill>
                  <a:srgbClr val="FFFFFF"/>
                </a:solidFill>
              </a:rPr>
              <a:t>0</a:t>
            </a:r>
            <a:r>
              <a:rPr lang="en-US" sz="17000" b="1">
                <a:solidFill>
                  <a:srgbClr val="FFFFFF"/>
                </a:solidFill>
              </a:rPr>
              <a:t>5</a:t>
            </a:r>
            <a:endParaRPr lang="en-US" sz="17000" b="1">
              <a:solidFill>
                <a:srgbClr val="FFFFFF"/>
              </a:solidFill>
            </a:endParaRPr>
          </a:p>
        </p:txBody>
      </p:sp>
      <p:sp>
        <p:nvSpPr>
          <p:cNvPr id="6" name="TextBox 5"/>
          <p:cNvSpPr txBox="1"/>
          <p:nvPr/>
        </p:nvSpPr>
        <p:spPr>
          <a:xfrm>
            <a:off x="470535" y="3620770"/>
            <a:ext cx="5692140" cy="768350"/>
          </a:xfrm>
          <a:prstGeom prst="rect">
            <a:avLst/>
          </a:prstGeom>
          <a:noFill/>
        </p:spPr>
        <p:txBody>
          <a:bodyPr wrap="square">
            <a:spAutoFit/>
          </a:bodyPr>
          <a:lstStyle/>
          <a:p>
            <a:pPr algn="l"/>
            <a:r>
              <a:rPr lang="zh-CN" sz="4400" b="1">
                <a:solidFill>
                  <a:srgbClr val="12304F"/>
                </a:solidFill>
                <a:latin typeface="Noto Sans SC" panose="020B0200000000000000" charset="-122"/>
                <a:ea typeface="Noto Sans SC" panose="020B0200000000000000" charset="-122"/>
                <a:cs typeface="Noto Sans SC" panose="020B0200000000000000" charset="-122"/>
              </a:rPr>
              <a:t>工具使用</a:t>
            </a:r>
            <a:r>
              <a:rPr lang="en-US" altLang="zh-CN" sz="4400" b="1">
                <a:solidFill>
                  <a:srgbClr val="12304F"/>
                </a:solidFill>
                <a:latin typeface="Noto Sans SC" panose="020B0200000000000000" charset="-122"/>
                <a:ea typeface="Noto Sans SC" panose="020B0200000000000000" charset="-122"/>
                <a:cs typeface="Noto Sans SC" panose="020B0200000000000000" charset="-122"/>
              </a:rPr>
              <a:t>(</a:t>
            </a:r>
            <a:r>
              <a:rPr lang="zh-CN" altLang="en-US" sz="4400" b="1">
                <a:solidFill>
                  <a:srgbClr val="12304F"/>
                </a:solidFill>
                <a:latin typeface="Noto Sans SC" panose="020B0200000000000000" charset="-122"/>
                <a:ea typeface="Noto Sans SC" panose="020B0200000000000000" charset="-122"/>
                <a:cs typeface="Noto Sans SC" panose="020B0200000000000000" charset="-122"/>
              </a:rPr>
              <a:t>科学</a:t>
            </a:r>
            <a:r>
              <a:rPr lang="zh-CN" altLang="en-US" sz="4400" b="1">
                <a:solidFill>
                  <a:srgbClr val="12304F"/>
                </a:solidFill>
                <a:latin typeface="Noto Sans SC" panose="020B0200000000000000" charset="-122"/>
                <a:ea typeface="Noto Sans SC" panose="020B0200000000000000" charset="-122"/>
                <a:cs typeface="Noto Sans SC" panose="020B0200000000000000" charset="-122"/>
              </a:rPr>
              <a:t>打螺丝）</a:t>
            </a:r>
            <a:endParaRPr lang="zh-CN" altLang="en-US" sz="4400" b="1">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7" name="TextBox 6"/>
          <p:cNvSpPr txBox="1"/>
          <p:nvPr/>
        </p:nvSpPr>
        <p:spPr>
          <a:xfrm>
            <a:off x="749808" y="4626864"/>
            <a:ext cx="4206240" cy="256032"/>
          </a:xfrm>
          <a:prstGeom prst="rect">
            <a:avLst/>
          </a:prstGeom>
          <a:noFill/>
        </p:spPr>
        <p:txBody>
          <a:bodyPr wrap="square">
            <a:spAutoFit/>
          </a:bodyPr>
          <a:lstStyle/>
          <a:p>
            <a:pPr algn="l"/>
            <a:r>
              <a:rPr sz="1300" b="0">
                <a:solidFill>
                  <a:srgbClr val="6B7B8A"/>
                </a:solidFill>
                <a:latin typeface="Consolas" panose="020B0609020204030204"/>
                <a:ea typeface="Noto Sans SC" panose="020B0200000000000000" charset="-122"/>
                <a:cs typeface="Noto Sans SC" panose="020B0200000000000000" charset="-122"/>
              </a:rPr>
              <a:t>MANUFACTURING　MODULE 04</a:t>
            </a:r>
            <a:endParaRPr sz="1300" b="0">
              <a:solidFill>
                <a:srgbClr val="6B7B8A"/>
              </a:solidFill>
              <a:latin typeface="Consolas" panose="020B0609020204030204"/>
              <a:ea typeface="Noto Sans SC" panose="020B0200000000000000" charset="-122"/>
              <a:cs typeface="Noto Sans SC" panose="020B0200000000000000" charset="-122"/>
            </a:endParaRPr>
          </a:p>
        </p:txBody>
      </p:sp>
      <p:sp>
        <p:nvSpPr>
          <p:cNvPr id="8" name="Rectangle 7"/>
          <p:cNvSpPr/>
          <p:nvPr/>
        </p:nvSpPr>
        <p:spPr>
          <a:xfrm>
            <a:off x="749808" y="4956048"/>
            <a:ext cx="1005840" cy="41148"/>
          </a:xfrm>
          <a:prstGeom prst="rect">
            <a:avLst/>
          </a:prstGeom>
          <a:solidFill>
            <a:schemeClr val="accent5">
              <a:lumMod val="75000"/>
            </a:schemeClr>
          </a:solidFill>
          <a:ln>
            <a:noFill/>
          </a:ln>
        </p:spPr>
        <p:txBody>
          <a:bodyPr rtlCol="0" anchor="ctr"/>
          <a:lstStyle/>
          <a:p>
            <a:pPr algn="ctr"/>
          </a:p>
        </p:txBody>
      </p:sp>
      <p:sp>
        <p:nvSpPr>
          <p:cNvPr id="10" name="Rectangle 9"/>
          <p:cNvSpPr/>
          <p:nvPr/>
        </p:nvSpPr>
        <p:spPr>
          <a:xfrm>
            <a:off x="749808" y="5431536"/>
            <a:ext cx="50292" cy="256032"/>
          </a:xfrm>
          <a:prstGeom prst="rect">
            <a:avLst/>
          </a:prstGeom>
          <a:solidFill>
            <a:schemeClr val="accent5">
              <a:lumMod val="75000"/>
            </a:schemeClr>
          </a:solidFill>
          <a:ln>
            <a:noFill/>
          </a:ln>
        </p:spPr>
        <p:txBody>
          <a:bodyPr rtlCol="0" anchor="ctr"/>
          <a:lstStyle/>
          <a:p>
            <a:pPr algn="ctr"/>
          </a:p>
        </p:txBody>
      </p:sp>
      <p:sp>
        <p:nvSpPr>
          <p:cNvPr id="11" name="TextBox 10"/>
          <p:cNvSpPr txBox="1"/>
          <p:nvPr/>
        </p:nvSpPr>
        <p:spPr>
          <a:xfrm>
            <a:off x="914400" y="5431536"/>
            <a:ext cx="4023360" cy="256032"/>
          </a:xfrm>
          <a:prstGeom prst="rect">
            <a:avLst/>
          </a:prstGeom>
          <a:noFill/>
        </p:spPr>
        <p:txBody>
          <a:bodyPr wrap="square">
            <a:spAutoFit/>
          </a:bodyPr>
          <a:lstStyle/>
          <a:p>
            <a:pPr algn="l"/>
            <a:r>
              <a:rPr sz="1200" b="1">
                <a:solidFill>
                  <a:schemeClr val="accent5">
                    <a:lumMod val="75000"/>
                  </a:schemeClr>
                </a:solidFill>
                <a:latin typeface="Noto Sans SC" panose="020B0200000000000000" charset="-122"/>
                <a:ea typeface="Noto Sans SC" panose="020B0200000000000000" charset="-122"/>
                <a:cs typeface="Noto Sans SC" panose="020B0200000000000000" charset="-122"/>
              </a:rPr>
              <a:t>案例：整车零件与线束</a:t>
            </a:r>
            <a:endParaRPr sz="1200" b="1">
              <a:solidFill>
                <a:schemeClr val="accent5">
                  <a:lumMod val="75000"/>
                </a:schemeClr>
              </a:solidFill>
              <a:latin typeface="Noto Sans SC" panose="020B0200000000000000" charset="-122"/>
              <a:ea typeface="Noto Sans SC" panose="020B0200000000000000" charset="-122"/>
              <a:cs typeface="Noto Sans SC" panose="020B0200000000000000" charset="-122"/>
            </a:endParaRPr>
          </a:p>
        </p:txBody>
      </p:sp>
      <p:sp>
        <p:nvSpPr>
          <p:cNvPr id="13" name="Rounded Rectangle 12"/>
          <p:cNvSpPr/>
          <p:nvPr/>
        </p:nvSpPr>
        <p:spPr>
          <a:xfrm>
            <a:off x="6355080" y="1371600"/>
            <a:ext cx="5239512" cy="1335024"/>
          </a:xfrm>
          <a:prstGeom prst="roundRect">
            <a:avLst/>
          </a:prstGeom>
          <a:solidFill>
            <a:srgbClr val="FFFFFF"/>
          </a:solidFill>
          <a:ln w="12700">
            <a:solidFill>
              <a:srgbClr val="C9D3DC"/>
            </a:solidFill>
          </a:ln>
        </p:spPr>
        <p:txBody>
          <a:bodyPr rtlCol="0" anchor="ctr"/>
          <a:lstStyle/>
          <a:p>
            <a:pPr algn="ctr"/>
          </a:p>
        </p:txBody>
      </p:sp>
      <p:sp>
        <p:nvSpPr>
          <p:cNvPr id="14" name="Rectangle 13"/>
          <p:cNvSpPr/>
          <p:nvPr/>
        </p:nvSpPr>
        <p:spPr>
          <a:xfrm>
            <a:off x="6355080" y="1371600"/>
            <a:ext cx="50292" cy="1335024"/>
          </a:xfrm>
          <a:prstGeom prst="rect">
            <a:avLst/>
          </a:prstGeom>
          <a:solidFill>
            <a:schemeClr val="accent5">
              <a:lumMod val="75000"/>
            </a:schemeClr>
          </a:solidFill>
          <a:ln>
            <a:noFill/>
          </a:ln>
        </p:spPr>
        <p:txBody>
          <a:bodyPr rtlCol="0" anchor="ctr"/>
          <a:lstStyle/>
          <a:p>
            <a:pPr algn="ctr"/>
          </a:p>
        </p:txBody>
      </p:sp>
      <p:sp>
        <p:nvSpPr>
          <p:cNvPr id="15" name="TextBox 14"/>
          <p:cNvSpPr txBox="1"/>
          <p:nvPr/>
        </p:nvSpPr>
        <p:spPr>
          <a:xfrm>
            <a:off x="6620256" y="1536192"/>
            <a:ext cx="4892040" cy="753110"/>
          </a:xfrm>
          <a:prstGeom prst="rect">
            <a:avLst/>
          </a:prstGeom>
          <a:noFill/>
        </p:spPr>
        <p:txBody>
          <a:bodyPr wrap="square">
            <a:spAutoFit/>
          </a:bodyPr>
          <a:lstStyle/>
          <a:p>
            <a:pPr algn="l">
              <a:spcBef>
                <a:spcPts val="600"/>
              </a:spcBef>
              <a:spcAft>
                <a:spcPts val="600"/>
              </a:spcAft>
            </a:pPr>
            <a:r>
              <a:rPr lang="zh-CN" sz="1650" b="0">
                <a:solidFill>
                  <a:srgbClr val="12304F"/>
                </a:solidFill>
                <a:latin typeface="Noto Sans SC" panose="020B0200000000000000" charset="-122"/>
                <a:ea typeface="Noto Sans SC" panose="020B0200000000000000" charset="-122"/>
                <a:cs typeface="Noto Sans SC" panose="020B0200000000000000" charset="-122"/>
              </a:rPr>
              <a:t>制造完后如何正确选择</a:t>
            </a:r>
            <a:r>
              <a:rPr lang="en-US" altLang="zh-CN" sz="1650" b="0">
                <a:solidFill>
                  <a:srgbClr val="12304F"/>
                </a:solidFill>
                <a:latin typeface="Noto Sans SC" panose="020B0200000000000000" charset="-122"/>
                <a:ea typeface="Noto Sans SC" panose="020B0200000000000000" charset="-122"/>
                <a:cs typeface="Noto Sans SC" panose="020B0200000000000000" charset="-122"/>
              </a:rPr>
              <a:t>/</a:t>
            </a:r>
            <a:r>
              <a:rPr lang="zh-CN" altLang="en-US" sz="1650" b="0">
                <a:solidFill>
                  <a:srgbClr val="12304F"/>
                </a:solidFill>
                <a:latin typeface="Noto Sans SC" panose="020B0200000000000000" charset="-122"/>
                <a:ea typeface="Noto Sans SC" panose="020B0200000000000000" charset="-122"/>
                <a:cs typeface="Noto Sans SC" panose="020B0200000000000000" charset="-122"/>
              </a:rPr>
              <a:t>使用</a:t>
            </a:r>
            <a:r>
              <a:rPr lang="zh-CN" altLang="en-US" sz="1650" b="0">
                <a:solidFill>
                  <a:srgbClr val="12304F"/>
                </a:solidFill>
                <a:latin typeface="Noto Sans SC" panose="020B0200000000000000" charset="-122"/>
                <a:ea typeface="Noto Sans SC" panose="020B0200000000000000" charset="-122"/>
                <a:cs typeface="Noto Sans SC" panose="020B0200000000000000" charset="-122"/>
              </a:rPr>
              <a:t>工具</a:t>
            </a:r>
            <a:endParaRPr lang="zh-CN" altLang="en-US" sz="1650" b="0">
              <a:solidFill>
                <a:srgbClr val="12304F"/>
              </a:solidFill>
              <a:latin typeface="Noto Sans SC" panose="020B0200000000000000" charset="-122"/>
              <a:ea typeface="Noto Sans SC" panose="020B0200000000000000" charset="-122"/>
              <a:cs typeface="Noto Sans SC" panose="020B0200000000000000" charset="-122"/>
            </a:endParaRPr>
          </a:p>
          <a:p>
            <a:pPr algn="l">
              <a:spcBef>
                <a:spcPts val="600"/>
              </a:spcBef>
              <a:spcAft>
                <a:spcPts val="600"/>
              </a:spcAft>
            </a:pPr>
            <a:r>
              <a:rPr lang="zh-CN" altLang="en-US" sz="1650" b="0">
                <a:solidFill>
                  <a:srgbClr val="12304F"/>
                </a:solidFill>
                <a:latin typeface="Noto Sans SC" panose="020B0200000000000000" charset="-122"/>
                <a:ea typeface="Noto Sans SC" panose="020B0200000000000000" charset="-122"/>
                <a:cs typeface="Noto Sans SC" panose="020B0200000000000000" charset="-122"/>
              </a:rPr>
              <a:t>完成整车从单个零件到整车的</a:t>
            </a:r>
            <a:r>
              <a:rPr lang="zh-CN" altLang="en-US" sz="1650" b="0">
                <a:solidFill>
                  <a:srgbClr val="12304F"/>
                </a:solidFill>
                <a:latin typeface="Noto Sans SC" panose="020B0200000000000000" charset="-122"/>
                <a:ea typeface="Noto Sans SC" panose="020B0200000000000000" charset="-122"/>
                <a:cs typeface="Noto Sans SC" panose="020B0200000000000000" charset="-122"/>
              </a:rPr>
              <a:t>转变</a:t>
            </a:r>
            <a:endParaRPr lang="zh-CN" altLang="en-US" sz="1650" b="0">
              <a:solidFill>
                <a:srgbClr val="12304F"/>
              </a:solidFill>
              <a:latin typeface="Noto Sans SC" panose="020B0200000000000000" charset="-122"/>
              <a:ea typeface="Noto Sans SC" panose="020B0200000000000000" charset="-122"/>
              <a:cs typeface="Noto Sans SC" panose="020B0200000000000000" charset="-122"/>
            </a:endParaRPr>
          </a:p>
        </p:txBody>
      </p:sp>
      <p:sp>
        <p:nvSpPr>
          <p:cNvPr id="16" name="Rounded Rectangle 15"/>
          <p:cNvSpPr/>
          <p:nvPr/>
        </p:nvSpPr>
        <p:spPr>
          <a:xfrm>
            <a:off x="6355080" y="2944368"/>
            <a:ext cx="1655064" cy="530352"/>
          </a:xfrm>
          <a:prstGeom prst="roundRect">
            <a:avLst/>
          </a:prstGeom>
          <a:solidFill>
            <a:srgbClr val="FFFFFF"/>
          </a:solidFill>
          <a:ln w="12700">
            <a:solidFill>
              <a:srgbClr val="C9D3DC"/>
            </a:solidFill>
          </a:ln>
        </p:spPr>
        <p:txBody>
          <a:bodyPr rtlCol="0" anchor="ctr"/>
          <a:lstStyle/>
          <a:p>
            <a:pPr algn="ctr"/>
          </a:p>
        </p:txBody>
      </p:sp>
      <p:sp>
        <p:nvSpPr>
          <p:cNvPr id="17" name="TextBox 16"/>
          <p:cNvSpPr txBox="1"/>
          <p:nvPr/>
        </p:nvSpPr>
        <p:spPr>
          <a:xfrm>
            <a:off x="6409944" y="3067939"/>
            <a:ext cx="1545336" cy="283210"/>
          </a:xfrm>
          <a:prstGeom prst="rect">
            <a:avLst/>
          </a:prstGeom>
          <a:noFill/>
        </p:spPr>
        <p:txBody>
          <a:bodyPr wrap="square" anchor="ctr">
            <a:spAutoFit/>
          </a:bodyPr>
          <a:lstStyle/>
          <a:p>
            <a:pPr algn="ctr"/>
            <a:r>
              <a:rPr lang="zh-CN" sz="1250" b="0">
                <a:solidFill>
                  <a:srgbClr val="23384C"/>
                </a:solidFill>
                <a:latin typeface="Noto Sans SC" panose="020B0200000000000000" charset="-122"/>
                <a:ea typeface="Noto Sans SC" panose="020B0200000000000000" charset="-122"/>
                <a:cs typeface="Noto Sans SC" panose="020B0200000000000000" charset="-122"/>
              </a:rPr>
              <a:t>电钻</a:t>
            </a:r>
            <a:endParaRPr lang="zh-CN" sz="12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18" name="Rounded Rectangle 17"/>
          <p:cNvSpPr/>
          <p:nvPr/>
        </p:nvSpPr>
        <p:spPr>
          <a:xfrm>
            <a:off x="8147304" y="2944368"/>
            <a:ext cx="1655064" cy="530352"/>
          </a:xfrm>
          <a:prstGeom prst="roundRect">
            <a:avLst/>
          </a:prstGeom>
          <a:solidFill>
            <a:srgbClr val="FFFFFF"/>
          </a:solidFill>
          <a:ln w="12700">
            <a:solidFill>
              <a:srgbClr val="C9D3DC"/>
            </a:solidFill>
          </a:ln>
        </p:spPr>
        <p:txBody>
          <a:bodyPr rtlCol="0" anchor="ctr"/>
          <a:lstStyle/>
          <a:p>
            <a:pPr algn="ctr"/>
          </a:p>
        </p:txBody>
      </p:sp>
      <p:sp>
        <p:nvSpPr>
          <p:cNvPr id="19" name="TextBox 18"/>
          <p:cNvSpPr txBox="1"/>
          <p:nvPr/>
        </p:nvSpPr>
        <p:spPr>
          <a:xfrm>
            <a:off x="8202168" y="3067939"/>
            <a:ext cx="1545336" cy="283210"/>
          </a:xfrm>
          <a:prstGeom prst="rect">
            <a:avLst/>
          </a:prstGeom>
          <a:noFill/>
        </p:spPr>
        <p:txBody>
          <a:bodyPr wrap="square" anchor="ctr">
            <a:spAutoFit/>
          </a:bodyPr>
          <a:lstStyle/>
          <a:p>
            <a:pPr algn="ctr"/>
            <a:r>
              <a:rPr lang="zh-CN" sz="1250" b="0">
                <a:solidFill>
                  <a:srgbClr val="23384C"/>
                </a:solidFill>
                <a:latin typeface="Noto Sans SC" panose="020B0200000000000000" charset="-122"/>
                <a:ea typeface="Noto Sans SC" panose="020B0200000000000000" charset="-122"/>
                <a:cs typeface="Noto Sans SC" panose="020B0200000000000000" charset="-122"/>
              </a:rPr>
              <a:t>六角</a:t>
            </a:r>
            <a:r>
              <a:rPr lang="zh-CN" sz="1250" b="0">
                <a:solidFill>
                  <a:srgbClr val="23384C"/>
                </a:solidFill>
                <a:latin typeface="Noto Sans SC" panose="020B0200000000000000" charset="-122"/>
                <a:ea typeface="Noto Sans SC" panose="020B0200000000000000" charset="-122"/>
                <a:cs typeface="Noto Sans SC" panose="020B0200000000000000" charset="-122"/>
              </a:rPr>
              <a:t>扳手</a:t>
            </a:r>
            <a:endParaRPr lang="zh-CN" sz="12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0" name="Rounded Rectangle 19"/>
          <p:cNvSpPr/>
          <p:nvPr/>
        </p:nvSpPr>
        <p:spPr>
          <a:xfrm>
            <a:off x="9939528" y="2944368"/>
            <a:ext cx="1655064" cy="530352"/>
          </a:xfrm>
          <a:prstGeom prst="roundRect">
            <a:avLst/>
          </a:prstGeom>
          <a:solidFill>
            <a:srgbClr val="FFFFFF"/>
          </a:solidFill>
          <a:ln w="12700">
            <a:solidFill>
              <a:srgbClr val="C9D3DC"/>
            </a:solidFill>
          </a:ln>
        </p:spPr>
        <p:txBody>
          <a:bodyPr rtlCol="0" anchor="ctr"/>
          <a:lstStyle/>
          <a:p>
            <a:pPr algn="ctr"/>
          </a:p>
        </p:txBody>
      </p:sp>
      <p:sp>
        <p:nvSpPr>
          <p:cNvPr id="21" name="TextBox 20"/>
          <p:cNvSpPr txBox="1"/>
          <p:nvPr/>
        </p:nvSpPr>
        <p:spPr>
          <a:xfrm>
            <a:off x="9994392" y="3067939"/>
            <a:ext cx="1545336" cy="283210"/>
          </a:xfrm>
          <a:prstGeom prst="rect">
            <a:avLst/>
          </a:prstGeom>
          <a:noFill/>
        </p:spPr>
        <p:txBody>
          <a:bodyPr wrap="square" anchor="ctr">
            <a:spAutoFit/>
          </a:bodyPr>
          <a:lstStyle/>
          <a:p>
            <a:pPr algn="ctr"/>
            <a:r>
              <a:rPr lang="zh-CN" sz="1250" b="0">
                <a:solidFill>
                  <a:srgbClr val="23384C"/>
                </a:solidFill>
                <a:latin typeface="Noto Sans SC" panose="020B0200000000000000" charset="-122"/>
                <a:ea typeface="Noto Sans SC" panose="020B0200000000000000" charset="-122"/>
                <a:cs typeface="Noto Sans SC" panose="020B0200000000000000" charset="-122"/>
              </a:rPr>
              <a:t>热熔胶枪</a:t>
            </a:r>
            <a:endParaRPr lang="zh-CN" sz="12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2" name="Rounded Rectangle 21"/>
          <p:cNvSpPr/>
          <p:nvPr/>
        </p:nvSpPr>
        <p:spPr>
          <a:xfrm>
            <a:off x="6355080" y="3621024"/>
            <a:ext cx="1655064" cy="530352"/>
          </a:xfrm>
          <a:prstGeom prst="roundRect">
            <a:avLst/>
          </a:prstGeom>
          <a:solidFill>
            <a:srgbClr val="FFFFFF"/>
          </a:solidFill>
          <a:ln w="12700">
            <a:solidFill>
              <a:srgbClr val="C9D3DC"/>
            </a:solidFill>
          </a:ln>
        </p:spPr>
        <p:txBody>
          <a:bodyPr rtlCol="0" anchor="ctr"/>
          <a:lstStyle/>
          <a:p>
            <a:pPr algn="ctr"/>
          </a:p>
        </p:txBody>
      </p:sp>
      <p:sp>
        <p:nvSpPr>
          <p:cNvPr id="23" name="TextBox 22"/>
          <p:cNvSpPr txBox="1"/>
          <p:nvPr/>
        </p:nvSpPr>
        <p:spPr>
          <a:xfrm>
            <a:off x="6409944" y="3744595"/>
            <a:ext cx="1545336" cy="283210"/>
          </a:xfrm>
          <a:prstGeom prst="rect">
            <a:avLst/>
          </a:prstGeom>
          <a:noFill/>
        </p:spPr>
        <p:txBody>
          <a:bodyPr wrap="square" anchor="ctr">
            <a:spAutoFit/>
          </a:bodyPr>
          <a:lstStyle/>
          <a:p>
            <a:pPr algn="ctr"/>
            <a:r>
              <a:rPr lang="zh-CN" sz="1250" b="0">
                <a:solidFill>
                  <a:srgbClr val="23384C"/>
                </a:solidFill>
                <a:latin typeface="Noto Sans SC" panose="020B0200000000000000" charset="-122"/>
                <a:ea typeface="Noto Sans SC" panose="020B0200000000000000" charset="-122"/>
                <a:cs typeface="Noto Sans SC" panose="020B0200000000000000" charset="-122"/>
              </a:rPr>
              <a:t>螺丝卡</a:t>
            </a:r>
            <a:r>
              <a:rPr lang="zh-CN" sz="1250" b="0">
                <a:solidFill>
                  <a:srgbClr val="23384C"/>
                </a:solidFill>
                <a:latin typeface="Noto Sans SC" panose="020B0200000000000000" charset="-122"/>
                <a:ea typeface="Noto Sans SC" panose="020B0200000000000000" charset="-122"/>
                <a:cs typeface="Noto Sans SC" panose="020B0200000000000000" charset="-122"/>
              </a:rPr>
              <a:t>板</a:t>
            </a:r>
            <a:endParaRPr lang="zh-CN" sz="12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4" name="Rounded Rectangle 23"/>
          <p:cNvSpPr/>
          <p:nvPr/>
        </p:nvSpPr>
        <p:spPr>
          <a:xfrm>
            <a:off x="8147304" y="3621024"/>
            <a:ext cx="1655064" cy="530352"/>
          </a:xfrm>
          <a:prstGeom prst="roundRect">
            <a:avLst/>
          </a:prstGeom>
          <a:solidFill>
            <a:srgbClr val="FFFFFF"/>
          </a:solidFill>
          <a:ln w="12700">
            <a:solidFill>
              <a:srgbClr val="C9D3DC"/>
            </a:solidFill>
          </a:ln>
        </p:spPr>
        <p:txBody>
          <a:bodyPr rtlCol="0" anchor="ctr"/>
          <a:lstStyle/>
          <a:p>
            <a:pPr algn="ctr"/>
          </a:p>
        </p:txBody>
      </p:sp>
      <p:sp>
        <p:nvSpPr>
          <p:cNvPr id="25" name="TextBox 24"/>
          <p:cNvSpPr txBox="1"/>
          <p:nvPr/>
        </p:nvSpPr>
        <p:spPr>
          <a:xfrm>
            <a:off x="8202168" y="3744595"/>
            <a:ext cx="1545336" cy="283210"/>
          </a:xfrm>
          <a:prstGeom prst="rect">
            <a:avLst/>
          </a:prstGeom>
          <a:noFill/>
        </p:spPr>
        <p:txBody>
          <a:bodyPr wrap="square" anchor="ctr">
            <a:spAutoFit/>
          </a:bodyPr>
          <a:lstStyle/>
          <a:p>
            <a:pPr algn="ctr"/>
            <a:r>
              <a:rPr lang="zh-CN" sz="1250" b="0">
                <a:solidFill>
                  <a:srgbClr val="23384C"/>
                </a:solidFill>
                <a:latin typeface="Noto Sans SC" panose="020B0200000000000000" charset="-122"/>
                <a:ea typeface="Noto Sans SC" panose="020B0200000000000000" charset="-122"/>
                <a:cs typeface="Noto Sans SC" panose="020B0200000000000000" charset="-122"/>
              </a:rPr>
              <a:t>披头</a:t>
            </a:r>
            <a:endParaRPr lang="zh-CN" sz="12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6" name="Rounded Rectangle 25"/>
          <p:cNvSpPr/>
          <p:nvPr/>
        </p:nvSpPr>
        <p:spPr>
          <a:xfrm>
            <a:off x="9939528" y="3621024"/>
            <a:ext cx="1655064" cy="530352"/>
          </a:xfrm>
          <a:prstGeom prst="roundRect">
            <a:avLst/>
          </a:prstGeom>
          <a:solidFill>
            <a:srgbClr val="FFFFFF"/>
          </a:solidFill>
          <a:ln w="12700">
            <a:solidFill>
              <a:srgbClr val="C9D3DC"/>
            </a:solidFill>
          </a:ln>
        </p:spPr>
        <p:txBody>
          <a:bodyPr rtlCol="0" anchor="ctr"/>
          <a:lstStyle/>
          <a:p>
            <a:pPr algn="ctr"/>
          </a:p>
        </p:txBody>
      </p:sp>
      <p:sp>
        <p:nvSpPr>
          <p:cNvPr id="27" name="TextBox 26"/>
          <p:cNvSpPr txBox="1"/>
          <p:nvPr/>
        </p:nvSpPr>
        <p:spPr>
          <a:xfrm>
            <a:off x="9994392" y="3744595"/>
            <a:ext cx="1545336" cy="283210"/>
          </a:xfrm>
          <a:prstGeom prst="rect">
            <a:avLst/>
          </a:prstGeom>
          <a:noFill/>
        </p:spPr>
        <p:txBody>
          <a:bodyPr wrap="square" anchor="ctr">
            <a:spAutoFit/>
          </a:bodyPr>
          <a:lstStyle/>
          <a:p>
            <a:pPr algn="ctr"/>
            <a:r>
              <a:rPr lang="zh-CN" sz="1250" b="0">
                <a:solidFill>
                  <a:srgbClr val="23384C"/>
                </a:solidFill>
                <a:latin typeface="Noto Sans SC" panose="020B0200000000000000" charset="-122"/>
                <a:ea typeface="Noto Sans SC" panose="020B0200000000000000" charset="-122"/>
                <a:cs typeface="Noto Sans SC" panose="020B0200000000000000" charset="-122"/>
              </a:rPr>
              <a:t>紧固联接</a:t>
            </a:r>
            <a:endParaRPr lang="zh-CN" sz="125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28" name="Rectangle 27"/>
          <p:cNvSpPr/>
          <p:nvPr/>
        </p:nvSpPr>
        <p:spPr>
          <a:xfrm>
            <a:off x="6355080" y="4370832"/>
            <a:ext cx="5239512" cy="932688"/>
          </a:xfrm>
          <a:prstGeom prst="rect">
            <a:avLst/>
          </a:prstGeom>
          <a:solidFill>
            <a:srgbClr val="FFFFFF"/>
          </a:solidFill>
          <a:ln w="9525">
            <a:solidFill>
              <a:srgbClr val="6A4C93"/>
            </a:solidFill>
            <a:prstDash val="dash"/>
          </a:ln>
        </p:spPr>
        <p:txBody>
          <a:bodyPr rtlCol="0" anchor="ctr"/>
          <a:lstStyle/>
          <a:p>
            <a:pPr algn="ctr"/>
          </a:p>
        </p:txBody>
      </p:sp>
      <p:sp>
        <p:nvSpPr>
          <p:cNvPr id="29" name="TextBox 28"/>
          <p:cNvSpPr txBox="1"/>
          <p:nvPr/>
        </p:nvSpPr>
        <p:spPr>
          <a:xfrm>
            <a:off x="6492240" y="4462272"/>
            <a:ext cx="4983480" cy="237744"/>
          </a:xfrm>
          <a:prstGeom prst="rect">
            <a:avLst/>
          </a:prstGeom>
          <a:noFill/>
        </p:spPr>
        <p:txBody>
          <a:bodyPr wrap="square">
            <a:spAutoFit/>
          </a:bodyPr>
          <a:lstStyle/>
          <a:p>
            <a:pPr algn="l"/>
            <a:r>
              <a:rPr sz="1100" b="0">
                <a:solidFill>
                  <a:srgbClr val="6A4C93"/>
                </a:solidFill>
                <a:latin typeface="Consolas" panose="020B0609020204030204"/>
                <a:ea typeface="Noto Sans SC" panose="020B0200000000000000" charset="-122"/>
                <a:cs typeface="Noto Sans SC" panose="020B0200000000000000" charset="-122"/>
              </a:rPr>
              <a:t>本模块产出（方法，不是零件）</a:t>
            </a:r>
            <a:endParaRPr sz="1100" b="0">
              <a:solidFill>
                <a:srgbClr val="6A4C93"/>
              </a:solidFill>
              <a:latin typeface="Consolas" panose="020B0609020204030204"/>
              <a:ea typeface="Noto Sans SC" panose="020B0200000000000000" charset="-122"/>
              <a:cs typeface="Noto Sans SC" panose="020B0200000000000000" charset="-122"/>
            </a:endParaRPr>
          </a:p>
        </p:txBody>
      </p:sp>
      <p:sp>
        <p:nvSpPr>
          <p:cNvPr id="30" name="TextBox 29"/>
          <p:cNvSpPr txBox="1"/>
          <p:nvPr/>
        </p:nvSpPr>
        <p:spPr>
          <a:xfrm>
            <a:off x="6492240" y="4700016"/>
            <a:ext cx="4983480" cy="566928"/>
          </a:xfrm>
          <a:prstGeom prst="rect">
            <a:avLst/>
          </a:prstGeom>
          <a:noFill/>
        </p:spPr>
        <p:txBody>
          <a:bodyPr wrap="square">
            <a:spAutoFit/>
          </a:bodyPr>
          <a:lstStyle/>
          <a:p>
            <a:pPr algn="l">
              <a:spcBef>
                <a:spcPts val="200"/>
              </a:spcBef>
              <a:spcAft>
                <a:spcPts val="200"/>
              </a:spcAft>
            </a:pPr>
            <a:r>
              <a:rPr sz="1200" b="0">
                <a:solidFill>
                  <a:srgbClr val="23384C"/>
                </a:solidFill>
                <a:latin typeface="Noto Sans SC" panose="020B0200000000000000" charset="-122"/>
                <a:ea typeface="Noto Sans SC" panose="020B0200000000000000" charset="-122"/>
                <a:cs typeface="Noto Sans SC" panose="020B0200000000000000" charset="-122"/>
              </a:rPr>
              <a:t>一套可复现的打印与装配工艺方法</a:t>
            </a:r>
            <a:endParaRPr sz="1200" b="0">
              <a:solidFill>
                <a:srgbClr val="23384C"/>
              </a:solidFill>
              <a:latin typeface="Noto Sans SC" panose="020B0200000000000000" charset="-122"/>
              <a:ea typeface="Noto Sans SC" panose="020B0200000000000000" charset="-122"/>
              <a:cs typeface="Noto Sans SC" panose="020B0200000000000000" charset="-122"/>
            </a:endParaRPr>
          </a:p>
          <a:p>
            <a:pPr algn="l">
              <a:spcBef>
                <a:spcPts val="200"/>
              </a:spcBef>
              <a:spcAft>
                <a:spcPts val="200"/>
              </a:spcAft>
            </a:pPr>
            <a:r>
              <a:rPr sz="1200" b="0">
                <a:solidFill>
                  <a:srgbClr val="23384C"/>
                </a:solidFill>
                <a:latin typeface="Noto Sans SC" panose="020B0200000000000000" charset="-122"/>
                <a:ea typeface="Noto Sans SC" panose="020B0200000000000000" charset="-122"/>
                <a:cs typeface="Noto Sans SC" panose="020B0200000000000000" charset="-122"/>
              </a:rPr>
              <a:t>＋检查清单与排障表</a:t>
            </a:r>
            <a:endParaRPr sz="1200" b="0">
              <a:solidFill>
                <a:srgbClr val="23384C"/>
              </a:solidFill>
              <a:latin typeface="Noto Sans SC" panose="020B0200000000000000" charset="-122"/>
              <a:ea typeface="Noto Sans SC" panose="020B0200000000000000" charset="-122"/>
              <a:cs typeface="Noto Sans SC" panose="020B0200000000000000" charset="-122"/>
            </a:endParaRPr>
          </a:p>
        </p:txBody>
      </p:sp>
      <p:sp>
        <p:nvSpPr>
          <p:cNvPr id="32" name="TextBox 31"/>
          <p:cNvSpPr txBox="1"/>
          <p:nvPr/>
        </p:nvSpPr>
        <p:spPr>
          <a:xfrm>
            <a:off x="10515600" y="6400800"/>
            <a:ext cx="1371600" cy="274320"/>
          </a:xfrm>
          <a:prstGeom prst="rect">
            <a:avLst/>
          </a:prstGeom>
          <a:noFill/>
        </p:spPr>
        <p:txBody>
          <a:bodyPr wrap="square">
            <a:spAutoFit/>
          </a:bodyPr>
          <a:lstStyle/>
          <a:p>
            <a:pPr algn="r"/>
            <a:r>
              <a:rPr sz="1000" b="0">
                <a:solidFill>
                  <a:srgbClr val="6B7B8A"/>
                </a:solidFill>
                <a:latin typeface="Noto Sans SC" panose="020B0200000000000000" charset="-122"/>
                <a:ea typeface="Noto Sans SC" panose="020B0200000000000000" charset="-122"/>
                <a:cs typeface="Noto Sans SC" panose="020B0200000000000000" charset="-122"/>
              </a:rPr>
              <a:t>25 / 34</a:t>
            </a:r>
            <a:endParaRPr sz="1000" b="0">
              <a:solidFill>
                <a:srgbClr val="6B7B8A"/>
              </a:solidFill>
              <a:latin typeface="Noto Sans SC" panose="020B0200000000000000" charset="-122"/>
              <a:ea typeface="Noto Sans SC" panose="020B0200000000000000" charset="-122"/>
              <a:cs typeface="Noto Sans SC" panose="020B0200000000000000" charset="-122"/>
            </a:endParaRPr>
          </a:p>
        </p:txBody>
      </p:sp>
      <p:sp>
        <p:nvSpPr>
          <p:cNvPr id="33" name="Rectangle 32"/>
          <p:cNvSpPr/>
          <p:nvPr/>
        </p:nvSpPr>
        <p:spPr>
          <a:xfrm>
            <a:off x="594360" y="6199632"/>
            <a:ext cx="11002975" cy="10972"/>
          </a:xfrm>
          <a:prstGeom prst="rect">
            <a:avLst/>
          </a:prstGeom>
          <a:solidFill>
            <a:srgbClr val="C9D3DC"/>
          </a:solidFill>
          <a:ln>
            <a:noFill/>
          </a:ln>
        </p:spPr>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5872</Words>
  <Application>WPS 演示</Application>
  <PresentationFormat>宽屏</PresentationFormat>
  <Paragraphs>923</Paragraphs>
  <Slides>22</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22</vt:i4>
      </vt:variant>
    </vt:vector>
  </HeadingPairs>
  <TitlesOfParts>
    <vt:vector size="32" baseType="lpstr">
      <vt:lpstr>Arial</vt:lpstr>
      <vt:lpstr>SimSun</vt:lpstr>
      <vt:lpstr>Wingdings</vt:lpstr>
      <vt:lpstr>Arial</vt:lpstr>
      <vt:lpstr>Consolas</vt:lpstr>
      <vt:lpstr>Noto Sans SC</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hwy</cp:lastModifiedBy>
  <cp:revision>6</cp:revision>
  <dcterms:created xsi:type="dcterms:W3CDTF">2013-01-27T09:14:00Z</dcterms:created>
  <dcterms:modified xsi:type="dcterms:W3CDTF">2026-10-11T10:33:31Z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1A0FFD66B0964370A05421291B186EF9_12</vt:lpwstr>
  </property>
</Properties>
</file>